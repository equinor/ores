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65" r:id="rId4"/>
    <p:sldId id="264" r:id="rId5"/>
    <p:sldId id="267" r:id="rId6"/>
    <p:sldId id="2624" r:id="rId7"/>
    <p:sldId id="2626" r:id="rId8"/>
    <p:sldId id="2608" r:id="rId9"/>
    <p:sldId id="272" r:id="rId10"/>
    <p:sldId id="2633" r:id="rId11"/>
    <p:sldId id="2635" r:id="rId12"/>
    <p:sldId id="2636" r:id="rId13"/>
    <p:sldId id="2637" r:id="rId14"/>
    <p:sldId id="2638" r:id="rId15"/>
    <p:sldId id="2639" r:id="rId16"/>
    <p:sldId id="2641" r:id="rId17"/>
    <p:sldId id="2634" r:id="rId18"/>
    <p:sldId id="277" r:id="rId19"/>
    <p:sldId id="2642" r:id="rId20"/>
    <p:sldId id="2643" r:id="rId21"/>
    <p:sldId id="271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AD9F717-74B1-4BDA-ADEF-BC1A4A8746CD}">
          <p14:sldIdLst>
            <p14:sldId id="256"/>
            <p14:sldId id="258"/>
            <p14:sldId id="265"/>
            <p14:sldId id="264"/>
            <p14:sldId id="267"/>
            <p14:sldId id="2624"/>
            <p14:sldId id="2626"/>
            <p14:sldId id="2608"/>
            <p14:sldId id="272"/>
            <p14:sldId id="2633"/>
            <p14:sldId id="2635"/>
            <p14:sldId id="2636"/>
            <p14:sldId id="2637"/>
            <p14:sldId id="2638"/>
            <p14:sldId id="2639"/>
            <p14:sldId id="2641"/>
            <p14:sldId id="2634"/>
            <p14:sldId id="277"/>
            <p14:sldId id="2642"/>
            <p14:sldId id="2643"/>
            <p14:sldId id="271"/>
            <p14:sldId id="269"/>
          </p14:sldIdLst>
        </p14:section>
        <p14:section name="Draft" id="{35DCA3FC-4067-4178-BC03-D4D5E07E367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BE8"/>
    <a:srgbClr val="EAEAEA"/>
    <a:srgbClr val="FBE3D6"/>
    <a:srgbClr val="FFFFFF"/>
    <a:srgbClr val="D4E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3B727-0BBA-47F8-B78C-6E7C530EC281}" v="668" dt="2026-03-05T10:49:24.767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36" autoAdjust="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8CC7B-29B6-425E-9860-F8F739CEA3C4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62687D2-DCCB-4843-8633-6287CAC783B0}">
      <dgm:prSet phldrT="[Texte]" phldr="0" custT="1"/>
      <dgm:spPr/>
      <dgm:t>
        <a:bodyPr/>
        <a:lstStyle/>
        <a:p>
          <a:r>
            <a:rPr lang="en-US" sz="1200"/>
            <a:t>Pre-DG1</a:t>
          </a:r>
        </a:p>
        <a:p>
          <a:r>
            <a:rPr lang="en-US" sz="1200"/>
            <a:t>Exploration phase</a:t>
          </a:r>
        </a:p>
      </dgm:t>
    </dgm:pt>
    <dgm:pt modelId="{DBBFE5DF-D828-4709-9A8F-7C71D523AB44}" type="parTrans" cxnId="{58C91EED-A42B-4D29-9A34-F424A1691BC1}">
      <dgm:prSet/>
      <dgm:spPr/>
      <dgm:t>
        <a:bodyPr/>
        <a:lstStyle/>
        <a:p>
          <a:endParaRPr lang="en-US"/>
        </a:p>
      </dgm:t>
    </dgm:pt>
    <dgm:pt modelId="{10A21D03-C391-4F02-A257-724319951AB8}" type="sibTrans" cxnId="{58C91EED-A42B-4D29-9A34-F424A1691BC1}">
      <dgm:prSet/>
      <dgm:spPr/>
      <dgm:t>
        <a:bodyPr/>
        <a:lstStyle/>
        <a:p>
          <a:endParaRPr lang="en-US"/>
        </a:p>
      </dgm:t>
    </dgm:pt>
    <dgm:pt modelId="{E5A4290F-F61E-496B-94DC-118AB21B1AF3}">
      <dgm:prSet phldrT="[Texte]" phldr="0" custT="1"/>
      <dgm:spPr/>
      <dgm:t>
        <a:bodyPr/>
        <a:lstStyle/>
        <a:p>
          <a:r>
            <a:rPr lang="en-US" sz="1200"/>
            <a:t>Decision Gate 1</a:t>
          </a:r>
        </a:p>
        <a:p>
          <a:r>
            <a:rPr lang="en-US" sz="1200"/>
            <a:t>Develop concept</a:t>
          </a:r>
        </a:p>
      </dgm:t>
    </dgm:pt>
    <dgm:pt modelId="{9D07609B-A683-4092-9376-A40192377403}" type="parTrans" cxnId="{2B91FB8A-B56A-46CF-9A38-0BB2633D1049}">
      <dgm:prSet/>
      <dgm:spPr/>
      <dgm:t>
        <a:bodyPr/>
        <a:lstStyle/>
        <a:p>
          <a:endParaRPr lang="en-US"/>
        </a:p>
      </dgm:t>
    </dgm:pt>
    <dgm:pt modelId="{BF3FEECD-77C4-40A4-B10D-F98B82CBDCA7}" type="sibTrans" cxnId="{2B91FB8A-B56A-46CF-9A38-0BB2633D1049}">
      <dgm:prSet/>
      <dgm:spPr/>
      <dgm:t>
        <a:bodyPr/>
        <a:lstStyle/>
        <a:p>
          <a:endParaRPr lang="en-US"/>
        </a:p>
      </dgm:t>
    </dgm:pt>
    <dgm:pt modelId="{832FA1C9-1054-4360-B998-9FDD9D571D34}">
      <dgm:prSet phldrT="[Texte]" phldr="0" custT="1"/>
      <dgm:spPr/>
      <dgm:t>
        <a:bodyPr/>
        <a:lstStyle/>
        <a:p>
          <a:r>
            <a:rPr lang="en-US" sz="1200"/>
            <a:t>Decision Gate 2</a:t>
          </a:r>
        </a:p>
        <a:p>
          <a:r>
            <a:rPr lang="en-US" sz="1200"/>
            <a:t>Select concept</a:t>
          </a:r>
        </a:p>
      </dgm:t>
    </dgm:pt>
    <dgm:pt modelId="{454FAC92-F5F5-431C-B719-43D7C699E9CC}" type="parTrans" cxnId="{1F44C12D-1E74-40F7-9384-B48847495D97}">
      <dgm:prSet/>
      <dgm:spPr/>
      <dgm:t>
        <a:bodyPr/>
        <a:lstStyle/>
        <a:p>
          <a:endParaRPr lang="en-US"/>
        </a:p>
      </dgm:t>
    </dgm:pt>
    <dgm:pt modelId="{388E27DA-2173-4616-8D90-CE9E41B570AE}" type="sibTrans" cxnId="{1F44C12D-1E74-40F7-9384-B48847495D97}">
      <dgm:prSet/>
      <dgm:spPr/>
      <dgm:t>
        <a:bodyPr/>
        <a:lstStyle/>
        <a:p>
          <a:endParaRPr lang="en-US"/>
        </a:p>
      </dgm:t>
    </dgm:pt>
    <dgm:pt modelId="{1550299E-5EE2-4CFC-93F1-E2487FDF6F62}">
      <dgm:prSet phldrT="[Texte]" phldr="0" custT="1"/>
      <dgm:spPr/>
      <dgm:t>
        <a:bodyPr/>
        <a:lstStyle/>
        <a:p>
          <a:r>
            <a:rPr lang="en-US" sz="1200"/>
            <a:t>Decision Gate</a:t>
          </a:r>
        </a:p>
        <a:p>
          <a:r>
            <a:rPr lang="en-US" sz="1200"/>
            <a:t>Mature concept</a:t>
          </a:r>
        </a:p>
      </dgm:t>
    </dgm:pt>
    <dgm:pt modelId="{6C19862C-EB77-4C3A-865E-F1B8840316DB}" type="parTrans" cxnId="{EF4CAD62-2EB8-407A-B875-405E9FA86841}">
      <dgm:prSet/>
      <dgm:spPr/>
      <dgm:t>
        <a:bodyPr/>
        <a:lstStyle/>
        <a:p>
          <a:endParaRPr lang="en-US"/>
        </a:p>
      </dgm:t>
    </dgm:pt>
    <dgm:pt modelId="{9E12CF12-F8FF-41B9-B8AD-265E5BC89068}" type="sibTrans" cxnId="{EF4CAD62-2EB8-407A-B875-405E9FA86841}">
      <dgm:prSet/>
      <dgm:spPr/>
      <dgm:t>
        <a:bodyPr/>
        <a:lstStyle/>
        <a:p>
          <a:endParaRPr lang="en-US"/>
        </a:p>
      </dgm:t>
    </dgm:pt>
    <dgm:pt modelId="{AE4938E4-AEA8-443A-8308-ACEDAFC2A0DA}">
      <dgm:prSet phldrT="[Texte]" phldr="0" custT="1"/>
      <dgm:spPr/>
      <dgm:t>
        <a:bodyPr/>
        <a:lstStyle/>
        <a:p>
          <a:r>
            <a:rPr lang="en-US" sz="1200"/>
            <a:t>Decision Gate 4</a:t>
          </a:r>
        </a:p>
        <a:p>
          <a:r>
            <a:rPr lang="en-US" sz="1200"/>
            <a:t>Sanction project</a:t>
          </a:r>
        </a:p>
      </dgm:t>
    </dgm:pt>
    <dgm:pt modelId="{601B8E4E-C192-47D3-B45B-1073F6828E6B}" type="parTrans" cxnId="{4B06706B-FB4A-4B1B-A7D4-B54453AC8346}">
      <dgm:prSet/>
      <dgm:spPr/>
      <dgm:t>
        <a:bodyPr/>
        <a:lstStyle/>
        <a:p>
          <a:endParaRPr lang="en-US"/>
        </a:p>
      </dgm:t>
    </dgm:pt>
    <dgm:pt modelId="{C8602D2D-9B8A-4E1D-A389-ACE04B0BB224}" type="sibTrans" cxnId="{4B06706B-FB4A-4B1B-A7D4-B54453AC8346}">
      <dgm:prSet/>
      <dgm:spPr/>
      <dgm:t>
        <a:bodyPr/>
        <a:lstStyle/>
        <a:p>
          <a:endParaRPr lang="en-US"/>
        </a:p>
      </dgm:t>
    </dgm:pt>
    <dgm:pt modelId="{188E8652-8B7D-434A-8C0B-9AA1070DE336}" type="pres">
      <dgm:prSet presAssocID="{EA88CC7B-29B6-425E-9860-F8F739CEA3C4}" presName="rootnode" presStyleCnt="0">
        <dgm:presLayoutVars>
          <dgm:chMax/>
          <dgm:chPref/>
          <dgm:dir/>
          <dgm:animLvl val="lvl"/>
        </dgm:presLayoutVars>
      </dgm:prSet>
      <dgm:spPr/>
    </dgm:pt>
    <dgm:pt modelId="{D2613F11-23D3-4478-A0CE-2BDB97B30BEB}" type="pres">
      <dgm:prSet presAssocID="{062687D2-DCCB-4843-8633-6287CAC783B0}" presName="composite" presStyleCnt="0"/>
      <dgm:spPr/>
    </dgm:pt>
    <dgm:pt modelId="{0850E884-A26C-4E9D-9F94-4F52FD31FF67}" type="pres">
      <dgm:prSet presAssocID="{062687D2-DCCB-4843-8633-6287CAC783B0}" presName="LShape" presStyleLbl="alignNode1" presStyleIdx="0" presStyleCnt="9"/>
      <dgm:spPr/>
    </dgm:pt>
    <dgm:pt modelId="{683FD88A-AED8-418D-8028-C2478BB9A670}" type="pres">
      <dgm:prSet presAssocID="{062687D2-DCCB-4843-8633-6287CAC783B0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0FD4E77-A680-47AB-8092-6CE864C44CA8}" type="pres">
      <dgm:prSet presAssocID="{062687D2-DCCB-4843-8633-6287CAC783B0}" presName="Triangle" presStyleLbl="alignNode1" presStyleIdx="1" presStyleCnt="9"/>
      <dgm:spPr/>
    </dgm:pt>
    <dgm:pt modelId="{B0AD6ED8-5675-46C9-A46A-8A753DBA9313}" type="pres">
      <dgm:prSet presAssocID="{10A21D03-C391-4F02-A257-724319951AB8}" presName="sibTrans" presStyleCnt="0"/>
      <dgm:spPr/>
    </dgm:pt>
    <dgm:pt modelId="{3D860EF3-7E11-4620-B75D-7A97D6453F21}" type="pres">
      <dgm:prSet presAssocID="{10A21D03-C391-4F02-A257-724319951AB8}" presName="space" presStyleCnt="0"/>
      <dgm:spPr/>
    </dgm:pt>
    <dgm:pt modelId="{8ACFD30A-EB78-4DBE-B2C8-868B01B703B0}" type="pres">
      <dgm:prSet presAssocID="{E5A4290F-F61E-496B-94DC-118AB21B1AF3}" presName="composite" presStyleCnt="0"/>
      <dgm:spPr/>
    </dgm:pt>
    <dgm:pt modelId="{0FAF2B98-7E76-4F70-99D2-7FDEFB096E46}" type="pres">
      <dgm:prSet presAssocID="{E5A4290F-F61E-496B-94DC-118AB21B1AF3}" presName="LShape" presStyleLbl="alignNode1" presStyleIdx="2" presStyleCnt="9"/>
      <dgm:spPr/>
    </dgm:pt>
    <dgm:pt modelId="{AFCAAF22-49E4-44F3-B276-196659B7A114}" type="pres">
      <dgm:prSet presAssocID="{E5A4290F-F61E-496B-94DC-118AB21B1AF3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3F465C5D-6DBB-48FD-8450-853F51F094DB}" type="pres">
      <dgm:prSet presAssocID="{E5A4290F-F61E-496B-94DC-118AB21B1AF3}" presName="Triangle" presStyleLbl="alignNode1" presStyleIdx="3" presStyleCnt="9"/>
      <dgm:spPr/>
    </dgm:pt>
    <dgm:pt modelId="{CA6CE452-8998-44D1-9945-3623CDBE879D}" type="pres">
      <dgm:prSet presAssocID="{BF3FEECD-77C4-40A4-B10D-F98B82CBDCA7}" presName="sibTrans" presStyleCnt="0"/>
      <dgm:spPr/>
    </dgm:pt>
    <dgm:pt modelId="{3194FFE3-76CA-4692-860D-3CAB3CBE1150}" type="pres">
      <dgm:prSet presAssocID="{BF3FEECD-77C4-40A4-B10D-F98B82CBDCA7}" presName="space" presStyleCnt="0"/>
      <dgm:spPr/>
    </dgm:pt>
    <dgm:pt modelId="{5AAE1149-C2E6-4C1D-993F-A0B63A7C5F92}" type="pres">
      <dgm:prSet presAssocID="{832FA1C9-1054-4360-B998-9FDD9D571D34}" presName="composite" presStyleCnt="0"/>
      <dgm:spPr/>
    </dgm:pt>
    <dgm:pt modelId="{21D680B8-8CC4-489B-B7B7-903D5179CDBD}" type="pres">
      <dgm:prSet presAssocID="{832FA1C9-1054-4360-B998-9FDD9D571D34}" presName="LShape" presStyleLbl="alignNode1" presStyleIdx="4" presStyleCnt="9"/>
      <dgm:spPr/>
    </dgm:pt>
    <dgm:pt modelId="{0992C3F0-9C2B-41D9-A225-F811F34FB9B4}" type="pres">
      <dgm:prSet presAssocID="{832FA1C9-1054-4360-B998-9FDD9D571D34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60DF90D5-BE6F-4BA2-8CF5-8D7A0BBABCAB}" type="pres">
      <dgm:prSet presAssocID="{832FA1C9-1054-4360-B998-9FDD9D571D34}" presName="Triangle" presStyleLbl="alignNode1" presStyleIdx="5" presStyleCnt="9"/>
      <dgm:spPr/>
    </dgm:pt>
    <dgm:pt modelId="{721F14FE-9537-447B-AF9F-1A79F8217A92}" type="pres">
      <dgm:prSet presAssocID="{388E27DA-2173-4616-8D90-CE9E41B570AE}" presName="sibTrans" presStyleCnt="0"/>
      <dgm:spPr/>
    </dgm:pt>
    <dgm:pt modelId="{6F3194E7-751C-4521-9A6E-18C733E0E018}" type="pres">
      <dgm:prSet presAssocID="{388E27DA-2173-4616-8D90-CE9E41B570AE}" presName="space" presStyleCnt="0"/>
      <dgm:spPr/>
    </dgm:pt>
    <dgm:pt modelId="{D9BD4AF1-3E1F-4767-8B01-94F943F730A4}" type="pres">
      <dgm:prSet presAssocID="{1550299E-5EE2-4CFC-93F1-E2487FDF6F62}" presName="composite" presStyleCnt="0"/>
      <dgm:spPr/>
    </dgm:pt>
    <dgm:pt modelId="{A14A2975-DF3D-4A12-BBF4-F5522924A686}" type="pres">
      <dgm:prSet presAssocID="{1550299E-5EE2-4CFC-93F1-E2487FDF6F62}" presName="LShape" presStyleLbl="alignNode1" presStyleIdx="6" presStyleCnt="9"/>
      <dgm:spPr/>
    </dgm:pt>
    <dgm:pt modelId="{325F272A-E0CF-4937-95E4-84A43864E0EA}" type="pres">
      <dgm:prSet presAssocID="{1550299E-5EE2-4CFC-93F1-E2487FDF6F62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49930A9-40EE-42BB-BAB3-B025EC55F570}" type="pres">
      <dgm:prSet presAssocID="{1550299E-5EE2-4CFC-93F1-E2487FDF6F62}" presName="Triangle" presStyleLbl="alignNode1" presStyleIdx="7" presStyleCnt="9"/>
      <dgm:spPr/>
    </dgm:pt>
    <dgm:pt modelId="{40F55BC7-5868-48CA-B03F-C60ED96C11D4}" type="pres">
      <dgm:prSet presAssocID="{9E12CF12-F8FF-41B9-B8AD-265E5BC89068}" presName="sibTrans" presStyleCnt="0"/>
      <dgm:spPr/>
    </dgm:pt>
    <dgm:pt modelId="{372BEE76-CB52-4599-B9EB-2B1EA7397362}" type="pres">
      <dgm:prSet presAssocID="{9E12CF12-F8FF-41B9-B8AD-265E5BC89068}" presName="space" presStyleCnt="0"/>
      <dgm:spPr/>
    </dgm:pt>
    <dgm:pt modelId="{19CBA4E3-32C5-453C-8C13-07ACF52451FE}" type="pres">
      <dgm:prSet presAssocID="{AE4938E4-AEA8-443A-8308-ACEDAFC2A0DA}" presName="composite" presStyleCnt="0"/>
      <dgm:spPr/>
    </dgm:pt>
    <dgm:pt modelId="{CCE4ECB1-B1D1-4549-937B-D2A31709609B}" type="pres">
      <dgm:prSet presAssocID="{AE4938E4-AEA8-443A-8308-ACEDAFC2A0DA}" presName="LShape" presStyleLbl="alignNode1" presStyleIdx="8" presStyleCnt="9"/>
      <dgm:spPr/>
    </dgm:pt>
    <dgm:pt modelId="{4CD3932B-F68E-4624-82D8-9A8BC42CAD6C}" type="pres">
      <dgm:prSet presAssocID="{AE4938E4-AEA8-443A-8308-ACEDAFC2A0DA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F44C12D-1E74-40F7-9384-B48847495D97}" srcId="{EA88CC7B-29B6-425E-9860-F8F739CEA3C4}" destId="{832FA1C9-1054-4360-B998-9FDD9D571D34}" srcOrd="2" destOrd="0" parTransId="{454FAC92-F5F5-431C-B719-43D7C699E9CC}" sibTransId="{388E27DA-2173-4616-8D90-CE9E41B570AE}"/>
    <dgm:cxn modelId="{C2B0BE3F-4E5C-487E-8A94-59C16D2E56A6}" type="presOf" srcId="{832FA1C9-1054-4360-B998-9FDD9D571D34}" destId="{0992C3F0-9C2B-41D9-A225-F811F34FB9B4}" srcOrd="0" destOrd="0" presId="urn:microsoft.com/office/officeart/2009/3/layout/StepUpProcess"/>
    <dgm:cxn modelId="{EF4CAD62-2EB8-407A-B875-405E9FA86841}" srcId="{EA88CC7B-29B6-425E-9860-F8F739CEA3C4}" destId="{1550299E-5EE2-4CFC-93F1-E2487FDF6F62}" srcOrd="3" destOrd="0" parTransId="{6C19862C-EB77-4C3A-865E-F1B8840316DB}" sibTransId="{9E12CF12-F8FF-41B9-B8AD-265E5BC89068}"/>
    <dgm:cxn modelId="{4B06706B-FB4A-4B1B-A7D4-B54453AC8346}" srcId="{EA88CC7B-29B6-425E-9860-F8F739CEA3C4}" destId="{AE4938E4-AEA8-443A-8308-ACEDAFC2A0DA}" srcOrd="4" destOrd="0" parTransId="{601B8E4E-C192-47D3-B45B-1073F6828E6B}" sibTransId="{C8602D2D-9B8A-4E1D-A389-ACE04B0BB224}"/>
    <dgm:cxn modelId="{7079CF7D-7139-44EE-BDCA-B53EC9EF5F46}" type="presOf" srcId="{EA88CC7B-29B6-425E-9860-F8F739CEA3C4}" destId="{188E8652-8B7D-434A-8C0B-9AA1070DE336}" srcOrd="0" destOrd="0" presId="urn:microsoft.com/office/officeart/2009/3/layout/StepUpProcess"/>
    <dgm:cxn modelId="{6102267F-D3D3-44A9-BBC0-8B78BAF4E518}" type="presOf" srcId="{062687D2-DCCB-4843-8633-6287CAC783B0}" destId="{683FD88A-AED8-418D-8028-C2478BB9A670}" srcOrd="0" destOrd="0" presId="urn:microsoft.com/office/officeart/2009/3/layout/StepUpProcess"/>
    <dgm:cxn modelId="{2B91FB8A-B56A-46CF-9A38-0BB2633D1049}" srcId="{EA88CC7B-29B6-425E-9860-F8F739CEA3C4}" destId="{E5A4290F-F61E-496B-94DC-118AB21B1AF3}" srcOrd="1" destOrd="0" parTransId="{9D07609B-A683-4092-9376-A40192377403}" sibTransId="{BF3FEECD-77C4-40A4-B10D-F98B82CBDCA7}"/>
    <dgm:cxn modelId="{592D0B9D-599F-4688-9FB5-E29FE3B04031}" type="presOf" srcId="{AE4938E4-AEA8-443A-8308-ACEDAFC2A0DA}" destId="{4CD3932B-F68E-4624-82D8-9A8BC42CAD6C}" srcOrd="0" destOrd="0" presId="urn:microsoft.com/office/officeart/2009/3/layout/StepUpProcess"/>
    <dgm:cxn modelId="{A85B5FAE-08C6-4959-8F6F-1728A80BFEEA}" type="presOf" srcId="{E5A4290F-F61E-496B-94DC-118AB21B1AF3}" destId="{AFCAAF22-49E4-44F3-B276-196659B7A114}" srcOrd="0" destOrd="0" presId="urn:microsoft.com/office/officeart/2009/3/layout/StepUpProcess"/>
    <dgm:cxn modelId="{9A7BEFB4-E7AE-4C9D-8635-326EA17547D8}" type="presOf" srcId="{1550299E-5EE2-4CFC-93F1-E2487FDF6F62}" destId="{325F272A-E0CF-4937-95E4-84A43864E0EA}" srcOrd="0" destOrd="0" presId="urn:microsoft.com/office/officeart/2009/3/layout/StepUpProcess"/>
    <dgm:cxn modelId="{58C91EED-A42B-4D29-9A34-F424A1691BC1}" srcId="{EA88CC7B-29B6-425E-9860-F8F739CEA3C4}" destId="{062687D2-DCCB-4843-8633-6287CAC783B0}" srcOrd="0" destOrd="0" parTransId="{DBBFE5DF-D828-4709-9A8F-7C71D523AB44}" sibTransId="{10A21D03-C391-4F02-A257-724319951AB8}"/>
    <dgm:cxn modelId="{FD84A1F3-FB58-410F-9C33-83251AF1EF1B}" type="presParOf" srcId="{188E8652-8B7D-434A-8C0B-9AA1070DE336}" destId="{D2613F11-23D3-4478-A0CE-2BDB97B30BEB}" srcOrd="0" destOrd="0" presId="urn:microsoft.com/office/officeart/2009/3/layout/StepUpProcess"/>
    <dgm:cxn modelId="{AA55A429-0B39-4878-A79F-14FCA71D40ED}" type="presParOf" srcId="{D2613F11-23D3-4478-A0CE-2BDB97B30BEB}" destId="{0850E884-A26C-4E9D-9F94-4F52FD31FF67}" srcOrd="0" destOrd="0" presId="urn:microsoft.com/office/officeart/2009/3/layout/StepUpProcess"/>
    <dgm:cxn modelId="{413BA439-899D-4357-9CF6-7CF0D1423748}" type="presParOf" srcId="{D2613F11-23D3-4478-A0CE-2BDB97B30BEB}" destId="{683FD88A-AED8-418D-8028-C2478BB9A670}" srcOrd="1" destOrd="0" presId="urn:microsoft.com/office/officeart/2009/3/layout/StepUpProcess"/>
    <dgm:cxn modelId="{EB92D957-D5B6-4B18-BE10-75B22D746D90}" type="presParOf" srcId="{D2613F11-23D3-4478-A0CE-2BDB97B30BEB}" destId="{80FD4E77-A680-47AB-8092-6CE864C44CA8}" srcOrd="2" destOrd="0" presId="urn:microsoft.com/office/officeart/2009/3/layout/StepUpProcess"/>
    <dgm:cxn modelId="{562BCA67-2A6B-4614-B408-0E79ADB3D596}" type="presParOf" srcId="{188E8652-8B7D-434A-8C0B-9AA1070DE336}" destId="{B0AD6ED8-5675-46C9-A46A-8A753DBA9313}" srcOrd="1" destOrd="0" presId="urn:microsoft.com/office/officeart/2009/3/layout/StepUpProcess"/>
    <dgm:cxn modelId="{3DCF581F-C82B-4F9B-9F79-6001E17DEBCE}" type="presParOf" srcId="{B0AD6ED8-5675-46C9-A46A-8A753DBA9313}" destId="{3D860EF3-7E11-4620-B75D-7A97D6453F21}" srcOrd="0" destOrd="0" presId="urn:microsoft.com/office/officeart/2009/3/layout/StepUpProcess"/>
    <dgm:cxn modelId="{C6DBAAF4-0C52-4125-9672-105552111D41}" type="presParOf" srcId="{188E8652-8B7D-434A-8C0B-9AA1070DE336}" destId="{8ACFD30A-EB78-4DBE-B2C8-868B01B703B0}" srcOrd="2" destOrd="0" presId="urn:microsoft.com/office/officeart/2009/3/layout/StepUpProcess"/>
    <dgm:cxn modelId="{5FBBA603-D8DC-483F-999E-0CB25A3F35CF}" type="presParOf" srcId="{8ACFD30A-EB78-4DBE-B2C8-868B01B703B0}" destId="{0FAF2B98-7E76-4F70-99D2-7FDEFB096E46}" srcOrd="0" destOrd="0" presId="urn:microsoft.com/office/officeart/2009/3/layout/StepUpProcess"/>
    <dgm:cxn modelId="{6F7DCDB4-28C3-4646-8270-EC2B44381DE6}" type="presParOf" srcId="{8ACFD30A-EB78-4DBE-B2C8-868B01B703B0}" destId="{AFCAAF22-49E4-44F3-B276-196659B7A114}" srcOrd="1" destOrd="0" presId="urn:microsoft.com/office/officeart/2009/3/layout/StepUpProcess"/>
    <dgm:cxn modelId="{DEC81AE4-C77D-4B2B-BCE1-27476429A956}" type="presParOf" srcId="{8ACFD30A-EB78-4DBE-B2C8-868B01B703B0}" destId="{3F465C5D-6DBB-48FD-8450-853F51F094DB}" srcOrd="2" destOrd="0" presId="urn:microsoft.com/office/officeart/2009/3/layout/StepUpProcess"/>
    <dgm:cxn modelId="{68155644-BE69-46AC-8C83-26596340538A}" type="presParOf" srcId="{188E8652-8B7D-434A-8C0B-9AA1070DE336}" destId="{CA6CE452-8998-44D1-9945-3623CDBE879D}" srcOrd="3" destOrd="0" presId="urn:microsoft.com/office/officeart/2009/3/layout/StepUpProcess"/>
    <dgm:cxn modelId="{73D0B30D-F937-4DCE-AC43-CFFABEEA5B35}" type="presParOf" srcId="{CA6CE452-8998-44D1-9945-3623CDBE879D}" destId="{3194FFE3-76CA-4692-860D-3CAB3CBE1150}" srcOrd="0" destOrd="0" presId="urn:microsoft.com/office/officeart/2009/3/layout/StepUpProcess"/>
    <dgm:cxn modelId="{96ECBC3A-E6EA-4131-A9E9-B31F6FF33522}" type="presParOf" srcId="{188E8652-8B7D-434A-8C0B-9AA1070DE336}" destId="{5AAE1149-C2E6-4C1D-993F-A0B63A7C5F92}" srcOrd="4" destOrd="0" presId="urn:microsoft.com/office/officeart/2009/3/layout/StepUpProcess"/>
    <dgm:cxn modelId="{9DBCC527-B7C0-415A-9504-FDDEDD30F30B}" type="presParOf" srcId="{5AAE1149-C2E6-4C1D-993F-A0B63A7C5F92}" destId="{21D680B8-8CC4-489B-B7B7-903D5179CDBD}" srcOrd="0" destOrd="0" presId="urn:microsoft.com/office/officeart/2009/3/layout/StepUpProcess"/>
    <dgm:cxn modelId="{A8B2D3D7-28C8-47F7-A349-C8F1935F6E26}" type="presParOf" srcId="{5AAE1149-C2E6-4C1D-993F-A0B63A7C5F92}" destId="{0992C3F0-9C2B-41D9-A225-F811F34FB9B4}" srcOrd="1" destOrd="0" presId="urn:microsoft.com/office/officeart/2009/3/layout/StepUpProcess"/>
    <dgm:cxn modelId="{A97BE2DD-8BA2-4C84-ACB1-757CF599386B}" type="presParOf" srcId="{5AAE1149-C2E6-4C1D-993F-A0B63A7C5F92}" destId="{60DF90D5-BE6F-4BA2-8CF5-8D7A0BBABCAB}" srcOrd="2" destOrd="0" presId="urn:microsoft.com/office/officeart/2009/3/layout/StepUpProcess"/>
    <dgm:cxn modelId="{BD0D217A-3A0A-4B38-9786-C2DA4F087CEF}" type="presParOf" srcId="{188E8652-8B7D-434A-8C0B-9AA1070DE336}" destId="{721F14FE-9537-447B-AF9F-1A79F8217A92}" srcOrd="5" destOrd="0" presId="urn:microsoft.com/office/officeart/2009/3/layout/StepUpProcess"/>
    <dgm:cxn modelId="{7C32EB9B-6832-499F-B1C8-8B765BF3811B}" type="presParOf" srcId="{721F14FE-9537-447B-AF9F-1A79F8217A92}" destId="{6F3194E7-751C-4521-9A6E-18C733E0E018}" srcOrd="0" destOrd="0" presId="urn:microsoft.com/office/officeart/2009/3/layout/StepUpProcess"/>
    <dgm:cxn modelId="{593F388C-7A20-4BDF-95FB-58BD5B7A7FF2}" type="presParOf" srcId="{188E8652-8B7D-434A-8C0B-9AA1070DE336}" destId="{D9BD4AF1-3E1F-4767-8B01-94F943F730A4}" srcOrd="6" destOrd="0" presId="urn:microsoft.com/office/officeart/2009/3/layout/StepUpProcess"/>
    <dgm:cxn modelId="{D7BC4DAD-6D6A-43FA-9BD1-D2F36C8318F9}" type="presParOf" srcId="{D9BD4AF1-3E1F-4767-8B01-94F943F730A4}" destId="{A14A2975-DF3D-4A12-BBF4-F5522924A686}" srcOrd="0" destOrd="0" presId="urn:microsoft.com/office/officeart/2009/3/layout/StepUpProcess"/>
    <dgm:cxn modelId="{F977F62E-55E6-434E-B271-A64598100C21}" type="presParOf" srcId="{D9BD4AF1-3E1F-4767-8B01-94F943F730A4}" destId="{325F272A-E0CF-4937-95E4-84A43864E0EA}" srcOrd="1" destOrd="0" presId="urn:microsoft.com/office/officeart/2009/3/layout/StepUpProcess"/>
    <dgm:cxn modelId="{5A59918B-95DB-46C5-8899-38589136E418}" type="presParOf" srcId="{D9BD4AF1-3E1F-4767-8B01-94F943F730A4}" destId="{949930A9-40EE-42BB-BAB3-B025EC55F570}" srcOrd="2" destOrd="0" presId="urn:microsoft.com/office/officeart/2009/3/layout/StepUpProcess"/>
    <dgm:cxn modelId="{227A7019-B4C4-47DE-A2D1-654A8C08DFA5}" type="presParOf" srcId="{188E8652-8B7D-434A-8C0B-9AA1070DE336}" destId="{40F55BC7-5868-48CA-B03F-C60ED96C11D4}" srcOrd="7" destOrd="0" presId="urn:microsoft.com/office/officeart/2009/3/layout/StepUpProcess"/>
    <dgm:cxn modelId="{0C8138B5-7CEA-4E37-937D-3A65FE5F55B3}" type="presParOf" srcId="{40F55BC7-5868-48CA-B03F-C60ED96C11D4}" destId="{372BEE76-CB52-4599-B9EB-2B1EA7397362}" srcOrd="0" destOrd="0" presId="urn:microsoft.com/office/officeart/2009/3/layout/StepUpProcess"/>
    <dgm:cxn modelId="{E03C0F6D-1D89-4C15-B004-74225ADF3676}" type="presParOf" srcId="{188E8652-8B7D-434A-8C0B-9AA1070DE336}" destId="{19CBA4E3-32C5-453C-8C13-07ACF52451FE}" srcOrd="8" destOrd="0" presId="urn:microsoft.com/office/officeart/2009/3/layout/StepUpProcess"/>
    <dgm:cxn modelId="{F35B4F11-4899-46F0-B30B-6B0DB21F2518}" type="presParOf" srcId="{19CBA4E3-32C5-453C-8C13-07ACF52451FE}" destId="{CCE4ECB1-B1D1-4549-937B-D2A31709609B}" srcOrd="0" destOrd="0" presId="urn:microsoft.com/office/officeart/2009/3/layout/StepUpProcess"/>
    <dgm:cxn modelId="{AC9D3070-A4B3-4726-8EF5-70ECA1E52540}" type="presParOf" srcId="{19CBA4E3-32C5-453C-8C13-07ACF52451FE}" destId="{4CD3932B-F68E-4624-82D8-9A8BC42CAD6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D78402-EF40-46A6-9C03-DA7038A1524B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E91DB2-7131-4DFE-A970-E617F53138E5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Full traceability and auditability</a:t>
          </a:r>
        </a:p>
      </dgm:t>
    </dgm:pt>
    <dgm:pt modelId="{BF3DCD07-8664-4BC5-9B40-49BF87E10D8D}" type="parTrans" cxnId="{313BBA00-572D-49F8-A35D-D8E18C257D22}">
      <dgm:prSet/>
      <dgm:spPr/>
      <dgm:t>
        <a:bodyPr/>
        <a:lstStyle/>
        <a:p>
          <a:endParaRPr lang="en-US"/>
        </a:p>
      </dgm:t>
    </dgm:pt>
    <dgm:pt modelId="{8EE7B8AD-2548-4A94-A391-E665B014CAB9}" type="sibTrans" cxnId="{313BBA00-572D-49F8-A35D-D8E18C257D22}">
      <dgm:prSet/>
      <dgm:spPr/>
      <dgm:t>
        <a:bodyPr/>
        <a:lstStyle/>
        <a:p>
          <a:endParaRPr lang="en-US"/>
        </a:p>
      </dgm:t>
    </dgm:pt>
    <dgm:pt modelId="{B6EB3B02-074E-4B07-9192-B38986382CF8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Improved uncertainty tracking</a:t>
          </a:r>
        </a:p>
      </dgm:t>
    </dgm:pt>
    <dgm:pt modelId="{7B7F589C-21CF-45E8-BE5D-B598A471D38A}" type="parTrans" cxnId="{AB56E126-DC97-49EC-9D60-17B869265096}">
      <dgm:prSet/>
      <dgm:spPr/>
      <dgm:t>
        <a:bodyPr/>
        <a:lstStyle/>
        <a:p>
          <a:endParaRPr lang="en-US"/>
        </a:p>
      </dgm:t>
    </dgm:pt>
    <dgm:pt modelId="{CFB5F9D5-E33F-4E3E-9CA6-4009C8CB6805}" type="sibTrans" cxnId="{AB56E126-DC97-49EC-9D60-17B869265096}">
      <dgm:prSet/>
      <dgm:spPr/>
      <dgm:t>
        <a:bodyPr/>
        <a:lstStyle/>
        <a:p>
          <a:endParaRPr lang="en-US"/>
        </a:p>
      </dgm:t>
    </dgm:pt>
    <dgm:pt modelId="{C70E8CE6-6B84-48F9-A41D-ACB011B3904D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Enable comparisons and analytics</a:t>
          </a:r>
        </a:p>
      </dgm:t>
    </dgm:pt>
    <dgm:pt modelId="{3F3E7AEC-7817-4631-95CA-73167A8E3654}" type="parTrans" cxnId="{C16BA19C-6FF5-48BD-A07C-08502099F824}">
      <dgm:prSet/>
      <dgm:spPr/>
      <dgm:t>
        <a:bodyPr/>
        <a:lstStyle/>
        <a:p>
          <a:endParaRPr lang="en-US"/>
        </a:p>
      </dgm:t>
    </dgm:pt>
    <dgm:pt modelId="{FCDCE0A9-374B-4EC8-9F86-ED3728C323DE}" type="sibTrans" cxnId="{C16BA19C-6FF5-48BD-A07C-08502099F824}">
      <dgm:prSet/>
      <dgm:spPr/>
      <dgm:t>
        <a:bodyPr/>
        <a:lstStyle/>
        <a:p>
          <a:endParaRPr lang="en-US"/>
        </a:p>
      </dgm:t>
    </dgm:pt>
    <dgm:pt modelId="{8F86396D-9A3C-40CA-9EC8-C8B6F263220D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Supports lifecycle analysis</a:t>
          </a:r>
        </a:p>
      </dgm:t>
    </dgm:pt>
    <dgm:pt modelId="{50064A45-99B5-4D24-98AA-C9FCEECE959C}" type="parTrans" cxnId="{42860E71-DA8F-4357-8BEE-71A605061FFE}">
      <dgm:prSet/>
      <dgm:spPr/>
      <dgm:t>
        <a:bodyPr/>
        <a:lstStyle/>
        <a:p>
          <a:endParaRPr lang="en-US"/>
        </a:p>
      </dgm:t>
    </dgm:pt>
    <dgm:pt modelId="{50F81E18-BCF8-4117-B959-437F0AA154BB}" type="sibTrans" cxnId="{42860E71-DA8F-4357-8BEE-71A605061FFE}">
      <dgm:prSet/>
      <dgm:spPr/>
      <dgm:t>
        <a:bodyPr/>
        <a:lstStyle/>
        <a:p>
          <a:endParaRPr lang="en-US"/>
        </a:p>
      </dgm:t>
    </dgm:pt>
    <dgm:pt modelId="{F9FFC0AD-EEAB-4145-AA13-0B7C1A36B132}">
      <dgm:prSet/>
      <dgm:spPr/>
      <dgm:t>
        <a:bodyPr/>
        <a:lstStyle/>
        <a:p>
          <a:r>
            <a:rPr lang="en-US" b="1">
              <a:solidFill>
                <a:schemeClr val="accent2"/>
              </a:solidFill>
            </a:rPr>
            <a:t>Enhanced performance and maturation tracking</a:t>
          </a:r>
        </a:p>
      </dgm:t>
    </dgm:pt>
    <dgm:pt modelId="{1F0EAE75-BD3D-44CD-B7BB-2CA95AF3E500}" type="parTrans" cxnId="{0BAD13C0-2C88-45A1-A6AE-399CF418AFAB}">
      <dgm:prSet/>
      <dgm:spPr/>
      <dgm:t>
        <a:bodyPr/>
        <a:lstStyle/>
        <a:p>
          <a:endParaRPr lang="en-US"/>
        </a:p>
      </dgm:t>
    </dgm:pt>
    <dgm:pt modelId="{06932D2D-A203-46FB-BE2C-B3BC14B37F3C}" type="sibTrans" cxnId="{0BAD13C0-2C88-45A1-A6AE-399CF418AFAB}">
      <dgm:prSet/>
      <dgm:spPr/>
      <dgm:t>
        <a:bodyPr/>
        <a:lstStyle/>
        <a:p>
          <a:endParaRPr lang="en-US"/>
        </a:p>
      </dgm:t>
    </dgm:pt>
    <dgm:pt modelId="{687AFC9B-2227-4B35-ABA1-01CEA4C86847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Lossless Input/Output Records</a:t>
          </a:r>
          <a:endParaRPr lang="en-US"/>
        </a:p>
      </dgm:t>
    </dgm:pt>
    <dgm:pt modelId="{2E80204F-7FAF-43B0-9E2D-9D913A866CDB}" type="parTrans" cxnId="{A5CAF384-D93D-497F-BEDA-6535C58F024C}">
      <dgm:prSet/>
      <dgm:spPr/>
      <dgm:t>
        <a:bodyPr/>
        <a:lstStyle/>
        <a:p>
          <a:endParaRPr lang="en-US"/>
        </a:p>
      </dgm:t>
    </dgm:pt>
    <dgm:pt modelId="{A0E20DF6-E11D-42C7-A7CA-2251FDDD32EC}" type="sibTrans" cxnId="{A5CAF384-D93D-497F-BEDA-6535C58F024C}">
      <dgm:prSet/>
      <dgm:spPr/>
      <dgm:t>
        <a:bodyPr/>
        <a:lstStyle/>
        <a:p>
          <a:endParaRPr lang="en-US"/>
        </a:p>
      </dgm:t>
    </dgm:pt>
    <dgm:pt modelId="{1E45667F-A6B9-4C82-94D4-7B78206EF241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Ensemble-Based Data Support</a:t>
          </a:r>
          <a:endParaRPr lang="en-US"/>
        </a:p>
      </dgm:t>
    </dgm:pt>
    <dgm:pt modelId="{E1FA2358-354F-44B3-828A-F29060A86507}" type="parTrans" cxnId="{B21FD971-373A-4F9C-925D-DAA21242B1F4}">
      <dgm:prSet/>
      <dgm:spPr/>
      <dgm:t>
        <a:bodyPr/>
        <a:lstStyle/>
        <a:p>
          <a:endParaRPr lang="en-US"/>
        </a:p>
      </dgm:t>
    </dgm:pt>
    <dgm:pt modelId="{12FC727C-B50C-4609-84A2-ED8CE442F136}" type="sibTrans" cxnId="{B21FD971-373A-4F9C-925D-DAA21242B1F4}">
      <dgm:prSet/>
      <dgm:spPr/>
      <dgm:t>
        <a:bodyPr/>
        <a:lstStyle/>
        <a:p>
          <a:endParaRPr lang="en-US"/>
        </a:p>
      </dgm:t>
    </dgm:pt>
    <dgm:pt modelId="{C0811237-7E96-4E95-AEAB-022BAB298BD1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Standardized Data Models</a:t>
          </a:r>
          <a:endParaRPr lang="en-US"/>
        </a:p>
      </dgm:t>
    </dgm:pt>
    <dgm:pt modelId="{F7FF949A-9721-4285-92EE-B017BDC2C526}" type="parTrans" cxnId="{16A4D273-AA73-4E18-B9DF-EEB81EB11053}">
      <dgm:prSet/>
      <dgm:spPr/>
      <dgm:t>
        <a:bodyPr/>
        <a:lstStyle/>
        <a:p>
          <a:endParaRPr lang="en-US"/>
        </a:p>
      </dgm:t>
    </dgm:pt>
    <dgm:pt modelId="{8D92479D-6435-4B25-9055-0739BF28DB34}" type="sibTrans" cxnId="{16A4D273-AA73-4E18-B9DF-EEB81EB11053}">
      <dgm:prSet/>
      <dgm:spPr/>
      <dgm:t>
        <a:bodyPr/>
        <a:lstStyle/>
        <a:p>
          <a:endParaRPr lang="en-US"/>
        </a:p>
      </dgm:t>
    </dgm:pt>
    <dgm:pt modelId="{6B841E47-1506-41B6-9D45-F3BE668178B5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Searchable Archive</a:t>
          </a:r>
          <a:endParaRPr lang="en-US"/>
        </a:p>
      </dgm:t>
    </dgm:pt>
    <dgm:pt modelId="{A8BA135D-A719-47EB-9064-CB0D5FC69407}" type="parTrans" cxnId="{C0905E08-13AB-456A-9CDB-CB2A2AC2F82A}">
      <dgm:prSet/>
      <dgm:spPr/>
      <dgm:t>
        <a:bodyPr/>
        <a:lstStyle/>
        <a:p>
          <a:endParaRPr lang="en-US"/>
        </a:p>
      </dgm:t>
    </dgm:pt>
    <dgm:pt modelId="{A1BB6F33-8C5B-47A5-BB48-58F2C69FBF15}" type="sibTrans" cxnId="{C0905E08-13AB-456A-9CDB-CB2A2AC2F82A}">
      <dgm:prSet/>
      <dgm:spPr/>
      <dgm:t>
        <a:bodyPr/>
        <a:lstStyle/>
        <a:p>
          <a:endParaRPr lang="en-US"/>
        </a:p>
      </dgm:t>
    </dgm:pt>
    <dgm:pt modelId="{924A16DA-5296-459E-91D4-56DE2249BE97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Lifecycle Feedback Loop</a:t>
          </a:r>
          <a:endParaRPr lang="en-US"/>
        </a:p>
      </dgm:t>
    </dgm:pt>
    <dgm:pt modelId="{253454EB-DF28-47D9-8596-47D2E47A9837}" type="parTrans" cxnId="{5630310B-F974-42A2-866E-29C259B06619}">
      <dgm:prSet/>
      <dgm:spPr/>
      <dgm:t>
        <a:bodyPr/>
        <a:lstStyle/>
        <a:p>
          <a:endParaRPr lang="en-US"/>
        </a:p>
      </dgm:t>
    </dgm:pt>
    <dgm:pt modelId="{4782981F-67AC-4BE5-9A12-8D4FAC0413E9}" type="sibTrans" cxnId="{5630310B-F974-42A2-866E-29C259B06619}">
      <dgm:prSet/>
      <dgm:spPr/>
      <dgm:t>
        <a:bodyPr/>
        <a:lstStyle/>
        <a:p>
          <a:endParaRPr lang="en-US"/>
        </a:p>
      </dgm:t>
    </dgm:pt>
    <dgm:pt modelId="{3188B05C-D0EA-466B-981A-C2B76216B8E0}" type="pres">
      <dgm:prSet presAssocID="{97D78402-EF40-46A6-9C03-DA7038A1524B}" presName="compositeShape" presStyleCnt="0">
        <dgm:presLayoutVars>
          <dgm:chMax val="7"/>
          <dgm:dir/>
          <dgm:resizeHandles val="exact"/>
        </dgm:presLayoutVars>
      </dgm:prSet>
      <dgm:spPr/>
    </dgm:pt>
    <dgm:pt modelId="{CAE21627-E0A5-437F-B824-03683EC1DDBC}" type="pres">
      <dgm:prSet presAssocID="{5DE91DB2-7131-4DFE-A970-E617F53138E5}" presName="circ1" presStyleLbl="vennNode1" presStyleIdx="0" presStyleCnt="5"/>
      <dgm:spPr/>
    </dgm:pt>
    <dgm:pt modelId="{95969FA5-EACA-4459-A214-09975C0E683D}" type="pres">
      <dgm:prSet presAssocID="{5DE91DB2-7131-4DFE-A970-E617F53138E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30B7EB-6009-4328-B511-9A1085C1309D}" type="pres">
      <dgm:prSet presAssocID="{B6EB3B02-074E-4B07-9192-B38986382CF8}" presName="circ2" presStyleLbl="vennNode1" presStyleIdx="1" presStyleCnt="5"/>
      <dgm:spPr/>
    </dgm:pt>
    <dgm:pt modelId="{AB549B1A-91A8-46E3-A0F7-38D5FB798429}" type="pres">
      <dgm:prSet presAssocID="{B6EB3B02-074E-4B07-9192-B38986382CF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9495FA8-4A7E-4F07-B447-B5E34E471927}" type="pres">
      <dgm:prSet presAssocID="{C70E8CE6-6B84-48F9-A41D-ACB011B3904D}" presName="circ3" presStyleLbl="vennNode1" presStyleIdx="2" presStyleCnt="5"/>
      <dgm:spPr/>
    </dgm:pt>
    <dgm:pt modelId="{0E9DAE06-E8F9-40B7-9C77-1CE697006A53}" type="pres">
      <dgm:prSet presAssocID="{C70E8CE6-6B84-48F9-A41D-ACB011B3904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4465C1E-B6EC-43F5-B2E5-00C8FF540C5F}" type="pres">
      <dgm:prSet presAssocID="{8F86396D-9A3C-40CA-9EC8-C8B6F263220D}" presName="circ4" presStyleLbl="vennNode1" presStyleIdx="3" presStyleCnt="5"/>
      <dgm:spPr/>
    </dgm:pt>
    <dgm:pt modelId="{51A7C43C-C69C-4A40-8725-5BC916DA036B}" type="pres">
      <dgm:prSet presAssocID="{8F86396D-9A3C-40CA-9EC8-C8B6F263220D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46D8D6F-833D-4707-9C87-59AB93B25461}" type="pres">
      <dgm:prSet presAssocID="{F9FFC0AD-EEAB-4145-AA13-0B7C1A36B132}" presName="circ5" presStyleLbl="vennNode1" presStyleIdx="4" presStyleCnt="5"/>
      <dgm:spPr/>
    </dgm:pt>
    <dgm:pt modelId="{09144877-6B81-4F36-88E7-1D97B203ABEE}" type="pres">
      <dgm:prSet presAssocID="{F9FFC0AD-EEAB-4145-AA13-0B7C1A36B132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13BBA00-572D-49F8-A35D-D8E18C257D22}" srcId="{97D78402-EF40-46A6-9C03-DA7038A1524B}" destId="{5DE91DB2-7131-4DFE-A970-E617F53138E5}" srcOrd="0" destOrd="0" parTransId="{BF3DCD07-8664-4BC5-9B40-49BF87E10D8D}" sibTransId="{8EE7B8AD-2548-4A94-A391-E665B014CAB9}"/>
    <dgm:cxn modelId="{78B0A603-76A5-4C27-B26F-8229C920CEAA}" type="presOf" srcId="{B6EB3B02-074E-4B07-9192-B38986382CF8}" destId="{AB549B1A-91A8-46E3-A0F7-38D5FB798429}" srcOrd="0" destOrd="0" presId="urn:microsoft.com/office/officeart/2005/8/layout/venn1"/>
    <dgm:cxn modelId="{C0905E08-13AB-456A-9CDB-CB2A2AC2F82A}" srcId="{8F86396D-9A3C-40CA-9EC8-C8B6F263220D}" destId="{6B841E47-1506-41B6-9D45-F3BE668178B5}" srcOrd="0" destOrd="0" parTransId="{A8BA135D-A719-47EB-9064-CB0D5FC69407}" sibTransId="{A1BB6F33-8C5B-47A5-BB48-58F2C69FBF15}"/>
    <dgm:cxn modelId="{5630310B-F974-42A2-866E-29C259B06619}" srcId="{F9FFC0AD-EEAB-4145-AA13-0B7C1A36B132}" destId="{924A16DA-5296-459E-91D4-56DE2249BE97}" srcOrd="0" destOrd="0" parTransId="{253454EB-DF28-47D9-8596-47D2E47A9837}" sibTransId="{4782981F-67AC-4BE5-9A12-8D4FAC0413E9}"/>
    <dgm:cxn modelId="{3861D810-7DAE-4824-A99F-78C1E31FBC20}" type="presOf" srcId="{6B841E47-1506-41B6-9D45-F3BE668178B5}" destId="{51A7C43C-C69C-4A40-8725-5BC916DA036B}" srcOrd="0" destOrd="1" presId="urn:microsoft.com/office/officeart/2005/8/layout/venn1"/>
    <dgm:cxn modelId="{B05D0423-D69D-48BA-A634-390A5AEF971B}" type="presOf" srcId="{1E45667F-A6B9-4C82-94D4-7B78206EF241}" destId="{AB549B1A-91A8-46E3-A0F7-38D5FB798429}" srcOrd="0" destOrd="1" presId="urn:microsoft.com/office/officeart/2005/8/layout/venn1"/>
    <dgm:cxn modelId="{AB56E126-DC97-49EC-9D60-17B869265096}" srcId="{97D78402-EF40-46A6-9C03-DA7038A1524B}" destId="{B6EB3B02-074E-4B07-9192-B38986382CF8}" srcOrd="1" destOrd="0" parTransId="{7B7F589C-21CF-45E8-BE5D-B598A471D38A}" sibTransId="{CFB5F9D5-E33F-4E3E-9CA6-4009C8CB6805}"/>
    <dgm:cxn modelId="{5EAF3936-8C4B-4051-AAB6-95534B732CDE}" type="presOf" srcId="{924A16DA-5296-459E-91D4-56DE2249BE97}" destId="{09144877-6B81-4F36-88E7-1D97B203ABEE}" srcOrd="0" destOrd="1" presId="urn:microsoft.com/office/officeart/2005/8/layout/venn1"/>
    <dgm:cxn modelId="{9A244D62-7F1B-4286-8B2C-18BE51FC3EF5}" type="presOf" srcId="{C0811237-7E96-4E95-AEAB-022BAB298BD1}" destId="{0E9DAE06-E8F9-40B7-9C77-1CE697006A53}" srcOrd="0" destOrd="1" presId="urn:microsoft.com/office/officeart/2005/8/layout/venn1"/>
    <dgm:cxn modelId="{0F77A748-3175-4DB7-988F-6390AAC58956}" type="presOf" srcId="{C70E8CE6-6B84-48F9-A41D-ACB011B3904D}" destId="{0E9DAE06-E8F9-40B7-9C77-1CE697006A53}" srcOrd="0" destOrd="0" presId="urn:microsoft.com/office/officeart/2005/8/layout/venn1"/>
    <dgm:cxn modelId="{42860E71-DA8F-4357-8BEE-71A605061FFE}" srcId="{97D78402-EF40-46A6-9C03-DA7038A1524B}" destId="{8F86396D-9A3C-40CA-9EC8-C8B6F263220D}" srcOrd="3" destOrd="0" parTransId="{50064A45-99B5-4D24-98AA-C9FCEECE959C}" sibTransId="{50F81E18-BCF8-4117-B959-437F0AA154BB}"/>
    <dgm:cxn modelId="{B21FD971-373A-4F9C-925D-DAA21242B1F4}" srcId="{B6EB3B02-074E-4B07-9192-B38986382CF8}" destId="{1E45667F-A6B9-4C82-94D4-7B78206EF241}" srcOrd="0" destOrd="0" parTransId="{E1FA2358-354F-44B3-828A-F29060A86507}" sibTransId="{12FC727C-B50C-4609-84A2-ED8CE442F136}"/>
    <dgm:cxn modelId="{16A4D273-AA73-4E18-B9DF-EEB81EB11053}" srcId="{C70E8CE6-6B84-48F9-A41D-ACB011B3904D}" destId="{C0811237-7E96-4E95-AEAB-022BAB298BD1}" srcOrd="0" destOrd="0" parTransId="{F7FF949A-9721-4285-92EE-B017BDC2C526}" sibTransId="{8D92479D-6435-4B25-9055-0739BF28DB34}"/>
    <dgm:cxn modelId="{A5CAF384-D93D-497F-BEDA-6535C58F024C}" srcId="{5DE91DB2-7131-4DFE-A970-E617F53138E5}" destId="{687AFC9B-2227-4B35-ABA1-01CEA4C86847}" srcOrd="0" destOrd="0" parTransId="{2E80204F-7FAF-43B0-9E2D-9D913A866CDB}" sibTransId="{A0E20DF6-E11D-42C7-A7CA-2251FDDD32EC}"/>
    <dgm:cxn modelId="{3FAE3285-BC5A-4034-BC4A-88F7CCF80104}" type="presOf" srcId="{5DE91DB2-7131-4DFE-A970-E617F53138E5}" destId="{95969FA5-EACA-4459-A214-09975C0E683D}" srcOrd="0" destOrd="0" presId="urn:microsoft.com/office/officeart/2005/8/layout/venn1"/>
    <dgm:cxn modelId="{C16BA19C-6FF5-48BD-A07C-08502099F824}" srcId="{97D78402-EF40-46A6-9C03-DA7038A1524B}" destId="{C70E8CE6-6B84-48F9-A41D-ACB011B3904D}" srcOrd="2" destOrd="0" parTransId="{3F3E7AEC-7817-4631-95CA-73167A8E3654}" sibTransId="{FCDCE0A9-374B-4EC8-9F86-ED3728C323DE}"/>
    <dgm:cxn modelId="{5704FCBB-DC06-4FA7-AB09-53A73CA94F64}" type="presOf" srcId="{F9FFC0AD-EEAB-4145-AA13-0B7C1A36B132}" destId="{09144877-6B81-4F36-88E7-1D97B203ABEE}" srcOrd="0" destOrd="0" presId="urn:microsoft.com/office/officeart/2005/8/layout/venn1"/>
    <dgm:cxn modelId="{0BAD13C0-2C88-45A1-A6AE-399CF418AFAB}" srcId="{97D78402-EF40-46A6-9C03-DA7038A1524B}" destId="{F9FFC0AD-EEAB-4145-AA13-0B7C1A36B132}" srcOrd="4" destOrd="0" parTransId="{1F0EAE75-BD3D-44CD-B7BB-2CA95AF3E500}" sibTransId="{06932D2D-A203-46FB-BE2C-B3BC14B37F3C}"/>
    <dgm:cxn modelId="{19CA33C2-EF37-4874-AC1C-1EF42B4ADB25}" type="presOf" srcId="{97D78402-EF40-46A6-9C03-DA7038A1524B}" destId="{3188B05C-D0EA-466B-981A-C2B76216B8E0}" srcOrd="0" destOrd="0" presId="urn:microsoft.com/office/officeart/2005/8/layout/venn1"/>
    <dgm:cxn modelId="{206A55E5-C6F2-47E4-9701-231F8C948F17}" type="presOf" srcId="{8F86396D-9A3C-40CA-9EC8-C8B6F263220D}" destId="{51A7C43C-C69C-4A40-8725-5BC916DA036B}" srcOrd="0" destOrd="0" presId="urn:microsoft.com/office/officeart/2005/8/layout/venn1"/>
    <dgm:cxn modelId="{45E126F2-0FD0-4D17-8CE5-DF229A30FE2F}" type="presOf" srcId="{687AFC9B-2227-4B35-ABA1-01CEA4C86847}" destId="{95969FA5-EACA-4459-A214-09975C0E683D}" srcOrd="0" destOrd="1" presId="urn:microsoft.com/office/officeart/2005/8/layout/venn1"/>
    <dgm:cxn modelId="{15C1BE66-216B-4110-BCFC-EABD9CC923CF}" type="presParOf" srcId="{3188B05C-D0EA-466B-981A-C2B76216B8E0}" destId="{CAE21627-E0A5-437F-B824-03683EC1DDBC}" srcOrd="0" destOrd="0" presId="urn:microsoft.com/office/officeart/2005/8/layout/venn1"/>
    <dgm:cxn modelId="{D5ACE285-4322-47EA-AF5F-B84AE89E6ABD}" type="presParOf" srcId="{3188B05C-D0EA-466B-981A-C2B76216B8E0}" destId="{95969FA5-EACA-4459-A214-09975C0E683D}" srcOrd="1" destOrd="0" presId="urn:microsoft.com/office/officeart/2005/8/layout/venn1"/>
    <dgm:cxn modelId="{7E5FC297-4760-4301-A70E-3317FF42D0A7}" type="presParOf" srcId="{3188B05C-D0EA-466B-981A-C2B76216B8E0}" destId="{5230B7EB-6009-4328-B511-9A1085C1309D}" srcOrd="2" destOrd="0" presId="urn:microsoft.com/office/officeart/2005/8/layout/venn1"/>
    <dgm:cxn modelId="{69A117F1-2EA3-4CD0-921D-8E6D0C99F8FB}" type="presParOf" srcId="{3188B05C-D0EA-466B-981A-C2B76216B8E0}" destId="{AB549B1A-91A8-46E3-A0F7-38D5FB798429}" srcOrd="3" destOrd="0" presId="urn:microsoft.com/office/officeart/2005/8/layout/venn1"/>
    <dgm:cxn modelId="{FF9B9BC4-D298-42B1-A767-9461DFA64194}" type="presParOf" srcId="{3188B05C-D0EA-466B-981A-C2B76216B8E0}" destId="{89495FA8-4A7E-4F07-B447-B5E34E471927}" srcOrd="4" destOrd="0" presId="urn:microsoft.com/office/officeart/2005/8/layout/venn1"/>
    <dgm:cxn modelId="{13D0BFA8-4C08-4995-979E-D07E2A8241DB}" type="presParOf" srcId="{3188B05C-D0EA-466B-981A-C2B76216B8E0}" destId="{0E9DAE06-E8F9-40B7-9C77-1CE697006A53}" srcOrd="5" destOrd="0" presId="urn:microsoft.com/office/officeart/2005/8/layout/venn1"/>
    <dgm:cxn modelId="{A1F49095-E629-4D75-8A28-59A6F2C4CC1F}" type="presParOf" srcId="{3188B05C-D0EA-466B-981A-C2B76216B8E0}" destId="{64465C1E-B6EC-43F5-B2E5-00C8FF540C5F}" srcOrd="6" destOrd="0" presId="urn:microsoft.com/office/officeart/2005/8/layout/venn1"/>
    <dgm:cxn modelId="{DD217639-88BF-48A5-A3B1-94500FE541B5}" type="presParOf" srcId="{3188B05C-D0EA-466B-981A-C2B76216B8E0}" destId="{51A7C43C-C69C-4A40-8725-5BC916DA036B}" srcOrd="7" destOrd="0" presId="urn:microsoft.com/office/officeart/2005/8/layout/venn1"/>
    <dgm:cxn modelId="{E4C31CF3-EE27-44EB-AD89-F9B86C60EDE4}" type="presParOf" srcId="{3188B05C-D0EA-466B-981A-C2B76216B8E0}" destId="{E46D8D6F-833D-4707-9C87-59AB93B25461}" srcOrd="8" destOrd="0" presId="urn:microsoft.com/office/officeart/2005/8/layout/venn1"/>
    <dgm:cxn modelId="{8D540E30-E4ED-4249-9B1C-887895B18F1B}" type="presParOf" srcId="{3188B05C-D0EA-466B-981A-C2B76216B8E0}" destId="{09144877-6B81-4F36-88E7-1D97B203ABEE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0E884-A26C-4E9D-9F94-4F52FD31FF67}">
      <dsp:nvSpPr>
        <dsp:cNvPr id="0" name=""/>
        <dsp:cNvSpPr/>
      </dsp:nvSpPr>
      <dsp:spPr>
        <a:xfrm rot="5400000">
          <a:off x="282898" y="126642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FD88A-AED8-418D-8028-C2478BB9A670}">
      <dsp:nvSpPr>
        <dsp:cNvPr id="0" name=""/>
        <dsp:cNvSpPr/>
      </dsp:nvSpPr>
      <dsp:spPr>
        <a:xfrm>
          <a:off x="141248" y="1688313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Pre-DG1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Exploration phase</a:t>
          </a:r>
        </a:p>
      </dsp:txBody>
      <dsp:txXfrm>
        <a:off x="141248" y="1688313"/>
        <a:ext cx="1274788" cy="1117427"/>
      </dsp:txXfrm>
    </dsp:sp>
    <dsp:sp modelId="{80FD4E77-A680-47AB-8092-6CE864C44CA8}">
      <dsp:nvSpPr>
        <dsp:cNvPr id="0" name=""/>
        <dsp:cNvSpPr/>
      </dsp:nvSpPr>
      <dsp:spPr>
        <a:xfrm>
          <a:off x="1175511" y="1162465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F2B98-7E76-4F70-99D2-7FDEFB096E46}">
      <dsp:nvSpPr>
        <dsp:cNvPr id="0" name=""/>
        <dsp:cNvSpPr/>
      </dsp:nvSpPr>
      <dsp:spPr>
        <a:xfrm rot="5400000">
          <a:off x="1843489" y="88025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AAF22-49E4-44F3-B276-196659B7A114}">
      <dsp:nvSpPr>
        <dsp:cNvPr id="0" name=""/>
        <dsp:cNvSpPr/>
      </dsp:nvSpPr>
      <dsp:spPr>
        <a:xfrm>
          <a:off x="1701839" y="130214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1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Develop concept</a:t>
          </a:r>
        </a:p>
      </dsp:txBody>
      <dsp:txXfrm>
        <a:off x="1701839" y="1302144"/>
        <a:ext cx="1274788" cy="1117427"/>
      </dsp:txXfrm>
    </dsp:sp>
    <dsp:sp modelId="{3F465C5D-6DBB-48FD-8450-853F51F094DB}">
      <dsp:nvSpPr>
        <dsp:cNvPr id="0" name=""/>
        <dsp:cNvSpPr/>
      </dsp:nvSpPr>
      <dsp:spPr>
        <a:xfrm>
          <a:off x="2736101" y="77629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1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680B8-8CC4-489B-B7B7-903D5179CDBD}">
      <dsp:nvSpPr>
        <dsp:cNvPr id="0" name=""/>
        <dsp:cNvSpPr/>
      </dsp:nvSpPr>
      <dsp:spPr>
        <a:xfrm rot="5400000">
          <a:off x="3404079" y="494081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2C3F0-9C2B-41D9-A225-F811F34FB9B4}">
      <dsp:nvSpPr>
        <dsp:cNvPr id="0" name=""/>
        <dsp:cNvSpPr/>
      </dsp:nvSpPr>
      <dsp:spPr>
        <a:xfrm>
          <a:off x="3262429" y="91597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2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 concept</a:t>
          </a:r>
        </a:p>
      </dsp:txBody>
      <dsp:txXfrm>
        <a:off x="3262429" y="915974"/>
        <a:ext cx="1274788" cy="1117427"/>
      </dsp:txXfrm>
    </dsp:sp>
    <dsp:sp modelId="{60DF90D5-BE6F-4BA2-8CF5-8D7A0BBABCAB}">
      <dsp:nvSpPr>
        <dsp:cNvPr id="0" name=""/>
        <dsp:cNvSpPr/>
      </dsp:nvSpPr>
      <dsp:spPr>
        <a:xfrm>
          <a:off x="4296692" y="39012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2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A2975-DF3D-4A12-BBF4-F5522924A686}">
      <dsp:nvSpPr>
        <dsp:cNvPr id="0" name=""/>
        <dsp:cNvSpPr/>
      </dsp:nvSpPr>
      <dsp:spPr>
        <a:xfrm rot="5400000">
          <a:off x="4964670" y="107912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F272A-E0CF-4937-95E4-84A43864E0EA}">
      <dsp:nvSpPr>
        <dsp:cNvPr id="0" name=""/>
        <dsp:cNvSpPr/>
      </dsp:nvSpPr>
      <dsp:spPr>
        <a:xfrm>
          <a:off x="4823020" y="529804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Mature concept</a:t>
          </a:r>
        </a:p>
      </dsp:txBody>
      <dsp:txXfrm>
        <a:off x="4823020" y="529804"/>
        <a:ext cx="1274788" cy="1117427"/>
      </dsp:txXfrm>
    </dsp:sp>
    <dsp:sp modelId="{949930A9-40EE-42BB-BAB3-B025EC55F570}">
      <dsp:nvSpPr>
        <dsp:cNvPr id="0" name=""/>
        <dsp:cNvSpPr/>
      </dsp:nvSpPr>
      <dsp:spPr>
        <a:xfrm>
          <a:off x="5857282" y="3956"/>
          <a:ext cx="240526" cy="240526"/>
        </a:xfrm>
        <a:prstGeom prst="triangle">
          <a:avLst>
            <a:gd name="adj" fmla="val 100000"/>
          </a:avLst>
        </a:prstGeom>
        <a:solidFill>
          <a:schemeClr val="accent1">
            <a:alpha val="90000"/>
            <a:hueOff val="0"/>
            <a:satOff val="0"/>
            <a:lumOff val="0"/>
            <a:alphaOff val="-35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4ECB1-B1D1-4549-937B-D2A31709609B}">
      <dsp:nvSpPr>
        <dsp:cNvPr id="0" name=""/>
        <dsp:cNvSpPr/>
      </dsp:nvSpPr>
      <dsp:spPr>
        <a:xfrm rot="5400000">
          <a:off x="6525261" y="-278257"/>
          <a:ext cx="848587" cy="141203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3932B-F68E-4624-82D8-9A8BC42CAD6C}">
      <dsp:nvSpPr>
        <dsp:cNvPr id="0" name=""/>
        <dsp:cNvSpPr/>
      </dsp:nvSpPr>
      <dsp:spPr>
        <a:xfrm>
          <a:off x="6383610" y="143635"/>
          <a:ext cx="1274788" cy="111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Decision Gate 4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Sanction project</a:t>
          </a:r>
        </a:p>
      </dsp:txBody>
      <dsp:txXfrm>
        <a:off x="6383610" y="143635"/>
        <a:ext cx="1274788" cy="1117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21627-E0A5-437F-B824-03683EC1DDBC}">
      <dsp:nvSpPr>
        <dsp:cNvPr id="0" name=""/>
        <dsp:cNvSpPr/>
      </dsp:nvSpPr>
      <dsp:spPr>
        <a:xfrm>
          <a:off x="1943695" y="1451116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5969FA5-EACA-4459-A214-09975C0E683D}">
      <dsp:nvSpPr>
        <dsp:cNvPr id="0" name=""/>
        <dsp:cNvSpPr/>
      </dsp:nvSpPr>
      <dsp:spPr>
        <a:xfrm>
          <a:off x="1840031" y="395967"/>
          <a:ext cx="1503124" cy="8700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Full traceability and auditability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Lossless Input/Output Records</a:t>
          </a:r>
          <a:endParaRPr lang="en-US" sz="900" kern="1200"/>
        </a:p>
      </dsp:txBody>
      <dsp:txXfrm>
        <a:off x="1840031" y="395967"/>
        <a:ext cx="1503124" cy="870035"/>
      </dsp:txXfrm>
    </dsp:sp>
    <dsp:sp modelId="{5230B7EB-6009-4328-B511-9A1085C1309D}">
      <dsp:nvSpPr>
        <dsp:cNvPr id="0" name=""/>
        <dsp:cNvSpPr/>
      </dsp:nvSpPr>
      <dsp:spPr>
        <a:xfrm>
          <a:off x="2436616" y="1809127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B549B1A-91A8-46E3-A0F7-38D5FB798429}">
      <dsp:nvSpPr>
        <dsp:cNvPr id="0" name=""/>
        <dsp:cNvSpPr/>
      </dsp:nvSpPr>
      <dsp:spPr>
        <a:xfrm>
          <a:off x="3835559" y="1543673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Improved uncertainty tracking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Ensemble-Based Data Support</a:t>
          </a:r>
          <a:endParaRPr lang="en-US" sz="900" kern="1200"/>
        </a:p>
      </dsp:txBody>
      <dsp:txXfrm>
        <a:off x="3835559" y="1543673"/>
        <a:ext cx="1347628" cy="944080"/>
      </dsp:txXfrm>
    </dsp:sp>
    <dsp:sp modelId="{89495FA8-4A7E-4F07-B447-B5E34E471927}">
      <dsp:nvSpPr>
        <dsp:cNvPr id="0" name=""/>
        <dsp:cNvSpPr/>
      </dsp:nvSpPr>
      <dsp:spPr>
        <a:xfrm>
          <a:off x="2248466" y="2388903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9DAE06-E8F9-40B7-9C77-1CE697006A53}">
      <dsp:nvSpPr>
        <dsp:cNvPr id="0" name=""/>
        <dsp:cNvSpPr/>
      </dsp:nvSpPr>
      <dsp:spPr>
        <a:xfrm>
          <a:off x="3628231" y="3154164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Enable comparisons and analytics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Standardized Data Models</a:t>
          </a:r>
          <a:endParaRPr lang="en-US" sz="900" kern="1200"/>
        </a:p>
      </dsp:txBody>
      <dsp:txXfrm>
        <a:off x="3628231" y="3154164"/>
        <a:ext cx="1347628" cy="944080"/>
      </dsp:txXfrm>
    </dsp:sp>
    <dsp:sp modelId="{64465C1E-B6EC-43F5-B2E5-00C8FF540C5F}">
      <dsp:nvSpPr>
        <dsp:cNvPr id="0" name=""/>
        <dsp:cNvSpPr/>
      </dsp:nvSpPr>
      <dsp:spPr>
        <a:xfrm>
          <a:off x="1638924" y="2388903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1A7C43C-C69C-4A40-8725-5BC916DA036B}">
      <dsp:nvSpPr>
        <dsp:cNvPr id="0" name=""/>
        <dsp:cNvSpPr/>
      </dsp:nvSpPr>
      <dsp:spPr>
        <a:xfrm>
          <a:off x="207327" y="3154164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Supports lifecycle analysis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Searchable Archive</a:t>
          </a:r>
          <a:endParaRPr lang="en-US" sz="900" kern="1200"/>
        </a:p>
      </dsp:txBody>
      <dsp:txXfrm>
        <a:off x="207327" y="3154164"/>
        <a:ext cx="1347628" cy="944080"/>
      </dsp:txXfrm>
    </dsp:sp>
    <dsp:sp modelId="{E46D8D6F-833D-4707-9C87-59AB93B25461}">
      <dsp:nvSpPr>
        <dsp:cNvPr id="0" name=""/>
        <dsp:cNvSpPr/>
      </dsp:nvSpPr>
      <dsp:spPr>
        <a:xfrm>
          <a:off x="1450774" y="1809127"/>
          <a:ext cx="1295797" cy="12957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9144877-6B81-4F36-88E7-1D97B203ABEE}">
      <dsp:nvSpPr>
        <dsp:cNvPr id="0" name=""/>
        <dsp:cNvSpPr/>
      </dsp:nvSpPr>
      <dsp:spPr>
        <a:xfrm>
          <a:off x="0" y="1543673"/>
          <a:ext cx="1347628" cy="9440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accent2"/>
              </a:solidFill>
            </a:rPr>
            <a:t>Enhanced performance and maturation tracking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solidFill>
                <a:srgbClr val="000000"/>
              </a:solidFill>
            </a:rPr>
            <a:t>Lifecycle Feedback Loop</a:t>
          </a:r>
          <a:endParaRPr lang="en-US" sz="900" kern="1200"/>
        </a:p>
      </dsp:txBody>
      <dsp:txXfrm>
        <a:off x="0" y="1543673"/>
        <a:ext cx="1347628" cy="944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A72B7-EC72-4B74-AC64-650375370127}" type="datetimeFigureOut">
              <a:rPr lang="en-US" smtClean="0"/>
              <a:t>2026-03-05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BB14A-E9C6-40BB-9186-9D3B6FE86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30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/>
              <a:t>Backdrop: O&amp;G field development passes set of stages, DG, where the project continuation path is decided on</a:t>
            </a:r>
            <a:br>
              <a:rPr lang="en-MY"/>
            </a:br>
            <a:r>
              <a:rPr lang="en-MY"/>
              <a:t>DG based on a set of data, models, outcomes, predications at a that stage</a:t>
            </a:r>
            <a:br>
              <a:rPr lang="en-MY"/>
            </a:br>
            <a:r>
              <a:rPr lang="en-US"/>
              <a:t>Uncertainty, associated Risks in subsurface directly influences critical business decisions at different stages of an asset’s lifecycle.</a:t>
            </a:r>
          </a:p>
          <a:p>
            <a:r>
              <a:rPr lang="en-US"/>
              <a:t>In order to </a:t>
            </a:r>
            <a:r>
              <a:rPr lang="en-US" err="1"/>
              <a:t>to</a:t>
            </a:r>
            <a:r>
              <a:rPr lang="en-US"/>
              <a:t> improve future decision making and uncertainty and risk attribution, and production attainment, it is desirable to learn from the history.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1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 b="1">
                <a:solidFill>
                  <a:srgbClr val="5A3E85"/>
                </a:solidFill>
                <a:latin typeface="Calibri"/>
              </a:defRPr>
            </a:pPr>
            <a:endParaRPr lang="en-US" sz="2000" b="1">
              <a:solidFill>
                <a:schemeClr val="accent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41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C21D-64E6-A30D-01BF-0891F3F7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EF455-A1C3-1CD7-E1A1-75B19C18A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B69D7-F379-4008-833C-894140E3D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26BE3-4608-AFDD-73A7-D56A6FA81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1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09C4-FA37-36C6-9531-2CCFD901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63E99-81C9-F89D-BD32-4DEE57F7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18F4C-4D51-5DB2-B933-7D3605694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F47FB-5661-D326-11B9-BAF3B9FAB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54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437D-8E2C-F76C-677A-8D230F98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66847-593E-B5D3-3B74-C692BF568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A8ABE-7F3F-EA08-59C7-0188AD57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6724B-4038-4DA3-595D-5CE246A6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36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F42E-F1C3-8B50-076E-6EA579A3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740A9-460A-33AD-2916-289102130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783C0-4229-4CCD-3EFC-C207205C9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3946-2D72-BBB4-7535-C03203DD6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4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401C-8062-041F-2AD2-AA4EFC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230DF-9DAD-6742-F7ED-35DA0D0C9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EF729-A94B-692D-3E8B-42BE37976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D3937-93DD-F8A4-967C-6545BD77C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24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0909-F0E1-C635-5C94-CABA9871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4423D-C047-46C0-B455-449D9795B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ADBD2-BF2D-573A-DB0B-F4D7C27B2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4AAA-C581-4762-8DA3-55A40AF94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45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BB14A-E9C6-40BB-9186-9D3B6FE863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5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55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46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37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older 2">
            <a:extLst>
              <a:ext uri="{FF2B5EF4-FFF2-40B4-BE49-F238E27FC236}">
                <a16:creationId xmlns:a16="http://schemas.microsoft.com/office/drawing/2014/main" id="{BEED69C5-171C-0566-2D6E-286BDFE9209B}"/>
              </a:ext>
            </a:extLst>
          </p:cNvPr>
          <p:cNvSpPr>
            <a:spLocks noGrp="1" noChangeAspect="1"/>
          </p:cNvSpPr>
          <p:nvPr>
            <p:ph type="ctrTitle" hasCustomPrompt="1"/>
          </p:nvPr>
        </p:nvSpPr>
        <p:spPr>
          <a:xfrm>
            <a:off x="497956" y="403194"/>
            <a:ext cx="10672411" cy="5262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cs typeface="Montserrat Black" pitchFamily="2" charset="77"/>
              </a:defRPr>
            </a:lvl1pPr>
          </a:lstStyle>
          <a:p>
            <a:r>
              <a:rPr lang="en-NL"/>
              <a:t> 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B9A3DC3-C7C6-645E-B34C-25A5965CF7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475" y="1831975"/>
            <a:ext cx="10671175" cy="45050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EECDEB6-7393-BA9E-0022-F8D923B095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403225"/>
            <a:ext cx="10671175" cy="527050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E4442BB1-7E3E-A120-7B44-49AEB2058A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956" y="1005859"/>
            <a:ext cx="10671175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3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801219-E0B3-FF56-38E8-21FECBBD8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7" y="1832639"/>
            <a:ext cx="5184000" cy="44937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0C2708-5B69-402B-C1BF-9470F49CD91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60311" y="1832639"/>
            <a:ext cx="5184000" cy="44937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7246F72-F777-B0D5-ED05-EBAA03E353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403225"/>
            <a:ext cx="10671175" cy="527050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26779E5-7FC4-B9F7-547C-06EA5ECD1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956" y="1005859"/>
            <a:ext cx="10671175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35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6B4D360-F78B-3889-2355-4609C2046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281144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NL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FD453D18-0A54-F164-326F-D89E3D1E9B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8343" y="467833"/>
            <a:ext cx="5222662" cy="5975497"/>
          </a:xfrm>
          <a:prstGeom prst="snip2DiagRect">
            <a:avLst>
              <a:gd name="adj1" fmla="val 0"/>
              <a:gd name="adj2" fmla="val 2960"/>
            </a:avLst>
          </a:prstGeom>
          <a:solidFill>
            <a:schemeClr val="bg1"/>
          </a:solidFill>
          <a:effectLst>
            <a:outerShdw blurRad="254000" dist="1651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N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F35A68-975B-C6B4-D019-C7D14095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550" y="2468644"/>
            <a:ext cx="4513222" cy="36752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043C863E-7D3D-2A59-2A33-FDCA2219C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5549" y="1822224"/>
            <a:ext cx="4513223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92F2549-3244-807B-09F3-597745977C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5549" y="714079"/>
            <a:ext cx="4513223" cy="988773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AF94FB47-0B0E-A238-EA77-517F23B97F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58540" y="0"/>
            <a:ext cx="5422604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N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F9BEF2-D647-D811-87CC-AA0C7E1F8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8" y="2498650"/>
            <a:ext cx="4967178" cy="16374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E2FF1111-3549-606A-CC21-59492225E4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2018" y="4359350"/>
            <a:ext cx="9069571" cy="1988288"/>
          </a:xfrm>
          <a:prstGeom prst="snip2DiagRect">
            <a:avLst>
              <a:gd name="adj1" fmla="val 0"/>
              <a:gd name="adj2" fmla="val 6021"/>
            </a:avLst>
          </a:prstGeom>
          <a:solidFill>
            <a:srgbClr val="18303B"/>
          </a:solidFill>
          <a:effectLst>
            <a:outerShdw blurRad="254000" dist="1651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18303B"/>
                </a:solidFill>
              </a:defRPr>
            </a:lvl1pPr>
          </a:lstStyle>
          <a:p>
            <a:pPr lvl="0"/>
            <a:endParaRPr lang="en-N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4CEA1F-FC69-1D35-BE8A-74DAA7D782D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97957" y="4561392"/>
            <a:ext cx="8465289" cy="1562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5D59804-24B3-7C77-3283-6BD93C33C4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957" y="372114"/>
            <a:ext cx="4967178" cy="988773"/>
          </a:xfrm>
        </p:spPr>
        <p:txBody>
          <a:bodyPr>
            <a:noAutofit/>
          </a:bodyPr>
          <a:lstStyle>
            <a:lvl1pPr>
              <a:defRPr sz="3800" b="1" i="0">
                <a:latin typeface="Montserrat Black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TITLE</a:t>
            </a:r>
            <a:endParaRPr lang="en-NL" baseline="0">
              <a:solidFill>
                <a:srgbClr val="18303B"/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E4513EB-0395-33A8-C861-F556F6884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56" y="1607054"/>
            <a:ext cx="4967178" cy="527050"/>
          </a:xfrm>
        </p:spPr>
        <p:txBody>
          <a:bodyPr>
            <a:noAutofit/>
          </a:bodyPr>
          <a:lstStyle>
            <a:lvl1pPr>
              <a:defRPr sz="3000" b="1" i="0">
                <a:solidFill>
                  <a:srgbClr val="A9520E"/>
                </a:solidFill>
                <a:latin typeface="Montserrat" pitchFamily="2" charset="77"/>
              </a:defRPr>
            </a:lvl1pPr>
          </a:lstStyle>
          <a:p>
            <a:r>
              <a:rPr lang="en-GB" baseline="0">
                <a:solidFill>
                  <a:srgbClr val="18303B"/>
                </a:solidFill>
              </a:rPr>
              <a:t>Click to add subtitle</a:t>
            </a:r>
            <a:endParaRPr lang="en-NL" baseline="0">
              <a:solidFill>
                <a:srgbClr val="183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2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70639B6-4150-FF72-10D2-E7D34592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3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0A9660-56F6-6705-FBFB-2E5B71A18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32639"/>
            <a:ext cx="10685721" cy="4660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201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5" r:id="rId5"/>
    <p:sldLayoutId id="2147483666" r:id="rId6"/>
    <p:sldLayoutId id="2147483667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8.png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94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19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56E8D6B-043F-2C83-F6FC-605C683C2257}"/>
              </a:ext>
            </a:extLst>
          </p:cNvPr>
          <p:cNvSpPr txBox="1"/>
          <p:nvPr/>
        </p:nvSpPr>
        <p:spPr>
          <a:xfrm>
            <a:off x="776749" y="3871451"/>
            <a:ext cx="1113994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Managing Subsurface Uncertainty Across the Asset Lifecycle with OSDU RDDMS</a:t>
            </a:r>
            <a:endParaRPr lang="en-US" sz="4400">
              <a:solidFill>
                <a:schemeClr val="bg1"/>
              </a:solidFill>
            </a:endParaRPr>
          </a:p>
          <a:p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EF4A11-55C5-BF37-3743-1A59375F27A6}"/>
              </a:ext>
            </a:extLst>
          </p:cNvPr>
          <p:cNvSpPr txBox="1"/>
          <p:nvPr/>
        </p:nvSpPr>
        <p:spPr>
          <a:xfrm>
            <a:off x="2359742" y="5407742"/>
            <a:ext cx="767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Marcus Apel (Equinor), Camille Msika, Dani Al Saab, Markus Vevle (Emerson) </a:t>
            </a:r>
          </a:p>
        </p:txBody>
      </p:sp>
    </p:spTree>
    <p:extLst>
      <p:ext uri="{BB962C8B-B14F-4D97-AF65-F5344CB8AC3E}">
        <p14:creationId xmlns:p14="http://schemas.microsoft.com/office/powerpoint/2010/main" val="75246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0F00F92-DE68-6DC0-AC6A-30AFDCF5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3" y="3183098"/>
            <a:ext cx="1487852" cy="15161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D7A881-028E-6259-014C-9260A5452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848">
            <a:off x="8459218" y="2097278"/>
            <a:ext cx="2874300" cy="40646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0F57C-7FFB-5343-5A89-D206DC442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62F0C-2922-DD6B-A213-AB006B3B0F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/>
              <a:t>Subsurface Decision Gates 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A124F48B-652D-D630-6497-8EA084F22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375633"/>
              </p:ext>
            </p:extLst>
          </p:nvPr>
        </p:nvGraphicFramePr>
        <p:xfrm>
          <a:off x="287383" y="3781328"/>
          <a:ext cx="7659577" cy="2809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" name="Espace réservé pour une image  7" descr="Une image contenant écriture manuscrite, Post-it, fournitures de bureau, Produit en papier&#10;&#10;Le contenu généré par l’IA peut être incorrect.">
            <a:extLst>
              <a:ext uri="{FF2B5EF4-FFF2-40B4-BE49-F238E27FC236}">
                <a16:creationId xmlns:a16="http://schemas.microsoft.com/office/drawing/2014/main" id="{E36764B3-6DB7-15ED-F021-DE01126A61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r="11390"/>
          <a:stretch>
            <a:fillRect/>
          </a:stretch>
        </p:blipFill>
        <p:spPr>
          <a:xfrm>
            <a:off x="2152576" y="1853578"/>
            <a:ext cx="2908790" cy="1927750"/>
          </a:xfrm>
          <a:prstGeom prst="rect">
            <a:avLst/>
          </a:prstGeom>
          <a:solidFill>
            <a:srgbClr val="E8E8E8"/>
          </a:solidFill>
        </p:spPr>
      </p:pic>
      <p:sp>
        <p:nvSpPr>
          <p:cNvPr id="9" name="Flèche : double flèche horizontale 8">
            <a:extLst>
              <a:ext uri="{FF2B5EF4-FFF2-40B4-BE49-F238E27FC236}">
                <a16:creationId xmlns:a16="http://schemas.microsoft.com/office/drawing/2014/main" id="{420C2B38-B5D5-9F58-71F0-F011B74F0024}"/>
              </a:ext>
            </a:extLst>
          </p:cNvPr>
          <p:cNvSpPr/>
          <p:nvPr/>
        </p:nvSpPr>
        <p:spPr>
          <a:xfrm rot="20872101">
            <a:off x="2043363" y="5130429"/>
            <a:ext cx="6301156" cy="860017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 standardized, complete, searchable archive at DG’s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E126DCC-2D4E-03B2-404A-C81974F706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7956" y="1005859"/>
            <a:ext cx="10671175" cy="52705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past: fragmented Data Management</a:t>
            </a:r>
            <a:endParaRPr lang="en-MY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B9A9C8-CB8B-69B8-C3B6-673B57CCE8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1898" y="2314898"/>
            <a:ext cx="2665184" cy="14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8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E57C-C292-26DF-FAC7-BEC9CA52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E36A-6BC8-9286-E568-F2D143CC1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00952-14C8-65D5-435A-46E5077B25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/>
              <a:t>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452A2-2603-D675-CC32-BFAC8E4056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Current Challenges in Decision Gate Data Management</a:t>
            </a:r>
            <a:endParaRPr lang="en-MY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F8B5DF1-AB8E-5DBE-B1BC-BE9D6258A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866660"/>
              </p:ext>
            </p:extLst>
          </p:nvPr>
        </p:nvGraphicFramePr>
        <p:xfrm>
          <a:off x="605215" y="2585318"/>
          <a:ext cx="9866828" cy="3343109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3164299">
                  <a:extLst>
                    <a:ext uri="{9D8B030D-6E8A-4147-A177-3AD203B41FA5}">
                      <a16:colId xmlns:a16="http://schemas.microsoft.com/office/drawing/2014/main" val="2153895993"/>
                    </a:ext>
                  </a:extLst>
                </a:gridCol>
                <a:gridCol w="3357804">
                  <a:extLst>
                    <a:ext uri="{9D8B030D-6E8A-4147-A177-3AD203B41FA5}">
                      <a16:colId xmlns:a16="http://schemas.microsoft.com/office/drawing/2014/main" val="4083964897"/>
                    </a:ext>
                  </a:extLst>
                </a:gridCol>
                <a:gridCol w="3344725">
                  <a:extLst>
                    <a:ext uri="{9D8B030D-6E8A-4147-A177-3AD203B41FA5}">
                      <a16:colId xmlns:a16="http://schemas.microsoft.com/office/drawing/2014/main" val="2827880708"/>
                    </a:ext>
                  </a:extLst>
                </a:gridCol>
              </a:tblGrid>
              <a:tr h="55641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>
                          <a:solidFill>
                            <a:schemeClr val="bg1"/>
                          </a:solidFill>
                          <a:effectLst/>
                        </a:rPr>
                        <a:t>Challenge </a:t>
                      </a:r>
                      <a:r>
                        <a:rPr lang="en-US" sz="1700" b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>
                          <a:solidFill>
                            <a:schemeClr val="bg1"/>
                          </a:solidFill>
                          <a:effectLst/>
                        </a:rPr>
                        <a:t>Current state</a:t>
                      </a:r>
                      <a:r>
                        <a:rPr lang="en-US" sz="1700" b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700" b="0" cap="none">
                          <a:solidFill>
                            <a:schemeClr val="bg1"/>
                          </a:solidFill>
                          <a:effectLst/>
                        </a:rPr>
                        <a:t>Impact</a:t>
                      </a:r>
                      <a:r>
                        <a:rPr lang="en-US" sz="1700" b="0">
                          <a:solidFill>
                            <a:schemeClr val="bg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9120" marR="89120" marT="44560" marB="445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93788"/>
                  </a:ext>
                </a:extLst>
              </a:tr>
              <a:tr h="71096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Data Storage​</a:t>
                      </a:r>
                      <a:b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Revise the historical decision with added data! </a:t>
                      </a:r>
                    </a:p>
                  </a:txBody>
                  <a:tcPr marL="89120" marR="89120" marT="44560" marB="44560" anchor="ctr"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Single system pre-DG1 but</a:t>
                      </a:r>
                    </a:p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fragmented beyond​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Loss of continuity across DGs​: c</a:t>
                      </a:r>
                      <a:r>
                        <a:rPr lang="en-US" sz="1400" b="0"/>
                        <a:t>annot reproduce decisions if activities not recorded</a:t>
                      </a:r>
                      <a:endParaRPr lang="en-US" sz="1400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2923506634"/>
                  </a:ext>
                </a:extLst>
              </a:tr>
              <a:tr h="80233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Traceability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/>
                        <a:t>What drove a volume drop between gates?</a:t>
                      </a: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No formal linkage of inputs/outputs.​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No </a:t>
                      </a:r>
                      <a:r>
                        <a:rPr lang="en-US" sz="1400" b="0" kern="1200">
                          <a:solidFill>
                            <a:srgbClr val="000000"/>
                          </a:solidFill>
                          <a:effectLst/>
                        </a:rPr>
                        <a:t>coherency in attribute/volumetric changes; Manual comparison error-prone, not auditable​</a:t>
                      </a:r>
                      <a:endParaRPr lang="en-US" sz="1400" b="0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3823283807"/>
                  </a:ext>
                </a:extLst>
              </a:tr>
              <a:tr h="51519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Searchability​</a:t>
                      </a:r>
                      <a:b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Query all evidence used for DG2!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No standardized archive​; poor relationships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Limited ability to query and analyze historical decisions​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4146425329"/>
                  </a:ext>
                </a:extLst>
              </a:tr>
              <a:tr h="7582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Uncertainty and Performance Tracking</a:t>
                      </a:r>
                    </a:p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How can we avoid poor production attainment? 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Partial ensemble-based lifecycle record​;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no consolidated risk evolution record​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120" marR="89120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Limited uncertainty evaluation reduction over time​; prevents performance analysis​</a:t>
                      </a:r>
                    </a:p>
                  </a:txBody>
                  <a:tcPr marL="89120" marR="89120" marT="44560" marB="44560" anchor="ctr"/>
                </a:tc>
                <a:extLst>
                  <a:ext uri="{0D108BD9-81ED-4DB2-BD59-A6C34878D82A}">
                    <a16:rowId xmlns:a16="http://schemas.microsoft.com/office/drawing/2014/main" val="529179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03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7C79-EC03-C52C-C73F-635AF9D07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D64AA-7F84-D5AB-9154-38C7B7CFB3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Strategy  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12AD4-822E-CA7A-6F49-A653DCF795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OSDU as Decision-Gate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5" y="1959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Performance Tracking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Compare volumetric estimates across DG1–</a:t>
            </a:r>
            <a:r>
              <a:rPr lang="en-US" sz="1600" err="1"/>
              <a:t>DGx</a:t>
            </a:r>
            <a:r>
              <a:rPr lang="en-US" sz="1600"/>
              <a:t> and attribute changes to input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5" y="3102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Uncertainty Calibration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Discover data relationships; refine input distributions for improved decisions</a:t>
            </a: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617225" y="4245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Risk Governance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Link risks and mitigations to decisions for audit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5" y="5388996"/>
            <a:ext cx="9413465" cy="100584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55724"/>
                </a:solidFill>
                <a:latin typeface="Calibri"/>
              </a:defRPr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Calibri"/>
              </a:rPr>
              <a:t>Evidence Consolidation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Package subsurface modelling input &amp; output, concepts, and documents under </a:t>
            </a:r>
            <a:r>
              <a:rPr lang="en-US" sz="1600" err="1"/>
              <a:t>BusinessDecision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49548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98C96-D92B-4C6A-4284-C4863225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1EAFED-6231-487A-2643-451D41B39DFB}"/>
              </a:ext>
            </a:extLst>
          </p:cNvPr>
          <p:cNvSpPr/>
          <p:nvPr/>
        </p:nvSpPr>
        <p:spPr>
          <a:xfrm>
            <a:off x="589515" y="1789786"/>
            <a:ext cx="9801392" cy="2191230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System of Record </a:t>
            </a:r>
            <a:endParaRPr lang="en-US" sz="1600">
              <a:solidFill>
                <a:schemeClr val="accent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Prove OSDU can serve as the canonical backbone for decision-gate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Demonstrate relevant data types, schemas, and reference data and entity relationship support.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Reference to complete persisted decision data: OSDU Reservoir DDMS </a:t>
            </a:r>
            <a:r>
              <a:rPr lang="en-US" sz="1600" err="1">
                <a:solidFill>
                  <a:schemeClr val="tx1"/>
                </a:solidFill>
              </a:rPr>
              <a:t>DataSpace</a:t>
            </a:r>
            <a:r>
              <a:rPr lang="en-US" sz="1600">
                <a:solidFill>
                  <a:schemeClr val="tx1"/>
                </a:solidFill>
              </a:rPr>
              <a:t> with </a:t>
            </a:r>
            <a:r>
              <a:rPr lang="en-US" sz="1600" err="1">
                <a:solidFill>
                  <a:schemeClr val="tx1"/>
                </a:solidFill>
              </a:rPr>
              <a:t>geomodel</a:t>
            </a:r>
            <a:r>
              <a:rPr lang="en-US" sz="1600">
                <a:solidFill>
                  <a:schemeClr val="tx1"/>
                </a:solidFill>
              </a:rPr>
              <a:t> and interpretation data and parameters, Catalog with tables, documents,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Enable rich query; use relationships, and granularity across gates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Generate Report from </a:t>
            </a:r>
            <a:r>
              <a:rPr lang="en-US" sz="1600" err="1">
                <a:solidFill>
                  <a:schemeClr val="tx1"/>
                </a:solidFill>
              </a:rPr>
              <a:t>BusinessDecision</a:t>
            </a:r>
            <a:r>
              <a:rPr lang="en-US" sz="1600">
                <a:solidFill>
                  <a:schemeClr val="tx1"/>
                </a:solidFill>
              </a:rPr>
              <a:t> metadata and data such as volumes, profiles, maps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275D4-40AD-0F94-5257-E36BF30164C2}"/>
              </a:ext>
            </a:extLst>
          </p:cNvPr>
          <p:cNvSpPr/>
          <p:nvPr/>
        </p:nvSpPr>
        <p:spPr>
          <a:xfrm>
            <a:off x="589513" y="4106092"/>
            <a:ext cx="9801391" cy="935085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Risk Governance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Link risks and mitigations to decisions and uncertainty parameters, audit ready.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Track risk and uncertainty evolution from DG0 onwards.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0060A-AE29-CCA9-BDBC-10DEDB6511BA}"/>
              </a:ext>
            </a:extLst>
          </p:cNvPr>
          <p:cNvSpPr/>
          <p:nvPr/>
        </p:nvSpPr>
        <p:spPr>
          <a:xfrm>
            <a:off x="589517" y="5166253"/>
            <a:ext cx="9801388" cy="1373092"/>
          </a:xfrm>
          <a:prstGeom prst="rect">
            <a:avLst/>
          </a:prstGeom>
          <a:solidFill>
            <a:srgbClr val="FBEBE8"/>
          </a:solidFill>
          <a:ln w="127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Uncertainty Calibration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Use outputs to discover data relationships, refine input distributions for improved future field development decisions.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Monitor changes across decision gates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Storage of uncertainty distributions/parameters Activity with Business Decisions.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B6AB0-5988-D477-7FD2-30D97F470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E912A-3531-2559-39DD-D96E470425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“</a:t>
            </a:r>
            <a:r>
              <a:rPr lang="en-US" err="1"/>
              <a:t>Drogon</a:t>
            </a:r>
            <a:r>
              <a:rPr lang="en-US"/>
              <a:t>” demo objective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5036A55-2474-75AC-F63D-DD8B141EDB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7956" y="1005859"/>
            <a:ext cx="10671175" cy="527050"/>
          </a:xfrm>
        </p:spPr>
        <p:txBody>
          <a:bodyPr/>
          <a:lstStyle/>
          <a:p>
            <a:pPr marL="0" indent="0">
              <a:buNone/>
            </a:pPr>
            <a:r>
              <a:rPr lang="en-MY"/>
              <a:t>Collaborate </a:t>
            </a:r>
          </a:p>
        </p:txBody>
      </p:sp>
    </p:spTree>
    <p:extLst>
      <p:ext uri="{BB962C8B-B14F-4D97-AF65-F5344CB8AC3E}">
        <p14:creationId xmlns:p14="http://schemas.microsoft.com/office/powerpoint/2010/main" val="1949978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03A3-DF1E-C3DC-D68C-9CA1838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B7D11-566B-02F4-0304-5DC6790B5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D316BC-361E-D282-7C6E-056D56DBB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Demo workflow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A04F11-BE2B-B6A2-A658-674615C7B8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Reservoir Data in Business Decisions … simplified</a:t>
            </a:r>
            <a:br>
              <a:rPr lang="en-US"/>
            </a:b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A2F77-301F-83CA-1A6F-783E1DDD39B5}"/>
              </a:ext>
            </a:extLst>
          </p:cNvPr>
          <p:cNvSpPr/>
          <p:nvPr/>
        </p:nvSpPr>
        <p:spPr>
          <a:xfrm>
            <a:off x="6469506" y="1881051"/>
            <a:ext cx="4814225" cy="4098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OSDU Catalog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5270C3-E389-5915-93E0-4EE86C6C718C}"/>
              </a:ext>
            </a:extLst>
          </p:cNvPr>
          <p:cNvSpPr/>
          <p:nvPr/>
        </p:nvSpPr>
        <p:spPr>
          <a:xfrm>
            <a:off x="194050" y="1881051"/>
            <a:ext cx="6028197" cy="4130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	     			 Reservoir DDMS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F302A-4C9F-E194-2100-1AA3C91B7392}"/>
              </a:ext>
            </a:extLst>
          </p:cNvPr>
          <p:cNvSpPr/>
          <p:nvPr/>
        </p:nvSpPr>
        <p:spPr>
          <a:xfrm>
            <a:off x="413545" y="4795962"/>
            <a:ext cx="2202426" cy="991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Parameters</a:t>
            </a:r>
          </a:p>
          <a:p>
            <a:pPr algn="ctr"/>
            <a:r>
              <a:rPr lang="en-US"/>
              <a:t>Uncertainty Distributions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5E79777-CB93-10F2-30A8-D675B123412A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>
            <a:off x="2899479" y="4196184"/>
            <a:ext cx="413696" cy="403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466C2BE-D69B-15E8-1F4E-30B7B4566A3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2615971" y="4600142"/>
            <a:ext cx="697204" cy="691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ADD90A5-D65B-EB33-522D-C87009CB15A6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5185186" y="4600142"/>
            <a:ext cx="2454252" cy="6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4A3E4A9D-556C-2923-EAAA-78E41435AA46}"/>
              </a:ext>
            </a:extLst>
          </p:cNvPr>
          <p:cNvSpPr>
            <a:spLocks noGrp="1"/>
          </p:cNvSpPr>
          <p:nvPr/>
        </p:nvSpPr>
        <p:spPr>
          <a:xfrm>
            <a:off x="911352" y="2831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277278-0B92-3117-4E2F-0E4F96C741AD}"/>
              </a:ext>
            </a:extLst>
          </p:cNvPr>
          <p:cNvSpPr/>
          <p:nvPr/>
        </p:nvSpPr>
        <p:spPr>
          <a:xfrm>
            <a:off x="7639438" y="4254957"/>
            <a:ext cx="1653083" cy="81471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6500">
                <a:schemeClr val="accent6"/>
              </a:gs>
              <a:gs pos="39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Risks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3C1235-0B43-185A-2318-FC82E648C28E}"/>
              </a:ext>
            </a:extLst>
          </p:cNvPr>
          <p:cNvSpPr/>
          <p:nvPr/>
        </p:nvSpPr>
        <p:spPr>
          <a:xfrm>
            <a:off x="6992752" y="3202393"/>
            <a:ext cx="1293372" cy="81471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Volumes Statistics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EA67575-FECB-4EAD-E28E-6B016B3068E4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 flipV="1">
            <a:off x="2615971" y="5069673"/>
            <a:ext cx="5850009" cy="2219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èche : courbe vers la gauche 23">
            <a:extLst>
              <a:ext uri="{FF2B5EF4-FFF2-40B4-BE49-F238E27FC236}">
                <a16:creationId xmlns:a16="http://schemas.microsoft.com/office/drawing/2014/main" id="{BD1D8077-9A48-E221-0B0D-2E3A6DA0E7A0}"/>
              </a:ext>
            </a:extLst>
          </p:cNvPr>
          <p:cNvSpPr/>
          <p:nvPr/>
        </p:nvSpPr>
        <p:spPr>
          <a:xfrm rot="5400000">
            <a:off x="4791031" y="3531294"/>
            <a:ext cx="728595" cy="550779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D999B6-77EE-2F89-BB19-066229458AAC}"/>
              </a:ext>
            </a:extLst>
          </p:cNvPr>
          <p:cNvSpPr/>
          <p:nvPr/>
        </p:nvSpPr>
        <p:spPr>
          <a:xfrm>
            <a:off x="8676196" y="2340028"/>
            <a:ext cx="2217463" cy="96240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Business</a:t>
            </a:r>
          </a:p>
          <a:p>
            <a:pPr algn="ctr"/>
            <a:r>
              <a:rPr lang="en-US"/>
              <a:t>Decision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6CF94FD-5293-0BC3-B568-EDFD13C2D122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flipH="1">
            <a:off x="8286124" y="2821231"/>
            <a:ext cx="390072" cy="788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F9351A9-A128-4BE4-744F-E4C4E47CDBCA}"/>
              </a:ext>
            </a:extLst>
          </p:cNvPr>
          <p:cNvCxnSpPr>
            <a:cxnSpLocks/>
            <a:stCxn id="25" idx="2"/>
            <a:endCxn id="18" idx="3"/>
          </p:cNvCxnSpPr>
          <p:nvPr/>
        </p:nvCxnSpPr>
        <p:spPr>
          <a:xfrm flipH="1">
            <a:off x="9292521" y="3302434"/>
            <a:ext cx="492407" cy="1359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Who we are – The Open Group OSDU® Forum">
            <a:extLst>
              <a:ext uri="{FF2B5EF4-FFF2-40B4-BE49-F238E27FC236}">
                <a16:creationId xmlns:a16="http://schemas.microsoft.com/office/drawing/2014/main" id="{EF36BD22-2CA9-3A5F-2A56-8AC074A33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739" y="5540944"/>
            <a:ext cx="932173" cy="36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Who we are – The Open Group OSDU® Forum">
            <a:extLst>
              <a:ext uri="{FF2B5EF4-FFF2-40B4-BE49-F238E27FC236}">
                <a16:creationId xmlns:a16="http://schemas.microsoft.com/office/drawing/2014/main" id="{CEBB9EC6-37E6-EFC4-FBAD-DA87C188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856" y="5582036"/>
            <a:ext cx="788956" cy="31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5EDCA-23FE-D2BA-D460-C1E41A796D08}"/>
              </a:ext>
            </a:extLst>
          </p:cNvPr>
          <p:cNvSpPr/>
          <p:nvPr/>
        </p:nvSpPr>
        <p:spPr>
          <a:xfrm>
            <a:off x="697053" y="3949946"/>
            <a:ext cx="2202426" cy="492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Reservoir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968E0-1D4F-D6C0-AC83-02B5468D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19" y="2446402"/>
            <a:ext cx="2081310" cy="10965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861F75-9296-BE48-B0C0-503EE78F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901" y="2050903"/>
            <a:ext cx="2060045" cy="17748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8D5456-E0B0-8C60-AE83-ED9EFF04356A}"/>
              </a:ext>
            </a:extLst>
          </p:cNvPr>
          <p:cNvSpPr/>
          <p:nvPr/>
        </p:nvSpPr>
        <p:spPr>
          <a:xfrm>
            <a:off x="3313175" y="4051944"/>
            <a:ext cx="1872011" cy="10963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Volume  statistics, maps, sim deck, profiles, …</a:t>
            </a:r>
          </a:p>
        </p:txBody>
      </p:sp>
      <p:cxnSp>
        <p:nvCxnSpPr>
          <p:cNvPr id="60" name="Connecteur droit avec flèche 13">
            <a:extLst>
              <a:ext uri="{FF2B5EF4-FFF2-40B4-BE49-F238E27FC236}">
                <a16:creationId xmlns:a16="http://schemas.microsoft.com/office/drawing/2014/main" id="{ABAF8005-F911-1B7A-BB57-B3473F45C52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185186" y="3609751"/>
            <a:ext cx="1807566" cy="990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  <p:bldP spid="24" grpId="0" animBg="1"/>
      <p:bldP spid="25" grpId="0" animBg="1"/>
      <p:bldP spid="20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304C5-818E-FFE2-EC8C-F8DB60C84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CE7C5F-2F5E-EB5A-24D5-0C80E8C6E3D1}"/>
              </a:ext>
            </a:extLst>
          </p:cNvPr>
          <p:cNvGrpSpPr/>
          <p:nvPr/>
        </p:nvGrpSpPr>
        <p:grpSpPr>
          <a:xfrm>
            <a:off x="498475" y="1695269"/>
            <a:ext cx="9502375" cy="4731107"/>
            <a:chOff x="498475" y="1695269"/>
            <a:chExt cx="9112317" cy="4731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6BE3FB-FF3C-30A9-32CC-2F83FEA943DB}"/>
                </a:ext>
              </a:extLst>
            </p:cNvPr>
            <p:cNvSpPr/>
            <p:nvPr/>
          </p:nvSpPr>
          <p:spPr>
            <a:xfrm>
              <a:off x="498475" y="1880315"/>
              <a:ext cx="9112317" cy="1091475"/>
            </a:xfrm>
            <a:custGeom>
              <a:avLst/>
              <a:gdLst>
                <a:gd name="csX0" fmla="*/ 0 w 9112317"/>
                <a:gd name="csY0" fmla="*/ 0 h 779625"/>
                <a:gd name="csX1" fmla="*/ 9112317 w 9112317"/>
                <a:gd name="csY1" fmla="*/ 0 h 779625"/>
                <a:gd name="csX2" fmla="*/ 9112317 w 9112317"/>
                <a:gd name="csY2" fmla="*/ 779625 h 779625"/>
                <a:gd name="csX3" fmla="*/ 0 w 9112317"/>
                <a:gd name="csY3" fmla="*/ 779625 h 779625"/>
                <a:gd name="csX4" fmla="*/ 0 w 9112317"/>
                <a:gd name="csY4" fmla="*/ 0 h 779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779625">
                  <a:moveTo>
                    <a:pt x="0" y="0"/>
                  </a:moveTo>
                  <a:lnTo>
                    <a:pt x="9112317" y="0"/>
                  </a:lnTo>
                  <a:lnTo>
                    <a:pt x="9112317" y="779625"/>
                  </a:lnTo>
                  <a:lnTo>
                    <a:pt x="0" y="779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Reservoir</a:t>
              </a:r>
              <a:r>
                <a:rPr lang="en-US" sz="1200" kern="1200"/>
                <a:t>: reservoir entity of interest.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err="1"/>
                <a:t>ReservoirSegment</a:t>
              </a:r>
              <a:r>
                <a:rPr lang="en-US" sz="1200" kern="1200"/>
                <a:t> — segments under the reservoir (compartments like fault block, zone, fluid region)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err="1"/>
                <a:t>BusinessDecision</a:t>
              </a:r>
              <a:r>
                <a:rPr lang="en-US" sz="1200"/>
                <a:t> – one per gate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Risk</a:t>
              </a:r>
              <a:r>
                <a:rPr lang="en-US" sz="1200" kern="1200"/>
                <a:t> 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ECBB0B-D781-863D-88C1-9579A9143341}"/>
                </a:ext>
              </a:extLst>
            </p:cNvPr>
            <p:cNvSpPr/>
            <p:nvPr/>
          </p:nvSpPr>
          <p:spPr>
            <a:xfrm>
              <a:off x="954090" y="1695269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Master‑data</a:t>
              </a:r>
              <a:r>
                <a:rPr lang="en-US" sz="1200" kern="1200">
                  <a:solidFill>
                    <a:schemeClr val="tx1"/>
                  </a:solidFill>
                </a:rPr>
                <a:t>, unique valid keys for all DG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04F39F-FAF8-5691-1E2D-3D38387FAD21}"/>
                </a:ext>
              </a:extLst>
            </p:cNvPr>
            <p:cNvSpPr/>
            <p:nvPr/>
          </p:nvSpPr>
          <p:spPr>
            <a:xfrm>
              <a:off x="498475" y="3182047"/>
              <a:ext cx="9112317" cy="929115"/>
            </a:xfrm>
            <a:custGeom>
              <a:avLst/>
              <a:gdLst>
                <a:gd name="csX0" fmla="*/ 0 w 9112317"/>
                <a:gd name="csY0" fmla="*/ 0 h 1091475"/>
                <a:gd name="csX1" fmla="*/ 9112317 w 9112317"/>
                <a:gd name="csY1" fmla="*/ 0 h 1091475"/>
                <a:gd name="csX2" fmla="*/ 9112317 w 9112317"/>
                <a:gd name="csY2" fmla="*/ 1091475 h 1091475"/>
                <a:gd name="csX3" fmla="*/ 0 w 9112317"/>
                <a:gd name="csY3" fmla="*/ 1091475 h 1091475"/>
                <a:gd name="csX4" fmla="*/ 0 w 9112317"/>
                <a:gd name="csY4" fmla="*/ 0 h 109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1091475">
                  <a:moveTo>
                    <a:pt x="0" y="0"/>
                  </a:moveTo>
                  <a:lnTo>
                    <a:pt x="9112317" y="0"/>
                  </a:lnTo>
                  <a:lnTo>
                    <a:pt x="9112317" y="1091475"/>
                  </a:lnTo>
                  <a:lnTo>
                    <a:pt x="0" y="109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err="1"/>
                <a:t>UnitsOfMeasure</a:t>
              </a:r>
              <a:endParaRPr lang="en-US" sz="1200" b="1" kern="120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Statistics facets</a:t>
              </a:r>
              <a:r>
                <a:rPr lang="en-US" sz="1200" kern="1200"/>
                <a:t>: P10,P50,P90,ArithmeticMean,Minimum,Maximum,StandardDeviation</a:t>
              </a:r>
              <a:r>
                <a:rPr lang="en-US" sz="1200"/>
                <a:t>, …</a:t>
              </a:r>
              <a:endParaRPr lang="en-US" sz="1200" kern="120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Canonical volume property types</a:t>
              </a:r>
              <a:r>
                <a:rPr lang="en-US" sz="1200" kern="1200"/>
                <a:t>: </a:t>
              </a:r>
              <a:r>
                <a:rPr lang="en-US" sz="1200" kern="1200" err="1"/>
                <a:t>ReservoirEstimatedVolumePropertyType</a:t>
              </a:r>
              <a:r>
                <a:rPr lang="en-US" sz="1200" kern="1200"/>
                <a:t>: </a:t>
              </a:r>
              <a:r>
                <a:rPr lang="en-US" sz="1200" kern="1200" err="1"/>
                <a:t>Bulk,Net,Pore,Oil,AssociatedGas</a:t>
              </a:r>
              <a:r>
                <a:rPr lang="en-US" sz="1200"/>
                <a:t>, …</a:t>
              </a:r>
              <a:endParaRPr lang="en-US" sz="12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9D8CF4F-2F5E-84FE-BBFE-4C1BF19264D4}"/>
                </a:ext>
              </a:extLst>
            </p:cNvPr>
            <p:cNvSpPr/>
            <p:nvPr/>
          </p:nvSpPr>
          <p:spPr>
            <a:xfrm>
              <a:off x="954090" y="3023621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Reference‑data, </a:t>
              </a:r>
              <a:r>
                <a:rPr lang="en-US" sz="1200" kern="1200">
                  <a:solidFill>
                    <a:schemeClr val="tx1"/>
                  </a:solidFill>
                </a:rPr>
                <a:t>examples for canonical types</a:t>
              </a:r>
              <a:r>
                <a:rPr lang="en-US" sz="1200" b="1" kern="1200">
                  <a:solidFill>
                    <a:schemeClr val="tx1"/>
                  </a:solidFill>
                </a:rPr>
                <a:t>:</a:t>
              </a:r>
              <a:endParaRPr lang="en-US" sz="1200" kern="120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A36072-3187-51C2-CC22-106DB86B5CAD}"/>
                </a:ext>
              </a:extLst>
            </p:cNvPr>
            <p:cNvSpPr/>
            <p:nvPr/>
          </p:nvSpPr>
          <p:spPr>
            <a:xfrm>
              <a:off x="498475" y="4335700"/>
              <a:ext cx="9112317" cy="1075668"/>
            </a:xfrm>
            <a:custGeom>
              <a:avLst/>
              <a:gdLst>
                <a:gd name="csX0" fmla="*/ 0 w 9112317"/>
                <a:gd name="csY0" fmla="*/ 0 h 1143450"/>
                <a:gd name="csX1" fmla="*/ 9112317 w 9112317"/>
                <a:gd name="csY1" fmla="*/ 0 h 1143450"/>
                <a:gd name="csX2" fmla="*/ 9112317 w 9112317"/>
                <a:gd name="csY2" fmla="*/ 1143450 h 1143450"/>
                <a:gd name="csX3" fmla="*/ 0 w 9112317"/>
                <a:gd name="csY3" fmla="*/ 1143450 h 1143450"/>
                <a:gd name="csX4" fmla="*/ 0 w 9112317"/>
                <a:gd name="csY4" fmla="*/ 0 h 1143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1143450">
                  <a:moveTo>
                    <a:pt x="0" y="0"/>
                  </a:moveTo>
                  <a:lnTo>
                    <a:pt x="9112317" y="0"/>
                  </a:lnTo>
                  <a:lnTo>
                    <a:pt x="9112317" y="1143450"/>
                  </a:lnTo>
                  <a:lnTo>
                    <a:pt x="0" y="1143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Design Matrix, Time series etc.:</a:t>
              </a:r>
              <a:r>
                <a:rPr lang="en-US" sz="1200" kern="1200"/>
                <a:t>  </a:t>
              </a:r>
              <a:r>
                <a:rPr lang="en-US" sz="1200" kern="1200" err="1"/>
                <a:t>ColumnBasedTable</a:t>
              </a:r>
              <a:r>
                <a:rPr lang="en-US" sz="1200"/>
                <a:t>. </a:t>
              </a:r>
              <a:endParaRPr lang="en-US" sz="1200" kern="120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Spatial data:</a:t>
              </a:r>
              <a:r>
                <a:rPr lang="en-US" sz="1200" kern="1200"/>
                <a:t> grids, properties, as WPCs (e.g., </a:t>
              </a:r>
              <a:r>
                <a:rPr lang="en-US" sz="1200" kern="1200" err="1"/>
                <a:t>GenericRepresentation</a:t>
              </a:r>
              <a:r>
                <a:rPr lang="en-US" sz="1200" kern="1200"/>
                <a:t>: STOIIP 2d grid map), </a:t>
              </a:r>
              <a:r>
                <a:rPr lang="en-US" sz="1200" err="1"/>
                <a:t>G</a:t>
              </a:r>
              <a:r>
                <a:rPr lang="en-US" sz="1200" kern="1200" err="1"/>
                <a:t>eoLabelSet</a:t>
              </a:r>
              <a:endParaRPr lang="en-US" sz="1200" kern="1200"/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Output volumes:</a:t>
              </a:r>
              <a:r>
                <a:rPr lang="en-US" sz="1200" kern="1200"/>
                <a:t> </a:t>
              </a:r>
              <a:r>
                <a:rPr lang="en-US" sz="1200" kern="1200" err="1"/>
                <a:t>ReservoirEstimatedVolumes</a:t>
              </a:r>
              <a:r>
                <a:rPr lang="en-US" sz="1200" kern="1200"/>
                <a:t>, raw per‑realization and aggregated statistics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/>
                <a:t>Activity: </a:t>
              </a:r>
              <a:r>
                <a:rPr lang="en-US" sz="1200" kern="1200"/>
                <a:t>Use Parameters[] with </a:t>
              </a:r>
              <a:r>
                <a:rPr lang="en-US" sz="1200" kern="1200" err="1"/>
                <a:t>ParameterRole</a:t>
              </a:r>
              <a:r>
                <a:rPr lang="en-US" sz="1200" kern="1200"/>
                <a:t> {input, output, context} to record run inputs/outputs and workflow context</a:t>
              </a:r>
              <a:endParaRPr lang="en-US" sz="105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83612F7-91E4-0A24-998D-B0948F27D36A}"/>
                </a:ext>
              </a:extLst>
            </p:cNvPr>
            <p:cNvSpPr/>
            <p:nvPr/>
          </p:nvSpPr>
          <p:spPr>
            <a:xfrm>
              <a:off x="954090" y="4160426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Work Product Components (WPC</a:t>
              </a:r>
              <a:r>
                <a:rPr lang="en-US" sz="1200" kern="1200">
                  <a:solidFill>
                    <a:schemeClr val="tx1"/>
                  </a:solidFill>
                </a:rPr>
                <a:t>), derived objects per DG – linked to Master Data 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D4351E-B16C-B8AA-E39D-42C57EB43F46}"/>
                </a:ext>
              </a:extLst>
            </p:cNvPr>
            <p:cNvSpPr/>
            <p:nvPr/>
          </p:nvSpPr>
          <p:spPr>
            <a:xfrm>
              <a:off x="498475" y="5635906"/>
              <a:ext cx="9112317" cy="790470"/>
            </a:xfrm>
            <a:custGeom>
              <a:avLst/>
              <a:gdLst>
                <a:gd name="csX0" fmla="*/ 0 w 9112317"/>
                <a:gd name="csY0" fmla="*/ 0 h 641024"/>
                <a:gd name="csX1" fmla="*/ 9112317 w 9112317"/>
                <a:gd name="csY1" fmla="*/ 0 h 641024"/>
                <a:gd name="csX2" fmla="*/ 9112317 w 9112317"/>
                <a:gd name="csY2" fmla="*/ 641024 h 641024"/>
                <a:gd name="csX3" fmla="*/ 0 w 9112317"/>
                <a:gd name="csY3" fmla="*/ 641024 h 641024"/>
                <a:gd name="csX4" fmla="*/ 0 w 9112317"/>
                <a:gd name="csY4" fmla="*/ 0 h 641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12317" h="641024">
                  <a:moveTo>
                    <a:pt x="0" y="0"/>
                  </a:moveTo>
                  <a:lnTo>
                    <a:pt x="9112317" y="0"/>
                  </a:lnTo>
                  <a:lnTo>
                    <a:pt x="9112317" y="641024"/>
                  </a:lnTo>
                  <a:lnTo>
                    <a:pt x="0" y="641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BE8">
                <a:alpha val="90000"/>
              </a:srgb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7217" tIns="229108" rIns="707217" bIns="78232" numCol="1" spcCol="1270" anchor="t" anchorCtr="0">
              <a:noAutofit/>
            </a:bodyPr>
            <a:lstStyle/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err="1"/>
                <a:t>WorkProduct</a:t>
              </a:r>
              <a:r>
                <a:rPr lang="en-US" sz="1200" b="1" kern="1200"/>
                <a:t>:</a:t>
              </a:r>
              <a:r>
                <a:rPr lang="en-US" sz="1200" kern="1200"/>
                <a:t> covering versioned package: yearly revisions, PUD, DG … (design/input, Activities, outputs).</a:t>
              </a:r>
            </a:p>
            <a:p>
              <a:pPr marL="0" lvl="1" algn="l" defTabSz="46672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b="1" kern="1200" err="1"/>
                <a:t>CollaborationProjectCollection</a:t>
              </a:r>
              <a:r>
                <a:rPr lang="en-US" sz="1200" b="1" kern="1200"/>
                <a:t>:</a:t>
              </a:r>
              <a:r>
                <a:rPr lang="en-US" sz="1200" kern="1200"/>
                <a:t> curated working set while iterating.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1B488D4-C79D-65E5-25B4-B51744E4CAF0}"/>
                </a:ext>
              </a:extLst>
            </p:cNvPr>
            <p:cNvSpPr/>
            <p:nvPr/>
          </p:nvSpPr>
          <p:spPr>
            <a:xfrm>
              <a:off x="954090" y="5475216"/>
              <a:ext cx="6378621" cy="324720"/>
            </a:xfrm>
            <a:custGeom>
              <a:avLst/>
              <a:gdLst>
                <a:gd name="csX0" fmla="*/ 0 w 6378621"/>
                <a:gd name="csY0" fmla="*/ 54121 h 324720"/>
                <a:gd name="csX1" fmla="*/ 54121 w 6378621"/>
                <a:gd name="csY1" fmla="*/ 0 h 324720"/>
                <a:gd name="csX2" fmla="*/ 6324500 w 6378621"/>
                <a:gd name="csY2" fmla="*/ 0 h 324720"/>
                <a:gd name="csX3" fmla="*/ 6378621 w 6378621"/>
                <a:gd name="csY3" fmla="*/ 54121 h 324720"/>
                <a:gd name="csX4" fmla="*/ 6378621 w 6378621"/>
                <a:gd name="csY4" fmla="*/ 270599 h 324720"/>
                <a:gd name="csX5" fmla="*/ 6324500 w 6378621"/>
                <a:gd name="csY5" fmla="*/ 324720 h 324720"/>
                <a:gd name="csX6" fmla="*/ 54121 w 6378621"/>
                <a:gd name="csY6" fmla="*/ 324720 h 324720"/>
                <a:gd name="csX7" fmla="*/ 0 w 6378621"/>
                <a:gd name="csY7" fmla="*/ 270599 h 324720"/>
                <a:gd name="csX8" fmla="*/ 0 w 6378621"/>
                <a:gd name="csY8" fmla="*/ 54121 h 324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78621" h="324720">
                  <a:moveTo>
                    <a:pt x="0" y="54121"/>
                  </a:moveTo>
                  <a:cubicBezTo>
                    <a:pt x="0" y="24231"/>
                    <a:pt x="24231" y="0"/>
                    <a:pt x="54121" y="0"/>
                  </a:cubicBezTo>
                  <a:lnTo>
                    <a:pt x="6324500" y="0"/>
                  </a:lnTo>
                  <a:cubicBezTo>
                    <a:pt x="6354390" y="0"/>
                    <a:pt x="6378621" y="24231"/>
                    <a:pt x="6378621" y="54121"/>
                  </a:cubicBezTo>
                  <a:lnTo>
                    <a:pt x="6378621" y="270599"/>
                  </a:lnTo>
                  <a:cubicBezTo>
                    <a:pt x="6378621" y="300489"/>
                    <a:pt x="6354390" y="324720"/>
                    <a:pt x="6324500" y="324720"/>
                  </a:cubicBezTo>
                  <a:lnTo>
                    <a:pt x="54121" y="324720"/>
                  </a:lnTo>
                  <a:cubicBezTo>
                    <a:pt x="24231" y="324720"/>
                    <a:pt x="0" y="300489"/>
                    <a:pt x="0" y="270599"/>
                  </a:cubicBezTo>
                  <a:lnTo>
                    <a:pt x="0" y="5412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949" tIns="15852" rIns="256949" bIns="15852" numCol="1" spcCol="1270" anchor="ctr" anchorCtr="0">
              <a:noAutofit/>
            </a:bodyPr>
            <a:lstStyle/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>
                  <a:solidFill>
                    <a:schemeClr val="tx1"/>
                  </a:solidFill>
                </a:rPr>
                <a:t>Collections for DG input/output/scenarios/cases</a:t>
              </a:r>
              <a:endParaRPr lang="en-US" sz="1200" kern="120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B1E55B-A242-6F30-BA50-5FDA00519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blocks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4D79EA-8AF1-9FCF-3810-05C82444E5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Commonly used kinds of records</a:t>
            </a:r>
          </a:p>
        </p:txBody>
      </p:sp>
    </p:spTree>
    <p:extLst>
      <p:ext uri="{BB962C8B-B14F-4D97-AF65-F5344CB8AC3E}">
        <p14:creationId xmlns:p14="http://schemas.microsoft.com/office/powerpoint/2010/main" val="156391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DCFC-DD38-E3C7-3B1B-C75F35C5C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CD701-4B78-7ACD-4EC0-145EC26656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 OSDU provides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C70DE-2A43-39D1-37AE-8C0A77F8D9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/>
              <a:t>Drogon</a:t>
            </a:r>
            <a:r>
              <a:rPr lang="en-US"/>
              <a:t> DG2 canonical schemas (~25 linked records)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96DF50-F303-3D9B-DDD4-C52AA6532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76958"/>
              </p:ext>
            </p:extLst>
          </p:nvPr>
        </p:nvGraphicFramePr>
        <p:xfrm>
          <a:off x="557071" y="1699805"/>
          <a:ext cx="8947146" cy="3749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2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3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Category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OSDU Kind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/>
                        <a:t>Purpose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BusinessDecision:1.0.0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DG2 decision — central 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Reservoir:2.0.0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Drogon (shared with DG1)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ReservoirSegment:2.0.0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7 segments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Risk:1.2.0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6 DG2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ReservoirEstimatedVolumes:1.1.0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Raw </a:t>
                      </a:r>
                      <a:r>
                        <a:rPr sz="1200" err="1"/>
                        <a:t>realisations</a:t>
                      </a:r>
                      <a:r>
                        <a:rPr sz="1200"/>
                        <a:t> + P10/P50/P90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ColumnBasedTable:1.3.0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Input params + production forecast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Activity + ActivityTemplate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Workflow run + template</a:t>
                      </a:r>
                      <a:r>
                        <a:rPr lang="en-US" sz="1200"/>
                        <a:t>, captures methods </a:t>
                      </a:r>
                      <a:r>
                        <a:rPr lang="en-US" sz="1200" err="1"/>
                        <a:t>input&amp;output</a:t>
                      </a: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Document:1.2.0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SRA, CRA, PDO, PTR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GeoLabelSet:1.0.0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Headline volumes per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DevelopmentConcept:1.0.0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Custom LOCAL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837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ETPDataspace:1.0.0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</a:t>
                      </a:r>
                      <a:r>
                        <a:rPr lang="en-US" sz="1200"/>
                        <a:t>eservoir </a:t>
                      </a:r>
                      <a:r>
                        <a:rPr sz="1200"/>
                        <a:t>DDMS </a:t>
                      </a:r>
                      <a:r>
                        <a:rPr lang="en-US" sz="1200" err="1"/>
                        <a:t>DataSpace</a:t>
                      </a:r>
                      <a:r>
                        <a:rPr sz="1200"/>
                        <a:t> pointer</a:t>
                      </a:r>
                      <a:r>
                        <a:rPr lang="en-US" sz="1200"/>
                        <a:t>: here spatial reservoir model is stored </a:t>
                      </a: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6441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latin typeface="Calibri"/>
                        </a:defRPr>
                      </a:pPr>
                      <a:r>
                        <a:rPr sz="1200" err="1"/>
                        <a:t>DecisionLevel</a:t>
                      </a:r>
                      <a:r>
                        <a:rPr sz="1200"/>
                        <a:t> / </a:t>
                      </a:r>
                      <a:r>
                        <a:rPr sz="1200" err="1"/>
                        <a:t>RiskCategory</a:t>
                      </a:r>
                      <a:r>
                        <a:rPr lang="en-US" sz="1200"/>
                        <a:t> /</a:t>
                      </a:r>
                      <a:r>
                        <a:rPr sz="1200"/>
                        <a:t> …</a:t>
                      </a:r>
                      <a:br>
                        <a:rPr lang="en-US" sz="1200"/>
                      </a:br>
                      <a:r>
                        <a:rPr lang="en-US" sz="1200"/>
                        <a:t>UoM, </a:t>
                      </a:r>
                      <a:r>
                        <a:rPr lang="en-US" sz="1200" err="1"/>
                        <a:t>FacetRoles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PropertyTypes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sz="1200"/>
                        <a:t>Reference catalogs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A3B93D-318F-2C84-058C-7A6CBACD7B4A}"/>
              </a:ext>
            </a:extLst>
          </p:cNvPr>
          <p:cNvSpPr txBox="1"/>
          <p:nvPr/>
        </p:nvSpPr>
        <p:spPr>
          <a:xfrm>
            <a:off x="497956" y="5591796"/>
            <a:ext cx="1017719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400" err="1"/>
              <a:t>Masterdata</a:t>
            </a:r>
            <a:r>
              <a:rPr lang="en-US" sz="1400"/>
              <a:t> (Reservoir, Segments) are shared across gates. WPCs (volumes, risks, concepts) are versioned per gate. </a:t>
            </a:r>
            <a:r>
              <a:rPr lang="en-US" sz="1400" err="1"/>
              <a:t>BusinessDecision</a:t>
            </a:r>
            <a:r>
              <a:rPr lang="en-US" sz="1400"/>
              <a:t> links them all.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lang="en-US" sz="1400"/>
              <a:t>Relationships are handled via Parameters[], </a:t>
            </a:r>
            <a:r>
              <a:rPr lang="en-US" sz="1400" err="1"/>
              <a:t>RiskIDs</a:t>
            </a:r>
            <a:r>
              <a:rPr lang="en-US" sz="1400"/>
              <a:t>, </a:t>
            </a:r>
            <a:r>
              <a:rPr lang="en-US" sz="1400" err="1"/>
              <a:t>PriorActivityIDs</a:t>
            </a:r>
            <a:r>
              <a:rPr lang="en-US" sz="1400"/>
              <a:t>, ancestry. OSDU separates data management (searchable metadata in Storage) from the reservoir data (gridded/array data via ETP/RDDMS). </a:t>
            </a:r>
            <a:r>
              <a:rPr lang="en-US" sz="1400" err="1"/>
              <a:t>BusinessDecision</a:t>
            </a:r>
            <a:r>
              <a:rPr lang="en-US" sz="1400"/>
              <a:t> ties both worlds via Parameters[].</a:t>
            </a:r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endParaRPr lang="en-US" sz="1400"/>
          </a:p>
          <a:p>
            <a:pPr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endParaRPr lang="en-US" sz="1400"/>
          </a:p>
        </p:txBody>
      </p:sp>
      <p:pic>
        <p:nvPicPr>
          <p:cNvPr id="8" name="Picture 7" descr="entity_rel.png">
            <a:extLst>
              <a:ext uri="{FF2B5EF4-FFF2-40B4-BE49-F238E27FC236}">
                <a16:creationId xmlns:a16="http://schemas.microsoft.com/office/drawing/2014/main" id="{DEF1467C-BF21-593A-1C43-EF3880B2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25" y="1532909"/>
            <a:ext cx="3351698" cy="204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7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8655-E2BD-E213-2E20-B1037A1D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252EF-F62F-8370-EE41-8240E1B81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47" y="0"/>
            <a:ext cx="901270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8D25AF-8A0B-04CF-F643-78BAB935953F}"/>
              </a:ext>
            </a:extLst>
          </p:cNvPr>
          <p:cNvSpPr txBox="1"/>
          <p:nvPr/>
        </p:nvSpPr>
        <p:spPr>
          <a:xfrm>
            <a:off x="249382" y="1394440"/>
            <a:ext cx="27239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and </a:t>
            </a:r>
            <a:r>
              <a:rPr lang="en-US" err="1"/>
              <a:t>analyse</a:t>
            </a:r>
            <a:r>
              <a:rPr lang="en-US"/>
              <a:t>  </a:t>
            </a:r>
            <a:r>
              <a:rPr lang="en-US" err="1"/>
              <a:t>BusinessDecision</a:t>
            </a:r>
            <a:r>
              <a:rPr lang="en-US"/>
              <a:t> related data in OSDU data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Public </a:t>
            </a:r>
            <a:r>
              <a:rPr lang="en-US" err="1"/>
              <a:t>github</a:t>
            </a:r>
            <a:r>
              <a:rPr lang="en-US"/>
              <a:t> PoC demo incl. pipeline, data and client 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9A2BA-F74A-2E5D-F085-4828CAB0FF75}"/>
              </a:ext>
            </a:extLst>
          </p:cNvPr>
          <p:cNvSpPr txBox="1"/>
          <p:nvPr/>
        </p:nvSpPr>
        <p:spPr>
          <a:xfrm>
            <a:off x="480224" y="64845"/>
            <a:ext cx="9816715" cy="138499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 err="1"/>
              <a:t>Drogon</a:t>
            </a:r>
            <a:r>
              <a:rPr lang="en-US" cap="none"/>
              <a:t> DG2 </a:t>
            </a:r>
            <a:r>
              <a:rPr lang="en-US" cap="none" err="1"/>
              <a:t>BusinessDecision</a:t>
            </a:r>
            <a:r>
              <a:rPr lang="en-US" cap="none"/>
              <a:t> WPC 1</a:t>
            </a:r>
          </a:p>
          <a:p>
            <a:pPr>
              <a:defRPr sz="1600" b="1">
                <a:solidFill>
                  <a:srgbClr val="084298"/>
                </a:solidFill>
                <a:latin typeface="Calibri"/>
              </a:defRPr>
            </a:pPr>
            <a:r>
              <a:rPr lang="en-US" cap="none">
                <a:solidFill>
                  <a:schemeClr val="tx2">
                    <a:lumMod val="90000"/>
                    <a:lumOff val="10000"/>
                  </a:schemeClr>
                </a:solidFill>
              </a:rPr>
              <a:t>			</a:t>
            </a:r>
            <a:r>
              <a:rPr lang="en-US" sz="2400" cap="none">
                <a:solidFill>
                  <a:srgbClr val="00B0F0"/>
                </a:solidFill>
              </a:rPr>
              <a:t>https://github.com/equinor/</a:t>
            </a:r>
            <a:r>
              <a:rPr lang="en-US" sz="2400" b="1" cap="none">
                <a:solidFill>
                  <a:srgbClr val="00B0F0"/>
                </a:solidFill>
              </a:rPr>
              <a:t>eageosdudrogon</a:t>
            </a:r>
            <a:endParaRPr lang="en-US" sz="2400" cap="none">
              <a:solidFill>
                <a:srgbClr val="00B0F0"/>
              </a:solidFill>
            </a:endParaRPr>
          </a:p>
          <a:p>
            <a:endParaRPr lang="en-US" cap="none"/>
          </a:p>
        </p:txBody>
      </p:sp>
    </p:spTree>
    <p:extLst>
      <p:ext uri="{BB962C8B-B14F-4D97-AF65-F5344CB8AC3E}">
        <p14:creationId xmlns:p14="http://schemas.microsoft.com/office/powerpoint/2010/main" val="395309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6818-5D9A-090D-7115-3033ED63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0F2518-EA37-238A-3058-2C232046B543}"/>
              </a:ext>
            </a:extLst>
          </p:cNvPr>
          <p:cNvSpPr txBox="1"/>
          <p:nvPr/>
        </p:nvSpPr>
        <p:spPr>
          <a:xfrm>
            <a:off x="568104" y="205916"/>
            <a:ext cx="286964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</a:t>
            </a:r>
          </a:p>
          <a:p>
            <a:r>
              <a:rPr lang="en-US" sz="1800" cap="none"/>
              <a:t>WPC 2</a:t>
            </a:r>
          </a:p>
          <a:p>
            <a:endParaRPr lang="en-US" sz="1800" cap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B47C6-28BB-60F8-98B5-5EFD61A3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17" y="0"/>
            <a:ext cx="8208906" cy="68679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DC6563-7E99-343A-BB3F-DF468BC5DB7D}"/>
              </a:ext>
            </a:extLst>
          </p:cNvPr>
          <p:cNvSpPr txBox="1"/>
          <p:nvPr/>
        </p:nvSpPr>
        <p:spPr>
          <a:xfrm>
            <a:off x="295564" y="1394440"/>
            <a:ext cx="2795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key metadata and headline numbers are accessible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relying on OSDU well known schema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Except local schema </a:t>
            </a:r>
            <a:r>
              <a:rPr lang="en-US" i="1" err="1"/>
              <a:t>DevelopmentConcept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1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D511-5567-3F2D-D522-E667E6F4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4937A4-B0AC-EAB7-6412-B9CC819085ED}"/>
              </a:ext>
            </a:extLst>
          </p:cNvPr>
          <p:cNvSpPr txBox="1"/>
          <p:nvPr/>
        </p:nvSpPr>
        <p:spPr>
          <a:xfrm>
            <a:off x="542165" y="267555"/>
            <a:ext cx="2227807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3</a:t>
            </a:r>
          </a:p>
          <a:p>
            <a:endParaRPr lang="en-US" sz="1800" cap="non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5B214-78C9-62C0-6B18-F93EF9C13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313" y="1"/>
            <a:ext cx="8682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BF732C-1909-93D0-4585-3CBD39B4FFB7}"/>
              </a:ext>
            </a:extLst>
          </p:cNvPr>
          <p:cNvSpPr txBox="1"/>
          <p:nvPr/>
        </p:nvSpPr>
        <p:spPr>
          <a:xfrm>
            <a:off x="406400" y="1394440"/>
            <a:ext cx="26846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key metadata and headline numbers are accessible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relying on OSDU well known schema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Except local schema </a:t>
            </a:r>
            <a:r>
              <a:rPr lang="en-US" i="1" err="1"/>
              <a:t>DevelopmentConcept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BF73-6349-A034-8E6C-F240BADE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A1CB3B-A1CA-1C4C-4D13-4ECA1ABDB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938" y="36759"/>
            <a:ext cx="8739172" cy="64255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41AF5-8D6D-245A-66B1-53FF71CCD6B2}"/>
              </a:ext>
            </a:extLst>
          </p:cNvPr>
          <p:cNvSpPr txBox="1"/>
          <p:nvPr/>
        </p:nvSpPr>
        <p:spPr>
          <a:xfrm>
            <a:off x="568104" y="297348"/>
            <a:ext cx="2254184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4</a:t>
            </a:r>
          </a:p>
          <a:p>
            <a:endParaRPr lang="en-US" sz="1800" cap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8B377-CA95-CC17-27CE-1A57BAB95D87}"/>
              </a:ext>
            </a:extLst>
          </p:cNvPr>
          <p:cNvSpPr txBox="1"/>
          <p:nvPr/>
        </p:nvSpPr>
        <p:spPr>
          <a:xfrm>
            <a:off x="230908" y="1373052"/>
            <a:ext cx="25913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Link Risk master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Link to the </a:t>
            </a:r>
            <a:r>
              <a:rPr lang="en-US" err="1"/>
              <a:t>DataSpace</a:t>
            </a:r>
            <a:r>
              <a:rPr lang="en-US"/>
              <a:t> in Reservoir DDMS where the </a:t>
            </a:r>
            <a:r>
              <a:rPr lang="en-US" err="1"/>
              <a:t>Geomodel</a:t>
            </a:r>
            <a:r>
              <a:rPr lang="en-US"/>
              <a:t>  input and output is archived, incl. parameters/Activity to be reproducible 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4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BFFA-4213-8D75-F511-ED32DF4A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E4BF6F-1BA2-CFFB-96A8-121B872CCACF}"/>
              </a:ext>
            </a:extLst>
          </p:cNvPr>
          <p:cNvSpPr txBox="1"/>
          <p:nvPr/>
        </p:nvSpPr>
        <p:spPr>
          <a:xfrm>
            <a:off x="568104" y="460985"/>
            <a:ext cx="2904814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</a:t>
            </a:r>
          </a:p>
          <a:p>
            <a:r>
              <a:rPr lang="en-US" sz="1800" cap="none"/>
              <a:t>WPC 5</a:t>
            </a:r>
          </a:p>
          <a:p>
            <a:endParaRPr lang="en-US" sz="1800" cap="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3BB5C-5E2A-DCF5-F1EF-033FADD3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77" y="79322"/>
            <a:ext cx="7859940" cy="6778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E1A0FD-51CA-0DFC-CD38-A5F8DE9C203C}"/>
              </a:ext>
            </a:extLst>
          </p:cNvPr>
          <p:cNvSpPr txBox="1"/>
          <p:nvPr/>
        </p:nvSpPr>
        <p:spPr>
          <a:xfrm>
            <a:off x="568104" y="1394440"/>
            <a:ext cx="25229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BusinessDecision</a:t>
            </a:r>
            <a:r>
              <a:rPr lang="en-US"/>
              <a:t> is a rich repository, with link to all required documents and data</a:t>
            </a:r>
            <a:endParaRPr lang="en-US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9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72AD-8FB7-B144-9A4F-2EF74170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48187D-85CB-6B91-2D7D-FBAF355A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821" y="0"/>
            <a:ext cx="885903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8C4328-15D6-BFD9-E9FC-D85AB9AA2601}"/>
              </a:ext>
            </a:extLst>
          </p:cNvPr>
          <p:cNvSpPr txBox="1"/>
          <p:nvPr/>
        </p:nvSpPr>
        <p:spPr>
          <a:xfrm>
            <a:off x="568146" y="584737"/>
            <a:ext cx="2192639" cy="124649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 err="1"/>
              <a:t>Drogon</a:t>
            </a:r>
            <a:r>
              <a:rPr lang="en-US" sz="1800" cap="none"/>
              <a:t> DG2 </a:t>
            </a:r>
            <a:r>
              <a:rPr lang="en-US" sz="1800" cap="none" err="1"/>
              <a:t>BusinessDecision</a:t>
            </a:r>
            <a:r>
              <a:rPr lang="en-US" sz="1800" cap="none"/>
              <a:t> WPC 6</a:t>
            </a:r>
          </a:p>
          <a:p>
            <a:pPr>
              <a:defRPr sz="1600" b="1">
                <a:solidFill>
                  <a:srgbClr val="084298"/>
                </a:solidFill>
                <a:latin typeface="Calibri"/>
              </a:defRPr>
            </a:pPr>
            <a:endParaRPr lang="en-US" sz="1800" cap="none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sz="1800" cap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58D6C-3EDB-734D-FD3D-98020AD58660}"/>
              </a:ext>
            </a:extLst>
          </p:cNvPr>
          <p:cNvSpPr txBox="1"/>
          <p:nvPr/>
        </p:nvSpPr>
        <p:spPr>
          <a:xfrm>
            <a:off x="307501" y="1831232"/>
            <a:ext cx="25229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Via references, key data like volume statistics and profiles are available in a canonical way 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Let’s use it for query and analysis!</a:t>
            </a:r>
          </a:p>
        </p:txBody>
      </p:sp>
    </p:spTree>
    <p:extLst>
      <p:ext uri="{BB962C8B-B14F-4D97-AF65-F5344CB8AC3E}">
        <p14:creationId xmlns:p14="http://schemas.microsoft.com/office/powerpoint/2010/main" val="180816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D412-B502-D671-5BC4-1768AB10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9FCD6F-3A63-12D0-A9FF-BE425C8B6959}"/>
              </a:ext>
            </a:extLst>
          </p:cNvPr>
          <p:cNvSpPr txBox="1"/>
          <p:nvPr/>
        </p:nvSpPr>
        <p:spPr>
          <a:xfrm>
            <a:off x="480224" y="480342"/>
            <a:ext cx="14762375" cy="10525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/>
              <a:t>Analysis: DG comparison dashboard</a:t>
            </a:r>
          </a:p>
          <a:p>
            <a:endParaRPr lang="en-US" cap="none"/>
          </a:p>
        </p:txBody>
      </p:sp>
      <p:sp>
        <p:nvSpPr>
          <p:cNvPr id="2" name="Rectangle 1"/>
          <p:cNvSpPr/>
          <p:nvPr/>
        </p:nvSpPr>
        <p:spPr>
          <a:xfrm>
            <a:off x="274320" y="1371600"/>
            <a:ext cx="6948516" cy="1143000"/>
          </a:xfrm>
          <a:prstGeom prst="rect">
            <a:avLst/>
          </a:prstGeom>
          <a:solidFill>
            <a:srgbClr val="CFE2FF"/>
          </a:solidFill>
          <a:ln w="12700">
            <a:solidFill>
              <a:srgbClr val="084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4475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298"/>
                </a:solidFill>
                <a:latin typeface="Calibri"/>
              </a:defRPr>
            </a:pPr>
            <a:r>
              <a:rPr sz="1600"/>
              <a:t>Sensitivity Analysis (Tornado)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Vary one input at a time (OWC, porosity, NTG), hold others at P50. Rank by STOIIP delta → tornado chart shows dominant drivers.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6948516" cy="1143000"/>
          </a:xfrm>
          <a:prstGeom prst="rect">
            <a:avLst/>
          </a:prstGeom>
          <a:solidFill>
            <a:srgbClr val="D4EDDA"/>
          </a:solidFill>
          <a:ln w="1270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5724"/>
                </a:solidFill>
                <a:latin typeface="Calibri"/>
              </a:defRPr>
            </a:pPr>
            <a:r>
              <a:rPr sz="1600"/>
              <a:t>Design Matrix Correlation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 err="1"/>
              <a:t>R</a:t>
            </a:r>
            <a:r>
              <a:rPr sz="1600" err="1"/>
              <a:t>ealisations</a:t>
            </a:r>
            <a:r>
              <a:rPr sz="1600"/>
              <a:t> × </a:t>
            </a:r>
            <a:r>
              <a:rPr lang="en-US" sz="1600"/>
              <a:t>I</a:t>
            </a:r>
            <a:r>
              <a:rPr sz="1600"/>
              <a:t>nput variables. Compute </a:t>
            </a:r>
            <a:r>
              <a:rPr lang="en-US" sz="1600"/>
              <a:t>c</a:t>
            </a:r>
            <a:r>
              <a:rPr sz="1600"/>
              <a:t>orrelation between each input column and output STOIIP → identify key levers.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6948516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D3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005072"/>
            <a:ext cx="660109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9E00"/>
                </a:solidFill>
                <a:latin typeface="Calibri"/>
              </a:defRPr>
            </a:pPr>
            <a:r>
              <a:rPr sz="1600"/>
              <a:t>Gate-to-Gate Delta Attribution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Compare DG1 vs DG2 Activity records. Diff input ranges</a:t>
            </a:r>
            <a:r>
              <a:rPr lang="en-US" sz="1600"/>
              <a:t> and exp. design</a:t>
            </a:r>
            <a:r>
              <a:rPr sz="1600"/>
              <a:t> (</a:t>
            </a:r>
            <a:r>
              <a:rPr lang="en-US" sz="1600"/>
              <a:t>properties, scenarios), </a:t>
            </a:r>
            <a:r>
              <a:rPr sz="1600"/>
              <a:t> attribute volume change.</a:t>
            </a:r>
            <a:endParaRPr lang="en-US" sz="1600"/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274320" y="5212080"/>
            <a:ext cx="6948516" cy="1143000"/>
          </a:xfrm>
          <a:prstGeom prst="rect">
            <a:avLst/>
          </a:prstGeom>
          <a:solidFill>
            <a:srgbClr val="E2D9F3"/>
          </a:solidFill>
          <a:ln w="12700">
            <a:solidFill>
              <a:srgbClr val="5A3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285232"/>
            <a:ext cx="66010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A3E85"/>
                </a:solidFill>
                <a:latin typeface="Calibri"/>
              </a:defRPr>
            </a:pPr>
            <a:r>
              <a:rPr sz="1600"/>
              <a:t>What-If / Scenario Comparison</a:t>
            </a:r>
          </a:p>
          <a:p>
            <a:pPr>
              <a:spcBef>
                <a:spcPts val="3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Use </a:t>
            </a:r>
            <a:r>
              <a:rPr sz="1600" err="1"/>
              <a:t>BD.Parameters</a:t>
            </a:r>
            <a:r>
              <a:rPr sz="1600"/>
              <a:t>[] to swap input WPCs. Re-run with alternative porosity model → compare recoverable volumes and economic impact.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0267" y="1371600"/>
            <a:ext cx="4023360" cy="502920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604813" y="1532938"/>
            <a:ext cx="365760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4298"/>
                </a:solidFill>
                <a:latin typeface="Calibri"/>
              </a:defRPr>
            </a:pPr>
            <a:r>
              <a:rPr lang="en-US" sz="1600" err="1"/>
              <a:t>Drogon</a:t>
            </a:r>
            <a:r>
              <a:rPr lang="en-US" sz="1600"/>
              <a:t> </a:t>
            </a:r>
            <a:r>
              <a:rPr sz="1600"/>
              <a:t>D</a:t>
            </a:r>
            <a:r>
              <a:rPr lang="en-US" sz="1600"/>
              <a:t>emo </a:t>
            </a:r>
            <a:r>
              <a:rPr sz="1600"/>
              <a:t>in OSDU</a:t>
            </a:r>
            <a:r>
              <a:rPr lang="en-US" sz="1600"/>
              <a:t>:</a:t>
            </a:r>
            <a:endParaRPr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Reservoir DDMS Dataspace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Activity → </a:t>
            </a:r>
            <a:r>
              <a:rPr lang="en-US" sz="1600"/>
              <a:t>Parameter </a:t>
            </a:r>
            <a:r>
              <a:rPr sz="1600" err="1"/>
              <a:t>DesignMatrix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Activity → Variables</a:t>
            </a:r>
            <a:r>
              <a:rPr lang="en-US" sz="1600"/>
              <a:t>, Methods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 err="1"/>
              <a:t>ColumnBasedTable</a:t>
            </a:r>
            <a:r>
              <a:rPr lang="en-US" sz="1600"/>
              <a:t> → input parameters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REV RAW → </a:t>
            </a:r>
            <a:r>
              <a:rPr lang="en-US" sz="1600"/>
              <a:t>S</a:t>
            </a:r>
            <a:r>
              <a:rPr sz="1600"/>
              <a:t>egment volumes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REV STAT → P10/P50/P90</a:t>
            </a:r>
            <a:r>
              <a:rPr lang="en-US" sz="1600"/>
              <a:t> …</a:t>
            </a:r>
            <a:r>
              <a:rPr sz="1600"/>
              <a:t> per segment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Risk records → S</a:t>
            </a:r>
            <a:r>
              <a:rPr lang="en-US" sz="1600"/>
              <a:t>everity</a:t>
            </a:r>
            <a:r>
              <a:rPr sz="1600"/>
              <a:t>/P</a:t>
            </a:r>
            <a:r>
              <a:rPr lang="en-US" sz="1600"/>
              <a:t>robability</a:t>
            </a:r>
            <a:r>
              <a:rPr sz="1600"/>
              <a:t> before &amp; after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  <a:endParaRPr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All </a:t>
            </a:r>
            <a:r>
              <a:rPr sz="1600" err="1"/>
              <a:t>queryable</a:t>
            </a:r>
            <a:r>
              <a:rPr sz="1600"/>
              <a:t>, all linked via </a:t>
            </a:r>
            <a:r>
              <a:rPr sz="1600" err="1"/>
              <a:t>B</a:t>
            </a:r>
            <a:r>
              <a:rPr lang="en-US" sz="1600" err="1"/>
              <a:t>usinessDecision</a:t>
            </a:r>
            <a:r>
              <a:rPr sz="160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5A3E85"/>
                </a:solidFill>
                <a:latin typeface="Calibri"/>
              </a:defRPr>
            </a:pPr>
            <a:r>
              <a:rPr sz="1600"/>
              <a:t>→ Enough structure for automated sensitivity &amp; AI-generated insight reports.</a:t>
            </a:r>
          </a:p>
        </p:txBody>
      </p:sp>
    </p:spTree>
    <p:extLst>
      <p:ext uri="{BB962C8B-B14F-4D97-AF65-F5344CB8AC3E}">
        <p14:creationId xmlns:p14="http://schemas.microsoft.com/office/powerpoint/2010/main" val="208142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274648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298"/>
                </a:solidFill>
                <a:latin typeface="Calibri"/>
              </a:defRPr>
            </a:pPr>
            <a:r>
              <a:rPr>
                <a:solidFill>
                  <a:schemeClr val="accent2">
                    <a:lumMod val="75000"/>
                  </a:schemeClr>
                </a:solidFill>
              </a:rPr>
              <a:t>Current Capabilities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</a:t>
            </a:r>
            <a:r>
              <a:rPr lang="en-US" sz="1600"/>
              <a:t>Reservoir </a:t>
            </a:r>
            <a:r>
              <a:rPr sz="1600"/>
              <a:t>selection 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lang="en-US" sz="1600"/>
              <a:t>• Discovery of BDs referencing reservoir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Gate-by-gate comparison (DG1 → DG2)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Metric deltas: STOIIP, Recoverable, RF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Economics: NPV, CAPEX, OPEX, IRR, breakeven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</a:t>
            </a:r>
            <a:r>
              <a:rPr sz="1600" err="1"/>
              <a:t>GeoLabelSet</a:t>
            </a:r>
            <a:r>
              <a:rPr sz="1600"/>
              <a:t> enrichment per segment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Risk tracking: severity/probability evolution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sz="1600"/>
              <a:t>• Property delta computation (porosity, NTG …)</a:t>
            </a:r>
            <a:endParaRPr lang="en-US" sz="1600"/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endParaRPr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37827-52F1-138A-24EC-3DBF5E006E92}"/>
              </a:ext>
            </a:extLst>
          </p:cNvPr>
          <p:cNvSpPr txBox="1"/>
          <p:nvPr/>
        </p:nvSpPr>
        <p:spPr>
          <a:xfrm>
            <a:off x="480224" y="480342"/>
            <a:ext cx="14762375" cy="10525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cap="none"/>
              <a:t>Analysis: DG comparison dashboard 1</a:t>
            </a:r>
          </a:p>
          <a:p>
            <a:endParaRPr lang="en-US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6EDB5-BA9B-05FD-2CDF-13FD5DCA2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37" y="1052595"/>
            <a:ext cx="7494771" cy="55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3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D71D-6515-90B7-6057-875124BC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495852-1072-6CDE-BE28-6423711044EA}"/>
              </a:ext>
            </a:extLst>
          </p:cNvPr>
          <p:cNvSpPr txBox="1"/>
          <p:nvPr/>
        </p:nvSpPr>
        <p:spPr>
          <a:xfrm>
            <a:off x="480224" y="508043"/>
            <a:ext cx="1476237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/>
              <a:t>Analysis: </a:t>
            </a:r>
          </a:p>
          <a:p>
            <a:r>
              <a:rPr lang="en-US" sz="1800" cap="none"/>
              <a:t>DG comparison</a:t>
            </a:r>
          </a:p>
          <a:p>
            <a:r>
              <a:rPr lang="en-US" sz="1800" cap="none"/>
              <a:t>dashboard 2</a:t>
            </a:r>
          </a:p>
          <a:p>
            <a:endParaRPr lang="en-US" sz="1800" cap="non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86AA0-F8C2-FC68-8D25-CD2E56376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90" y="80682"/>
            <a:ext cx="9034612" cy="66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6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1720-8715-1AF7-6D52-6086D78D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D1A079-8A29-2F5E-6950-4E47752D9698}"/>
              </a:ext>
            </a:extLst>
          </p:cNvPr>
          <p:cNvSpPr txBox="1"/>
          <p:nvPr/>
        </p:nvSpPr>
        <p:spPr>
          <a:xfrm>
            <a:off x="480224" y="508043"/>
            <a:ext cx="14762375" cy="9971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800" b="0" i="0" cap="all" baseline="0">
                <a:solidFill>
                  <a:srgbClr val="18303B"/>
                </a:solidFill>
                <a:latin typeface="Montserrat Black" pitchFamily="2" charset="77"/>
                <a:ea typeface="+mj-ea"/>
                <a:cs typeface="Montserrat Black" pitchFamily="2" charset="77"/>
              </a:defRPr>
            </a:lvl1pPr>
          </a:lstStyle>
          <a:p>
            <a:r>
              <a:rPr lang="en-US" sz="1800" cap="none"/>
              <a:t>Analysis: </a:t>
            </a:r>
          </a:p>
          <a:p>
            <a:r>
              <a:rPr lang="en-US" sz="1800" cap="none"/>
              <a:t>DG comparison </a:t>
            </a:r>
          </a:p>
          <a:p>
            <a:r>
              <a:rPr lang="en-US" sz="1800" cap="none"/>
              <a:t>dashboard 3</a:t>
            </a:r>
          </a:p>
          <a:p>
            <a:endParaRPr lang="en-US" sz="1800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9B2A3E-EF0F-10A9-3CAE-D66723A1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88" y="0"/>
            <a:ext cx="8454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5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469F-4897-4F7E-5055-3FBE3DD1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BCFB58F8-4ACA-096D-F1FE-54E2B6A35DD6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806767751"/>
              </p:ext>
            </p:extLst>
          </p:nvPr>
        </p:nvGraphicFramePr>
        <p:xfrm>
          <a:off x="5861050" y="1831975"/>
          <a:ext cx="5183188" cy="4494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603BE13-AAAD-E936-A357-8B4C2A6F21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OSDU enabled </a:t>
            </a:r>
            <a:r>
              <a:rPr lang="en-US" err="1"/>
              <a:t>traceablity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5548EED-8BDC-235B-0841-FF5016003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Reservoir DDMS supports Business Decisions 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42B617E5-6183-B697-6F55-E2E1D8DC8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957" y="1831975"/>
            <a:ext cx="5184000" cy="44943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OSDU RDDMS </a:t>
            </a:r>
            <a:r>
              <a:rPr lang="en-US" sz="2000"/>
              <a:t>transforms fragmented, non-auditable workflows into a </a:t>
            </a:r>
            <a:r>
              <a:rPr lang="en-US" sz="2000" b="1">
                <a:solidFill>
                  <a:schemeClr val="accent2"/>
                </a:solidFill>
              </a:rPr>
              <a:t>transparent</a:t>
            </a:r>
            <a:r>
              <a:rPr lang="en-US" sz="2000"/>
              <a:t>, </a:t>
            </a:r>
            <a:r>
              <a:rPr lang="en-US" sz="2000" b="1">
                <a:solidFill>
                  <a:schemeClr val="accent2"/>
                </a:solidFill>
              </a:rPr>
              <a:t>traceable</a:t>
            </a:r>
            <a:r>
              <a:rPr lang="en-US" sz="2000"/>
              <a:t> </a:t>
            </a:r>
            <a:r>
              <a:rPr lang="en-US" sz="2000" b="1"/>
              <a:t>decision pipeline </a:t>
            </a:r>
            <a:r>
              <a:rPr lang="en-US" sz="2000"/>
              <a:t>supporting continuous performance improvement.</a:t>
            </a:r>
          </a:p>
          <a:p>
            <a:r>
              <a:rPr lang="en-US" sz="2000"/>
              <a:t>Compare volumetric estimates across DG</a:t>
            </a:r>
          </a:p>
          <a:p>
            <a:r>
              <a:rPr lang="en-US" sz="2000"/>
              <a:t>Attribute changes to underlying inputs</a:t>
            </a:r>
          </a:p>
          <a:p>
            <a:r>
              <a:rPr lang="en-US" sz="2000"/>
              <a:t>Track uncertainty reduction and decision quality</a:t>
            </a:r>
          </a:p>
          <a:p>
            <a:r>
              <a:rPr lang="en-US" sz="2000"/>
              <a:t>Enable repeatable, data‑driven governance</a:t>
            </a:r>
          </a:p>
          <a:p>
            <a:r>
              <a:rPr lang="en-US" sz="2000"/>
              <a:t>Maintain a long-term, searchable archive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0130C36-F3BD-BB04-724F-B13592C943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364" t="38533" r="37703" b="31867"/>
          <a:stretch>
            <a:fillRect/>
          </a:stretch>
        </p:blipFill>
        <p:spPr>
          <a:xfrm>
            <a:off x="7825125" y="3962708"/>
            <a:ext cx="1255037" cy="80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8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ED3E3B9-8424-B06F-4BC9-6AE034540D82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/>
              <a:t>Thank You</a:t>
            </a:r>
          </a:p>
        </p:txBody>
      </p:sp>
      <p:pic>
        <p:nvPicPr>
          <p:cNvPr id="9" name="Espace réservé pour une image  8" descr="Une image contenant écriture manuscrite, Post-it, fournitures de bureau, Produit en papier&#10;&#10;Le contenu généré par l’IA peut être incorrect.">
            <a:extLst>
              <a:ext uri="{FF2B5EF4-FFF2-40B4-BE49-F238E27FC236}">
                <a16:creationId xmlns:a16="http://schemas.microsoft.com/office/drawing/2014/main" id="{68CE39CF-0196-5287-C732-62FC758B4DD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0" r="27760"/>
          <a:stretch>
            <a:fillRect/>
          </a:stretch>
        </p:blipFill>
        <p:spPr>
          <a:prstGeom prst="rect">
            <a:avLst/>
          </a:prstGeom>
          <a:solidFill>
            <a:srgbClr val="E8E8E8"/>
          </a:solidFill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38EAA-1E27-E9AF-05DD-B55505009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want to thank Equinor and Emerson-AspenTech for allowing us to present this work</a:t>
            </a:r>
          </a:p>
        </p:txBody>
      </p:sp>
      <p:pic>
        <p:nvPicPr>
          <p:cNvPr id="10" name="Graphic 42">
            <a:extLst>
              <a:ext uri="{FF2B5EF4-FFF2-40B4-BE49-F238E27FC236}">
                <a16:creationId xmlns:a16="http://schemas.microsoft.com/office/drawing/2014/main" id="{68FDA11F-4941-378C-7489-BB03D6CA6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361" y="922912"/>
            <a:ext cx="1260000" cy="1033732"/>
          </a:xfrm>
          <a:prstGeom prst="rect">
            <a:avLst/>
          </a:prstGeom>
        </p:spPr>
      </p:pic>
      <p:pic>
        <p:nvPicPr>
          <p:cNvPr id="4098" name="x_x_Picture 742153228">
            <a:extLst>
              <a:ext uri="{FF2B5EF4-FFF2-40B4-BE49-F238E27FC236}">
                <a16:creationId xmlns:a16="http://schemas.microsoft.com/office/drawing/2014/main" id="{C0E7AB36-B917-02E1-33C5-5370A98BF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501" y="1330032"/>
            <a:ext cx="3351037" cy="73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2" descr="Automated Well Operations Planning Boosts Time Savings">
            <a:extLst>
              <a:ext uri="{FF2B5EF4-FFF2-40B4-BE49-F238E27FC236}">
                <a16:creationId xmlns:a16="http://schemas.microsoft.com/office/drawing/2014/main" id="{94040ADC-3BD5-A186-98EC-F180C1C69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8D08F-4177-2F62-E7CC-47EDC5342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837" y="3943926"/>
            <a:ext cx="2055091" cy="205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0446"/>
      </p:ext>
    </p:extLst>
  </p:cSld>
  <p:clrMapOvr>
    <a:masterClrMapping/>
  </p:clrMapOvr>
</p:sld>
</file>

<file path=ppt/theme/theme1.xml><?xml version="1.0" encoding="utf-8"?>
<a:theme xmlns:a="http://schemas.openxmlformats.org/drawingml/2006/main" name="DIGI26 Tit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3aa4a235-b6e2-48d5-9195-7fcf05b459b0}" enabled="0" method="" siteId="{3aa4a235-b6e2-48d5-9195-7fcf05b459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1522</Words>
  <Application>Microsoft Office PowerPoint</Application>
  <PresentationFormat>Widescreen</PresentationFormat>
  <Paragraphs>225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Montserrat</vt:lpstr>
      <vt:lpstr>Montserrat Black</vt:lpstr>
      <vt:lpstr>DIGI26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Zamir Ahmad Zamani</dc:creator>
  <cp:lastModifiedBy>Marcus Apel</cp:lastModifiedBy>
  <cp:revision>2</cp:revision>
  <dcterms:created xsi:type="dcterms:W3CDTF">2025-12-03T07:26:36Z</dcterms:created>
  <dcterms:modified xsi:type="dcterms:W3CDTF">2026-03-05T10:49:24Z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2026-02-25T08:30:35Z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14cbb464-0c15-4092-9782-0cd36735ed9f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