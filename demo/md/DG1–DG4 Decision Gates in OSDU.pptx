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75" r:id="rId2"/>
  </p:sldMasterIdLst>
  <p:notesMasterIdLst>
    <p:notesMasterId r:id="rId21"/>
  </p:notesMasterIdLst>
  <p:handoutMasterIdLst>
    <p:handoutMasterId r:id="rId22"/>
  </p:handoutMasterIdLst>
  <p:sldIdLst>
    <p:sldId id="256" r:id="rId3"/>
    <p:sldId id="2563" r:id="rId4"/>
    <p:sldId id="2582" r:id="rId5"/>
    <p:sldId id="2571" r:id="rId6"/>
    <p:sldId id="2569" r:id="rId7"/>
    <p:sldId id="2589" r:id="rId8"/>
    <p:sldId id="2583" r:id="rId9"/>
    <p:sldId id="2590" r:id="rId10"/>
    <p:sldId id="2591" r:id="rId11"/>
    <p:sldId id="2588" r:id="rId12"/>
    <p:sldId id="2592" r:id="rId13"/>
    <p:sldId id="2586" r:id="rId14"/>
    <p:sldId id="2575" r:id="rId15"/>
    <p:sldId id="2584" r:id="rId16"/>
    <p:sldId id="2585" r:id="rId17"/>
    <p:sldId id="2581" r:id="rId18"/>
    <p:sldId id="2593" r:id="rId19"/>
    <p:sldId id="275" r:id="rId20"/>
  </p:sldIdLst>
  <p:sldSz cx="12192000" cy="6858000"/>
  <p:notesSz cx="6858000" cy="9144000"/>
  <p:embeddedFontLst>
    <p:embeddedFont>
      <p:font typeface="Biome" panose="020B0503030204020804" pitchFamily="34" charset="0"/>
      <p:regular r:id="rId23"/>
      <p:italic r:id="rId24"/>
    </p:embeddedFont>
    <p:embeddedFont>
      <p:font typeface="Equinor" panose="020B0604020202020204" charset="0"/>
      <p:regular r:id="rId25"/>
      <p:bold r:id="rId26"/>
      <p:italic r:id="rId27"/>
      <p:boldItalic r:id="rId28"/>
    </p:embeddedFont>
    <p:embeddedFont>
      <p:font typeface="Equinor Light" panose="020B0604020202020204" charset="0"/>
      <p:regular r:id="rId29"/>
      <p:italic r:id="rId30"/>
    </p:embeddedFont>
    <p:embeddedFont>
      <p:font typeface="Equinor Medium" panose="020B0604020202020204" charset="0"/>
      <p:regular r:id="rId31"/>
      <p: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E4CE"/>
    <a:srgbClr val="86A7AC"/>
    <a:srgbClr val="E9947C"/>
    <a:srgbClr val="DF6D61"/>
    <a:srgbClr val="FEE0C8"/>
    <a:srgbClr val="85B8A5"/>
    <a:srgbClr val="ABD6BB"/>
    <a:srgbClr val="FFF6B9"/>
    <a:srgbClr val="F9D1AF"/>
    <a:srgbClr val="F5C3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52741B-69F0-41C8-883D-961748C122D8}" v="14" dt="2026-01-30T08:59:31.541"/>
    <p1510:client id="{868BA090-22D9-496F-B1BE-E08C3DCACAA6}" v="39" dt="2026-01-29T14:31:02.8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0" autoAdjust="0"/>
    <p:restoredTop sz="96306"/>
  </p:normalViewPr>
  <p:slideViewPr>
    <p:cSldViewPr showGuides="1">
      <p:cViewPr varScale="1">
        <p:scale>
          <a:sx n="89" d="100"/>
          <a:sy n="89" d="100"/>
        </p:scale>
        <p:origin x="168" y="77"/>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howGuides="1">
      <p:cViewPr varScale="1">
        <p:scale>
          <a:sx n="89" d="100"/>
          <a:sy n="89" d="100"/>
        </p:scale>
        <p:origin x="4114" y="91"/>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notesMaster" Target="notesMasters/notesMaster1.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Apel" userId="b97121e4-2d6d-4965-bf00-4795c65497f8" providerId="ADAL" clId="{BBF178B5-DEC9-4FB1-A491-2B4957C5AC30}"/>
    <pc:docChg chg="custSel addSld modSld">
      <pc:chgData name="Marcus Apel" userId="b97121e4-2d6d-4965-bf00-4795c65497f8" providerId="ADAL" clId="{BBF178B5-DEC9-4FB1-A491-2B4957C5AC30}" dt="2026-01-30T09:01:25.084" v="477" actId="20577"/>
      <pc:docMkLst>
        <pc:docMk/>
      </pc:docMkLst>
      <pc:sldChg chg="modSp new mod">
        <pc:chgData name="Marcus Apel" userId="b97121e4-2d6d-4965-bf00-4795c65497f8" providerId="ADAL" clId="{BBF178B5-DEC9-4FB1-A491-2B4957C5AC30}" dt="2026-01-30T09:01:25.084" v="477" actId="20577"/>
        <pc:sldMkLst>
          <pc:docMk/>
          <pc:sldMk cId="2528535966" sldId="2593"/>
        </pc:sldMkLst>
        <pc:spChg chg="mod">
          <ac:chgData name="Marcus Apel" userId="b97121e4-2d6d-4965-bf00-4795c65497f8" providerId="ADAL" clId="{BBF178B5-DEC9-4FB1-A491-2B4957C5AC30}" dt="2026-01-30T08:53:35.468" v="12" actId="20577"/>
          <ac:spMkLst>
            <pc:docMk/>
            <pc:sldMk cId="2528535966" sldId="2593"/>
            <ac:spMk id="2" creationId="{FC033068-6074-6D00-17E3-4778ABF4ED31}"/>
          </ac:spMkLst>
        </pc:spChg>
        <pc:spChg chg="mod">
          <ac:chgData name="Marcus Apel" userId="b97121e4-2d6d-4965-bf00-4795c65497f8" providerId="ADAL" clId="{BBF178B5-DEC9-4FB1-A491-2B4957C5AC30}" dt="2026-01-30T09:01:25.084" v="477" actId="20577"/>
          <ac:spMkLst>
            <pc:docMk/>
            <pc:sldMk cId="2528535966" sldId="2593"/>
            <ac:spMk id="3" creationId="{7B619639-751B-B076-7C3C-A6A12A3E16F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EC84AE-7282-4695-8716-C7A09A106E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A54720E-115C-42D4-A6F4-FA2F6CC0A0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EA88EB-8FDD-45EC-96FC-94A1AF99DAFF}" type="datetimeFigureOut">
              <a:rPr lang="en-GB" smtClean="0"/>
              <a:t>30/01/2026</a:t>
            </a:fld>
            <a:endParaRPr lang="en-GB"/>
          </a:p>
        </p:txBody>
      </p:sp>
      <p:sp>
        <p:nvSpPr>
          <p:cNvPr id="4" name="Footer Placeholder 3">
            <a:extLst>
              <a:ext uri="{FF2B5EF4-FFF2-40B4-BE49-F238E27FC236}">
                <a16:creationId xmlns:a16="http://schemas.microsoft.com/office/drawing/2014/main" id="{4CECD3B8-7ADF-49DE-84B0-42BA73A8C7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A57CE3-8B90-4654-A56B-20F3524C0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76F21D-FBDA-415F-AD90-9EF411C40755}" type="slidenum">
              <a:rPr lang="en-GB" smtClean="0"/>
              <a:t>‹#›</a:t>
            </a:fld>
            <a:endParaRPr lang="en-GB"/>
          </a:p>
        </p:txBody>
      </p:sp>
    </p:spTree>
    <p:extLst>
      <p:ext uri="{BB962C8B-B14F-4D97-AF65-F5344CB8AC3E}">
        <p14:creationId xmlns:p14="http://schemas.microsoft.com/office/powerpoint/2010/main" val="3242756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5AAD9-D119-47C5-9471-94F136996FDC}" type="datetimeFigureOut">
              <a:rPr lang="en-GB" smtClean="0"/>
              <a:t>30/01/2026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46255-B0A8-41CF-A15B-EB86725FC229}" type="slidenum">
              <a:rPr lang="en-GB" smtClean="0"/>
              <a:t>‹#›</a:t>
            </a:fld>
            <a:endParaRPr lang="en-GB"/>
          </a:p>
        </p:txBody>
      </p:sp>
    </p:spTree>
    <p:extLst>
      <p:ext uri="{BB962C8B-B14F-4D97-AF65-F5344CB8AC3E}">
        <p14:creationId xmlns:p14="http://schemas.microsoft.com/office/powerpoint/2010/main" val="90029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Decision gates DG1 through DG4 represent critical milestones in subsurface project workflows, where concept selection, sanction, and start-up decisions are made based on complex technical and economic evidence. Historically, these decisions relied on siloed files and spreadsheets, making it difficult to track changes, justify decisions, and audit risk mitigation. OSDU provides a canonical data model that enables traceability by linking inputs, outputs, and governance artifacts through standardized objects. The business value includes improved performance tracking across gates, enabling teams to compare P10, P50, and P90 volumetric estimates and understand why they changed. It also supports an uncertainty improvement loop, where outputs from prior gates inform calibration of input distributions for future scenarios. Risk governance becomes auditable because risks, mitigations, and residual acceptance are linked directly to decision records. This transparency reduces compliance risk and accelerates assurance processes. By using </a:t>
            </a:r>
            <a:r>
              <a:rPr lang="en-US" dirty="0" err="1"/>
              <a:t>BusinessDecision</a:t>
            </a:r>
            <a:r>
              <a:rPr lang="en-US" dirty="0"/>
              <a:t> as the decision spine, organizations can consolidate evidence packages, including </a:t>
            </a:r>
            <a:r>
              <a:rPr lang="en-US" dirty="0" err="1"/>
              <a:t>ReservoirEstimatedVolumes</a:t>
            </a:r>
            <a:r>
              <a:rPr lang="en-US" dirty="0"/>
              <a:t> (REV) for authoritative volumes, </a:t>
            </a:r>
            <a:r>
              <a:rPr lang="en-US" dirty="0" err="1"/>
              <a:t>ColumnBasedTable</a:t>
            </a:r>
            <a:r>
              <a:rPr lang="en-US" dirty="0"/>
              <a:t> for design matrices, and Document WPCs for SRA/CRA reports. </a:t>
            </a:r>
            <a:r>
              <a:rPr lang="en-US" dirty="0" err="1"/>
              <a:t>GeoLabelSet</a:t>
            </a:r>
            <a:r>
              <a:rPr lang="en-US" dirty="0"/>
              <a:t> complements this by publishing headline metrics for dashboards. Together, these components create a robust ecosystem where decisions are not just recorded but contextualized with provenance, enabling analytics that improve decision quality and reduce uncertainty over time.</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2360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Managing input uncertainty in OSDU involves persisting FMU design matrices and static bundles in structured formats. The design matrix should be stored as a ColumnBasedTable with key columns such as CaseID, Realisation, and optional Seed, alongside parameter vectors representing uncertainty drivers like NTG shifts or permeability multipliers. Static bundles, including grids and property models, are captured as work-product components and grouped into WorkProduct packages for decision gates or CollaborationProjectCollections for iterative development. Provenance is maintained through activity semantics: join keys like realisation-index are stored in Keys[] arrays within Parameters[], ensuring that each input row can be linked to its corresponding output realization in ReservoirEstimatedVolumes raw datasets. This approach enables sensitivity analysis, calibration of input distributions, and transparent decision-making. By referencing these artefacts in BusinessDecision records, organizations can demonstrate how uncertainty was managed and how evidence supported gate approvals.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640846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BusinessDecision is the canonical master-data object that represents a decision gate in OSDU. Each DG1–DG4 milestone should have one BusinessDecision record capturing governance metadata and provenance. Typed fields include DecisionLevelID, ApprovalStatusID, DecisionDate, and DecisionSummary, enabling simple filtering and reporting. Governance linkage is achieved through RiskIDs and RiskAssessmentDocument, while PriorActivityIDs anchor the primary evidence artefact, typically an aggregated ReservoirEstimatedVolumes dataset. Provenance is detailed in Parameters[], which enumerates all inputs, outputs, and contextual references using ParameterRoleID and ParameterKindID. This structure supports lossless traceability, allowing queries to reconstruct the evidence package and join design matrix rows to volumetric outputs. By adopting this pattern, organizations can standardize decision documentation, reduce ambiguity, and enable analytics that compare decisions across gates. BusinessDecision thus becomes the backbone of decision governance, connecting technical artefacts, risk registers, and assurance documents in a single, queryable object.</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02938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75FA-69F4-C000-F65A-176E764BA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FE22F-01AD-40CD-EBDA-BEE5532EE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5D948-A5F2-AF2F-00F0-AAA3FFF2A081}"/>
              </a:ext>
            </a:extLst>
          </p:cNvPr>
          <p:cNvSpPr>
            <a:spLocks noGrp="1"/>
          </p:cNvSpPr>
          <p:nvPr>
            <p:ph type="body" idx="1"/>
          </p:nvPr>
        </p:nvSpPr>
        <p:spPr/>
        <p:txBody>
          <a:bodyPr/>
          <a:lstStyle/>
          <a:p>
            <a:r>
              <a:rPr lang="en-US"/>
              <a:t>
BusinessDecision is the canonical master-data object that represents a decision gate in OSDU. Each DG1–DG4 milestone should have one BusinessDecision record capturing governance metadata and provenance. Typed fields include DecisionLevelID, ApprovalStatusID, DecisionDate, and DecisionSummary, enabling simple filtering and reporting. Governance linkage is achieved through RiskIDs and RiskAssessmentDocument, while PriorActivityIDs anchor the primary evidence artefact, typically an aggregated ReservoirEstimatedVolumes dataset. Provenance is detailed in Parameters[], which enumerates all inputs, outputs, and contextual references using ParameterRoleID and ParameterKindID. This structure supports lossless traceability, allowing queries to reconstruct the evidence package and join design matrix rows to volumetric outputs. By adopting this pattern, organizations can standardize decision documentation, reduce ambiguity, and enable analytics that compare decisions across gates. BusinessDecision thus becomes the backbone of decision governance, connecting technical artefacts, risk registers, and assurance documents in a single, queryable object.</a:t>
            </a:r>
          </a:p>
        </p:txBody>
      </p:sp>
      <p:sp>
        <p:nvSpPr>
          <p:cNvPr id="4" name="Slide Number Placeholder 3">
            <a:extLst>
              <a:ext uri="{FF2B5EF4-FFF2-40B4-BE49-F238E27FC236}">
                <a16:creationId xmlns:a16="http://schemas.microsoft.com/office/drawing/2014/main" id="{3D83C72E-8B51-8AE8-718F-8932CB6D8745}"/>
              </a:ext>
            </a:extLst>
          </p:cNvPr>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464640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611C5-1EDD-08B8-A149-F119B2D66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BC08E-FE14-FF03-9D01-D5D044B13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AA3C81-88E6-19C7-B254-719E4547D24C}"/>
              </a:ext>
            </a:extLst>
          </p:cNvPr>
          <p:cNvSpPr>
            <a:spLocks noGrp="1"/>
          </p:cNvSpPr>
          <p:nvPr>
            <p:ph type="body" idx="1"/>
          </p:nvPr>
        </p:nvSpPr>
        <p:spPr/>
        <p:txBody>
          <a:bodyPr/>
          <a:lstStyle/>
          <a:p>
            <a:r>
              <a:rPr lang="en-US"/>
              <a:t>
The OSDU data ecosystem for decision gates relies on a layered architecture of master-data, reference-data, and work-product components (WPCs). Master-data anchors include Reservoir and ReservoirSegment, which provide stable identifiers for volumetric calculations and segment-level analytics. Reference-data catalogs define controlled vocabularies for units of measure, statistical facets (P10, P50, P90), property types (Bulk, Net, Oil, Gas), and governance concepts like DecisionLevel and ApprovalStatus. Activity semantics are supported by ParameterRole and ParameterKind catalogs, ensuring consistent interpretation of provenance roles. Work-product components capture domain-specific artefacts: ColumnBasedTable stores design matrices and risk registers; ReservoirEstimatedVolumes persists raw and aggregated volumetric outputs; Document WPCs hold SRA/CRA reports and assurance evidence; GeoLabelSet publishes headline metrics for dashboards. Collections such as WorkProduct and CollaborationProjectCollection organize artefacts into coherent packages for gate decisions or iterative scenario development. This modular approach enables flexible ingestion, robust lineage tracking, and efficient query patterns across decision gates.</a:t>
            </a:r>
          </a:p>
        </p:txBody>
      </p:sp>
      <p:sp>
        <p:nvSpPr>
          <p:cNvPr id="4" name="Slide Number Placeholder 3">
            <a:extLst>
              <a:ext uri="{FF2B5EF4-FFF2-40B4-BE49-F238E27FC236}">
                <a16:creationId xmlns:a16="http://schemas.microsoft.com/office/drawing/2014/main" id="{30193655-152C-0CF5-7669-505B95199947}"/>
              </a:ext>
            </a:extLst>
          </p:cNvPr>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053930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Risk management in OSDU combines canonical Risk master-data with Equinor-specific extensions. Each risk record uses kind `osdu:wks:master-data--Risk:1.2.0` and includes core fields such as Name, Summary, Description, and TypeID. Equinor-specific attributes, including category, severity, probability scales, and RAC references, are stored under data.ext.equinor. Mitigation actions are linked via Document WPC IDs, ensuring that evidence remains external and versioned. Decision gates reference risks through BusinessDecision.RiskIDs and RiskAssessmentDocument, creating a clear governance chain. Reference-data catalogs for RiskCategory, RiskSeverityScale, RiskProbabilityScale, and RiskAcceptanceCriteria ensure semantic consistency and enable powerful queries, such as filtering decisions by residual risk thresholds. This structured approach supports assurance workflows, compliance audits, and continuous improvement of risk mitigation strategies.</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1769930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OSDU’s structured relationships enable powerful query patterns for decision analytics. To find decisions by gate, filter BusinessDecision records using DecisionLevelID and ApprovalStatusID. Retrieve the evidence package by following PriorActivityIDs and Parameters[].DataObjectParameter to linked artefacts such as REV stats, design matrices, and documents. Compare volumetric changes across gates by aggregating Oil.P50 and Net.P50 values from referenced REV stats. For dashboards, query GeoLabelSet by LabelledEntityID and scenario facets to display headline metrics. Risk analytics can be performed by joining BusinessDecision.RiskIDs to Risk records and filtering by residual severity or probability. These patterns support assurance workflows, performance benchmarking, and uncertainty calibration, delivering actionable insights from structured decision data.</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1787493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4" y="728664"/>
            <a:ext cx="5400000" cy="3600336"/>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1264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729113"/>
            <a:ext cx="5400000" cy="3600000"/>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3" name="Graphic 2">
            <a:extLst>
              <a:ext uri="{FF2B5EF4-FFF2-40B4-BE49-F238E27FC236}">
                <a16:creationId xmlns:a16="http://schemas.microsoft.com/office/drawing/2014/main" id="{CEF1D22E-DF9C-3DB5-9CFE-D4EE4F864F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68800882-A49F-60C4-D136-0B02D7652C32}"/>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8725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green">
    <p:bg>
      <p:bgPr>
        <a:solidFill>
          <a:srgbClr val="E6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728663"/>
            <a:ext cx="5400000" cy="3600000"/>
          </a:xfrm>
          <a:noFill/>
        </p:spPr>
        <p:txBody>
          <a:bodyPr tIns="0" bIns="72000" anchor="b"/>
          <a:lstStyle>
            <a:lvl1pPr algn="l">
              <a:lnSpc>
                <a:spcPct val="100000"/>
              </a:lnSpc>
              <a:defRPr sz="3200">
                <a:solidFill>
                  <a:schemeClr val="accent6"/>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3" name="Graphic 2">
            <a:extLst>
              <a:ext uri="{FF2B5EF4-FFF2-40B4-BE49-F238E27FC236}">
                <a16:creationId xmlns:a16="http://schemas.microsoft.com/office/drawing/2014/main" id="{BA93B5CC-8C08-1E4B-63AD-5C860A1E85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EE7378FB-79CF-3042-0118-AEAD0351F240}"/>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265976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wood">
    <p:bg>
      <p:bgPr>
        <a:solidFill>
          <a:srgbClr val="FFE7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4" y="728663"/>
            <a:ext cx="5400675" cy="3600449"/>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3" name="Graphic 2">
            <a:extLst>
              <a:ext uri="{FF2B5EF4-FFF2-40B4-BE49-F238E27FC236}">
                <a16:creationId xmlns:a16="http://schemas.microsoft.com/office/drawing/2014/main" id="{E63DA37F-D970-E504-1086-E36740A4D6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608FD354-7C77-241B-953E-7923224284A6}"/>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2585820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slate">
    <p:bg>
      <p:bgPr>
        <a:solidFill>
          <a:srgbClr val="2437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729113"/>
            <a:ext cx="5400000" cy="3600000"/>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508499"/>
            <a:ext cx="5400000" cy="1260475"/>
          </a:xfrm>
        </p:spPr>
        <p:txBody>
          <a:bodyPr/>
          <a:lstStyle>
            <a:lvl1pPr marL="0" indent="0" algn="l">
              <a:spcBef>
                <a:spcPts val="0"/>
              </a:spcBef>
              <a:spcAft>
                <a:spcPts val="0"/>
              </a:spcAft>
              <a:buNone/>
              <a:defRPr sz="16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3" name="Graphic 2">
            <a:extLst>
              <a:ext uri="{FF2B5EF4-FFF2-40B4-BE49-F238E27FC236}">
                <a16:creationId xmlns:a16="http://schemas.microsoft.com/office/drawing/2014/main" id="{0936FAB5-0D5A-3D46-9B10-F8BE90DF95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224664B0-9A7D-2F4D-C9A2-4558354F83BD}"/>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3733977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6000" y="729113"/>
            <a:ext cx="5400000" cy="3600000"/>
          </a:xfrm>
        </p:spPr>
        <p:txBody>
          <a:bodyPr tIns="0" bIns="72000" anchor="b"/>
          <a:lstStyle>
            <a:lvl1pPr algn="l">
              <a:lnSpc>
                <a:spcPct val="100000"/>
              </a:lnSpc>
              <a:defRPr sz="3200">
                <a:solidFill>
                  <a:schemeClr val="bg1"/>
                </a:solidFill>
                <a:latin typeface="+mn-lt"/>
              </a:defRPr>
            </a:lvl1pPr>
          </a:lstStyle>
          <a:p>
            <a:r>
              <a:rPr lang="en-US" noProof="0"/>
              <a:t>Click to edit Master title style</a:t>
            </a:r>
            <a:endParaRPr lang="en-GB" noProof="0" dirty="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508500"/>
            <a:ext cx="5400000" cy="1260474"/>
          </a:xfrm>
        </p:spPr>
        <p:txBody>
          <a:bodyPr/>
          <a:lstStyle>
            <a:lvl1pPr marL="0" indent="0" algn="l">
              <a:spcBef>
                <a:spcPts val="0"/>
              </a:spcBef>
              <a:spcAft>
                <a:spcPts val="0"/>
              </a:spcAft>
              <a:buNone/>
              <a:defRPr sz="16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3" name="Graphic 2">
            <a:extLst>
              <a:ext uri="{FF2B5EF4-FFF2-40B4-BE49-F238E27FC236}">
                <a16:creationId xmlns:a16="http://schemas.microsoft.com/office/drawing/2014/main" id="{8D72F4D2-1C3C-FE69-CC00-6F5B9CE417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199A4CB3-EDF5-714F-3CC4-83635FB6C30E}"/>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381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4" y="729113"/>
            <a:ext cx="5400000" cy="3600000"/>
          </a:xfrm>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dirty="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508500"/>
            <a:ext cx="5400000" cy="1260474"/>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3" name="Graphic 2">
            <a:extLst>
              <a:ext uri="{FF2B5EF4-FFF2-40B4-BE49-F238E27FC236}">
                <a16:creationId xmlns:a16="http://schemas.microsoft.com/office/drawing/2014/main" id="{9F7B2CEE-BFE9-44FE-1C23-1EF612C621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954935E4-A2DA-8EF5-C257-8479807BA01E}"/>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2556241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lide-whit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C1F93C-087F-9303-15F2-563943419A4B}"/>
              </a:ext>
            </a:extLst>
          </p:cNvPr>
          <p:cNvSpPr/>
          <p:nvPr userDrawn="1"/>
        </p:nvSpPr>
        <p:spPr>
          <a:xfrm>
            <a:off x="3576000" y="0"/>
            <a:ext cx="8616000" cy="4689475"/>
          </a:xfrm>
          <a:prstGeom prst="rect">
            <a:avLst/>
          </a:prstGeom>
          <a:solidFill>
            <a:srgbClr val="86A7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5016499" y="1809750"/>
            <a:ext cx="4679501" cy="2519250"/>
          </a:xfrm>
          <a:noFill/>
        </p:spPr>
        <p:txBody>
          <a:bodyPr tIns="0" bIns="72000" anchor="b"/>
          <a:lstStyle>
            <a:lvl1pPr algn="l">
              <a:lnSpc>
                <a:spcPct val="100000"/>
              </a:lnSpc>
              <a:defRPr sz="3200">
                <a:solidFill>
                  <a:schemeClr val="bg2"/>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5016500" y="4868864"/>
            <a:ext cx="4679500" cy="1296034"/>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696000" y="728663"/>
            <a:ext cx="3780750" cy="5436235"/>
          </a:xfrm>
          <a:solidFill>
            <a:schemeClr val="bg1">
              <a:lumMod val="85000"/>
            </a:schemeClr>
          </a:solidFill>
        </p:spPr>
        <p:txBody>
          <a:bodyPr/>
          <a:lstStyle/>
          <a:p>
            <a:r>
              <a:rPr lang="en-US"/>
              <a:t>Click icon to add picture</a:t>
            </a:r>
            <a:endParaRPr lang="en-GB"/>
          </a:p>
        </p:txBody>
      </p:sp>
    </p:spTree>
    <p:extLst>
      <p:ext uri="{BB962C8B-B14F-4D97-AF65-F5344CB8AC3E}">
        <p14:creationId xmlns:p14="http://schemas.microsoft.com/office/powerpoint/2010/main" val="734097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5376000" y="1982788"/>
            <a:ext cx="4320000" cy="2519250"/>
          </a:xfrm>
          <a:noFill/>
        </p:spPr>
        <p:txBody>
          <a:bodyPr tIns="0" bIns="72000" anchor="b"/>
          <a:lstStyle>
            <a:lvl1pPr algn="l">
              <a:lnSpc>
                <a:spcPct val="100000"/>
              </a:lnSpc>
              <a:defRPr sz="3200">
                <a:solidFill>
                  <a:schemeClr val="accent1"/>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5375500" y="4868863"/>
            <a:ext cx="4320500" cy="1296034"/>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0" y="0"/>
            <a:ext cx="4476750" cy="6858000"/>
          </a:xfrm>
          <a:solidFill>
            <a:schemeClr val="bg1">
              <a:lumMod val="85000"/>
            </a:schemeClr>
          </a:solidFill>
        </p:spPr>
        <p:txBody>
          <a:bodyPr/>
          <a:lstStyle/>
          <a:p>
            <a:r>
              <a:rPr lang="en-US"/>
              <a:t>Click icon to add picture</a:t>
            </a:r>
            <a:endParaRPr lang="en-GB"/>
          </a:p>
        </p:txBody>
      </p:sp>
    </p:spTree>
    <p:extLst>
      <p:ext uri="{BB962C8B-B14F-4D97-AF65-F5344CB8AC3E}">
        <p14:creationId xmlns:p14="http://schemas.microsoft.com/office/powerpoint/2010/main" val="2154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1056000" y="4508501"/>
            <a:ext cx="8640000" cy="539750"/>
          </a:xfrm>
          <a:noFill/>
        </p:spPr>
        <p:txBody>
          <a:bodyPr tIns="0" bIns="72000" anchor="t"/>
          <a:lstStyle>
            <a:lvl1pPr algn="l">
              <a:lnSpc>
                <a:spcPct val="100000"/>
              </a:lnSpc>
              <a:defRPr sz="3200">
                <a:solidFill>
                  <a:schemeClr val="accent1"/>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1054774" y="5229225"/>
            <a:ext cx="8639999" cy="719138"/>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0" y="0"/>
            <a:ext cx="12192000" cy="4149000"/>
          </a:xfrm>
          <a:solidFill>
            <a:schemeClr val="bg1">
              <a:lumMod val="85000"/>
            </a:schemeClr>
          </a:solidFill>
        </p:spPr>
        <p:txBody>
          <a:bodyPr/>
          <a:lstStyle/>
          <a:p>
            <a:r>
              <a:rPr lang="en-US"/>
              <a:t>Click icon to add picture</a:t>
            </a:r>
            <a:endParaRPr lang="en-GB"/>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spTree>
    <p:extLst>
      <p:ext uri="{BB962C8B-B14F-4D97-AF65-F5344CB8AC3E}">
        <p14:creationId xmlns:p14="http://schemas.microsoft.com/office/powerpoint/2010/main" val="56208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4_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1089025"/>
            <a:ext cx="3781113" cy="1266424"/>
          </a:xfrm>
          <a:noFill/>
        </p:spPr>
        <p:txBody>
          <a:bodyPr tIns="0" bIns="72000" anchor="t"/>
          <a:lstStyle>
            <a:lvl1pPr algn="l">
              <a:lnSpc>
                <a:spcPct val="100000"/>
              </a:lnSpc>
              <a:defRPr sz="3200">
                <a:solidFill>
                  <a:schemeClr val="accent1"/>
                </a:solidFill>
                <a:latin typeface="+mn-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099" y="2355449"/>
            <a:ext cx="8639999" cy="719138"/>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694099" y="3249612"/>
            <a:ext cx="10801902" cy="3608387"/>
          </a:xfrm>
          <a:solidFill>
            <a:schemeClr val="bg1">
              <a:lumMod val="85000"/>
            </a:schemeClr>
          </a:solidFill>
        </p:spPr>
        <p:txBody>
          <a:bodyPr/>
          <a:lstStyle/>
          <a:p>
            <a:r>
              <a:rPr lang="en-US"/>
              <a:t>Click icon to add picture</a:t>
            </a:r>
            <a:endParaRPr lang="en-GB"/>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spTree>
    <p:extLst>
      <p:ext uri="{BB962C8B-B14F-4D97-AF65-F5344CB8AC3E}">
        <p14:creationId xmlns:p14="http://schemas.microsoft.com/office/powerpoint/2010/main" val="780939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4" y="909638"/>
            <a:ext cx="10802026" cy="539359"/>
          </a:xfrm>
        </p:spPr>
        <p:txBody>
          <a:bodyPr anchor="t"/>
          <a:lstStyle>
            <a:lvl1pPr>
              <a:defRPr>
                <a:solidFill>
                  <a:srgbClr val="243746"/>
                </a:solidFill>
              </a:defRPr>
            </a:lvl1pPr>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a:xfrm>
            <a:off x="698359" y="1809000"/>
            <a:ext cx="10800000" cy="4320338"/>
          </a:xfrm>
        </p:spPr>
        <p:txBody>
          <a:bodyPr/>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9" name="Slide Number Placeholder 19">
            <a:extLst>
              <a:ext uri="{FF2B5EF4-FFF2-40B4-BE49-F238E27FC236}">
                <a16:creationId xmlns:a16="http://schemas.microsoft.com/office/drawing/2014/main" id="{50A219CA-56C7-4FC0-AF3C-443253982630}"/>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nchor="t"/>
          <a:lstStyle/>
          <a:p>
            <a:fld id="{5D1E5300-FC0F-4317-A193-EF6CE9E6F7B5}" type="slidenum">
              <a:rPr lang="en-GB" smtClean="0"/>
              <a:pPr/>
              <a:t>‹#›</a:t>
            </a:fld>
            <a:r>
              <a:rPr lang="en-GB" dirty="0"/>
              <a:t>  |  </a:t>
            </a:r>
            <a:endParaRPr lang="en-GB" noProof="0" dirty="0"/>
          </a:p>
        </p:txBody>
      </p:sp>
      <p:cxnSp>
        <p:nvCxnSpPr>
          <p:cNvPr id="4" name="Footer line">
            <a:extLst>
              <a:ext uri="{FF2B5EF4-FFF2-40B4-BE49-F238E27FC236}">
                <a16:creationId xmlns:a16="http://schemas.microsoft.com/office/drawing/2014/main" id="{75FC345E-DEFA-21C8-C25F-335A754DDC2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965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a:xfrm>
            <a:off x="695323" y="910026"/>
            <a:ext cx="10800000" cy="539362"/>
          </a:xfrm>
        </p:spPr>
        <p:txBody>
          <a:bodyPr tIns="72000" anchor="t"/>
          <a:lstStyle>
            <a:lvl1pPr>
              <a:defRPr>
                <a:solidFill>
                  <a:srgbClr val="243746"/>
                </a:solidFill>
              </a:defRPr>
            </a:lvl1pPr>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6" y="1809750"/>
            <a:ext cx="5040000" cy="4320000"/>
          </a:xfrm>
        </p:spPr>
        <p:txBody>
          <a:bodyPr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6454800" y="1809750"/>
            <a:ext cx="5040000" cy="4320000"/>
          </a:xfrm>
        </p:spPr>
        <p:txBody>
          <a:bodyPr l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9" name="Slide Number Placeholder 19">
            <a:extLst>
              <a:ext uri="{FF2B5EF4-FFF2-40B4-BE49-F238E27FC236}">
                <a16:creationId xmlns:a16="http://schemas.microsoft.com/office/drawing/2014/main" id="{58A78EE1-E17C-46F7-8814-5155A1C7169D}"/>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a:extLst>
              <a:ext uri="{FF2B5EF4-FFF2-40B4-BE49-F238E27FC236}">
                <a16:creationId xmlns:a16="http://schemas.microsoft.com/office/drawing/2014/main" id="{B88EF2B1-5D15-AC57-C3A7-7CE4A3E13ED2}"/>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542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5" y="1809000"/>
            <a:ext cx="3240000" cy="4320000"/>
          </a:xfrm>
        </p:spPr>
        <p:txBody>
          <a:bodyPr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8254800" y="1809000"/>
            <a:ext cx="3240000" cy="4320000"/>
          </a:xfrm>
        </p:spPr>
        <p:txBody>
          <a:bodyPr lIns="0"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hasCustomPrompt="1"/>
          </p:nvPr>
        </p:nvSpPr>
        <p:spPr>
          <a:xfrm>
            <a:off x="4476000" y="1809000"/>
            <a:ext cx="3240000" cy="4320000"/>
          </a:xfrm>
        </p:spPr>
        <p:txBody>
          <a:bodyPr lIns="0"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Slide Number Placeholder 19">
            <a:extLst>
              <a:ext uri="{FF2B5EF4-FFF2-40B4-BE49-F238E27FC236}">
                <a16:creationId xmlns:a16="http://schemas.microsoft.com/office/drawing/2014/main" id="{3EAACCE9-428D-4665-9135-ACC3F08D070F}"/>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a:extLst>
              <a:ext uri="{FF2B5EF4-FFF2-40B4-BE49-F238E27FC236}">
                <a16:creationId xmlns:a16="http://schemas.microsoft.com/office/drawing/2014/main" id="{7A018867-D415-47C1-72C3-ECD430F9B5FA}"/>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410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tIns="72000"/>
          <a:lstStyle>
            <a:lvl1pPr>
              <a:defRPr>
                <a:solidFill>
                  <a:srgbClr val="243746"/>
                </a:solidFill>
              </a:defRPr>
            </a:lvl1pPr>
          </a:lstStyle>
          <a:p>
            <a:r>
              <a:rPr lang="en-US" noProof="0"/>
              <a:t>Click to edit Master title style</a:t>
            </a:r>
            <a:endParaRPr lang="en-GB" noProof="0" dirty="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4" y="2349724"/>
            <a:ext cx="3240000" cy="3780000"/>
          </a:xfrm>
        </p:spPr>
        <p:txBody>
          <a:bodyPr lIns="0" tIns="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4476000" y="2349725"/>
            <a:ext cx="3240000" cy="3780000"/>
          </a:xfrm>
        </p:spPr>
        <p:txBody>
          <a:bodyPr lIns="0" tIns="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8254800" y="2349725"/>
            <a:ext cx="3240000" cy="3780000"/>
          </a:xfrm>
        </p:spPr>
        <p:txBody>
          <a:bodyPr lIns="0" tIns="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1628775"/>
            <a:ext cx="3240000" cy="540000"/>
          </a:xfrm>
        </p:spPr>
        <p:txBody>
          <a:bodyPr lIns="0" tIns="0" rIns="0" anchor="ctr"/>
          <a:lstStyle>
            <a:lvl1pPr marL="0" indent="0">
              <a:buNone/>
              <a:defRPr sz="16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4476000" y="1628775"/>
            <a:ext cx="3240000" cy="540000"/>
          </a:xfrm>
        </p:spPr>
        <p:txBody>
          <a:bodyPr lIns="0" tIns="0" rIns="0" anchor="ctr"/>
          <a:lstStyle>
            <a:lvl1pPr marL="0" indent="0">
              <a:buNone/>
              <a:defRPr sz="16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8254800" y="1628775"/>
            <a:ext cx="3240000" cy="540000"/>
          </a:xfrm>
        </p:spPr>
        <p:txBody>
          <a:bodyPr lIns="0" tIns="0" rIns="0" anchor="ctr"/>
          <a:lstStyle>
            <a:lvl1pPr marL="0" indent="0">
              <a:buNone/>
              <a:defRPr sz="16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cxnSp>
        <p:nvCxnSpPr>
          <p:cNvPr id="4" name="Footer line">
            <a:extLst>
              <a:ext uri="{FF2B5EF4-FFF2-40B4-BE49-F238E27FC236}">
                <a16:creationId xmlns:a16="http://schemas.microsoft.com/office/drawing/2014/main" id="{973D9FA1-A940-457E-C9C4-51118A88793F}"/>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686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tIns="72000"/>
          <a:lstStyle>
            <a:lvl1pPr>
              <a:defRPr>
                <a:solidFill>
                  <a:srgbClr val="243746"/>
                </a:solidFill>
              </a:defRPr>
            </a:lvl1pPr>
          </a:lstStyle>
          <a:p>
            <a:r>
              <a:rPr lang="en-US" noProof="0"/>
              <a:t>Click to edit Master title style</a:t>
            </a:r>
            <a:endParaRPr lang="en-GB" noProof="0" dirty="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5" y="2349000"/>
            <a:ext cx="2340000" cy="3780001"/>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3393814" y="2349000"/>
            <a:ext cx="2520000" cy="3779998"/>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9154800" y="2349000"/>
            <a:ext cx="2340000" cy="3779998"/>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Plassholder for tekst 8">
            <a:extLst>
              <a:ext uri="{FF2B5EF4-FFF2-40B4-BE49-F238E27FC236}">
                <a16:creationId xmlns:a16="http://schemas.microsoft.com/office/drawing/2014/main" id="{F41B8369-23C3-4F16-BCF6-293D6FF66C20}"/>
              </a:ext>
            </a:extLst>
          </p:cNvPr>
          <p:cNvSpPr>
            <a:spLocks noGrp="1"/>
          </p:cNvSpPr>
          <p:nvPr>
            <p:ph type="body" sz="quarter" idx="23" hasCustomPrompt="1"/>
          </p:nvPr>
        </p:nvSpPr>
        <p:spPr>
          <a:xfrm>
            <a:off x="6274800" y="2349000"/>
            <a:ext cx="2520000" cy="3779998"/>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1629000"/>
            <a:ext cx="234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3393814" y="1629000"/>
            <a:ext cx="252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9154800" y="1629000"/>
            <a:ext cx="234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2" name="Plassholder for tekst 18">
            <a:extLst>
              <a:ext uri="{FF2B5EF4-FFF2-40B4-BE49-F238E27FC236}">
                <a16:creationId xmlns:a16="http://schemas.microsoft.com/office/drawing/2014/main" id="{DBA1DC41-ABAE-4F03-A70D-362A4D4B5903}"/>
              </a:ext>
            </a:extLst>
          </p:cNvPr>
          <p:cNvSpPr>
            <a:spLocks noGrp="1"/>
          </p:cNvSpPr>
          <p:nvPr>
            <p:ph type="body" sz="quarter" idx="24" hasCustomPrompt="1"/>
          </p:nvPr>
        </p:nvSpPr>
        <p:spPr>
          <a:xfrm>
            <a:off x="6274800" y="1629000"/>
            <a:ext cx="252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cxnSp>
        <p:nvCxnSpPr>
          <p:cNvPr id="4" name="Footer line">
            <a:extLst>
              <a:ext uri="{FF2B5EF4-FFF2-40B4-BE49-F238E27FC236}">
                <a16:creationId xmlns:a16="http://schemas.microsoft.com/office/drawing/2014/main" id="{817174BB-E7A2-C453-3CBA-9BEC411756B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049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47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825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694800" y="3790800"/>
            <a:ext cx="3240000" cy="540000"/>
          </a:xfrm>
          <a:solidFill>
            <a:srgbClr val="243746"/>
          </a:solidFill>
        </p:spPr>
        <p:txBody>
          <a:bodyPr lIns="180000" tIns="72000" rIns="1188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694800" y="4330800"/>
            <a:ext cx="3240000" cy="1800000"/>
          </a:xfrm>
          <a:solidFill>
            <a:srgbClr val="DFF5FF"/>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4476000" y="3790800"/>
            <a:ext cx="3240000" cy="540000"/>
          </a:xfrm>
          <a:solidFill>
            <a:srgbClr val="243746"/>
          </a:solidFill>
          <a:ln>
            <a:noFill/>
          </a:ln>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4476000" y="4330800"/>
            <a:ext cx="3240000" cy="1800000"/>
          </a:xfrm>
          <a:solidFill>
            <a:srgbClr val="DFF5FF"/>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8256000" y="3790800"/>
            <a:ext cx="3240000" cy="540000"/>
          </a:xfrm>
          <a:solidFill>
            <a:srgbClr val="243746"/>
          </a:solidFill>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8256000" y="4330800"/>
            <a:ext cx="3240000" cy="1800000"/>
          </a:xfrm>
          <a:solidFill>
            <a:srgbClr val="DFF5FF"/>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3" name="Footer line">
            <a:extLst>
              <a:ext uri="{FF2B5EF4-FFF2-40B4-BE49-F238E27FC236}">
                <a16:creationId xmlns:a16="http://schemas.microsoft.com/office/drawing/2014/main" id="{6D95B2CA-66BD-9F70-AD85-54BC5D632277}"/>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0231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1810505"/>
            <a:ext cx="2340000" cy="1619245"/>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399658" y="1809750"/>
            <a:ext cx="2520000" cy="1620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274565" y="1809750"/>
            <a:ext cx="2520000" cy="1620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702528" y="3609000"/>
            <a:ext cx="234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702528" y="4149725"/>
            <a:ext cx="2340000" cy="1980000"/>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3398176" y="3609000"/>
            <a:ext cx="252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3398176" y="4149338"/>
            <a:ext cx="2520000" cy="1980000"/>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6273824" y="3609000"/>
            <a:ext cx="252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6273824" y="4149338"/>
            <a:ext cx="2520000" cy="1980000"/>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9149472" y="1809750"/>
            <a:ext cx="2340000" cy="1620000"/>
          </a:xfrm>
        </p:spPr>
        <p:txBody>
          <a:bodyPr/>
          <a:lstStyle>
            <a:lvl1pPr>
              <a:defRPr>
                <a:solidFill>
                  <a:srgbClr val="243746"/>
                </a:solidFill>
              </a:defRPr>
            </a:lvl1pPr>
          </a:lstStyle>
          <a:p>
            <a:r>
              <a:rPr lang="en-US" noProof="0"/>
              <a:t>Click icon to add picture</a:t>
            </a:r>
            <a:endParaRPr lang="en-GB" noProof="0" dirty="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hasCustomPrompt="1"/>
          </p:nvPr>
        </p:nvSpPr>
        <p:spPr>
          <a:xfrm>
            <a:off x="9149472" y="3609000"/>
            <a:ext cx="234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hasCustomPrompt="1"/>
          </p:nvPr>
        </p:nvSpPr>
        <p:spPr>
          <a:xfrm>
            <a:off x="9149472" y="4149725"/>
            <a:ext cx="2340000" cy="1979613"/>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cxnSp>
        <p:nvCxnSpPr>
          <p:cNvPr id="3" name="Footer line">
            <a:extLst>
              <a:ext uri="{FF2B5EF4-FFF2-40B4-BE49-F238E27FC236}">
                <a16:creationId xmlns:a16="http://schemas.microsoft.com/office/drawing/2014/main" id="{57C6EC40-2D1B-FFDC-422F-E34EF1BB10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729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392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403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47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825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694800" y="3790800"/>
            <a:ext cx="3240000" cy="540000"/>
          </a:xfrm>
          <a:solidFill>
            <a:srgbClr val="85B8A5"/>
          </a:solidFill>
        </p:spPr>
        <p:txBody>
          <a:bodyPr lIns="180000" tIns="72000" rIns="1188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694800" y="4330800"/>
            <a:ext cx="3240000" cy="1800000"/>
          </a:xfrm>
          <a:solidFill>
            <a:schemeClr val="accent4"/>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4476000" y="3790800"/>
            <a:ext cx="3240000" cy="540000"/>
          </a:xfrm>
          <a:solidFill>
            <a:srgbClr val="85B8A5"/>
          </a:solidFill>
          <a:ln>
            <a:noFill/>
          </a:ln>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4476000" y="4330800"/>
            <a:ext cx="3240000" cy="1800000"/>
          </a:xfrm>
          <a:solidFill>
            <a:schemeClr val="accent4"/>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8256000" y="3790800"/>
            <a:ext cx="3240000" cy="540000"/>
          </a:xfrm>
          <a:solidFill>
            <a:srgbClr val="85B8A5"/>
          </a:solidFill>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8256000" y="4330800"/>
            <a:ext cx="3240000" cy="1800000"/>
          </a:xfrm>
          <a:solidFill>
            <a:schemeClr val="accent4"/>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3" name="Footer line">
            <a:extLst>
              <a:ext uri="{FF2B5EF4-FFF2-40B4-BE49-F238E27FC236}">
                <a16:creationId xmlns:a16="http://schemas.microsoft.com/office/drawing/2014/main" id="{6D95B2CA-66BD-9F70-AD85-54BC5D632277}"/>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845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1810505"/>
            <a:ext cx="2340000" cy="1619245"/>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399658" y="1809750"/>
            <a:ext cx="2520000" cy="1620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274565" y="1809750"/>
            <a:ext cx="2520000" cy="1620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702528" y="3609000"/>
            <a:ext cx="234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702528" y="4149725"/>
            <a:ext cx="2340000" cy="1980000"/>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3398176" y="3609000"/>
            <a:ext cx="252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3398176" y="4149338"/>
            <a:ext cx="2520000" cy="1980000"/>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6273824" y="3609000"/>
            <a:ext cx="252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6273824" y="4149338"/>
            <a:ext cx="2520000" cy="1980000"/>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9149472" y="1809750"/>
            <a:ext cx="2340000" cy="1620000"/>
          </a:xfrm>
        </p:spPr>
        <p:txBody>
          <a:bodyPr/>
          <a:lstStyle>
            <a:lvl1pPr>
              <a:defRPr>
                <a:solidFill>
                  <a:srgbClr val="243746"/>
                </a:solidFill>
              </a:defRPr>
            </a:lvl1pPr>
          </a:lstStyle>
          <a:p>
            <a:r>
              <a:rPr lang="en-US" noProof="0"/>
              <a:t>Click icon to add picture</a:t>
            </a:r>
            <a:endParaRPr lang="en-GB" noProof="0" dirty="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hasCustomPrompt="1"/>
          </p:nvPr>
        </p:nvSpPr>
        <p:spPr>
          <a:xfrm>
            <a:off x="9149472" y="3609000"/>
            <a:ext cx="234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hasCustomPrompt="1"/>
          </p:nvPr>
        </p:nvSpPr>
        <p:spPr>
          <a:xfrm>
            <a:off x="9149472" y="4149725"/>
            <a:ext cx="2340000" cy="1979613"/>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cxnSp>
        <p:nvCxnSpPr>
          <p:cNvPr id="3" name="Footer line">
            <a:extLst>
              <a:ext uri="{FF2B5EF4-FFF2-40B4-BE49-F238E27FC236}">
                <a16:creationId xmlns:a16="http://schemas.microsoft.com/office/drawing/2014/main" id="{57C6EC40-2D1B-FFDC-422F-E34EF1BB10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107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C3E4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359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C3E4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2973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47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8256000" y="1810800"/>
            <a:ext cx="3240000" cy="1800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694800" y="3790800"/>
            <a:ext cx="3240000" cy="540000"/>
          </a:xfrm>
          <a:solidFill>
            <a:srgbClr val="DF6D61"/>
          </a:solidFill>
        </p:spPr>
        <p:txBody>
          <a:bodyPr lIns="180000" tIns="72000" rIns="1188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694800" y="4330800"/>
            <a:ext cx="3240000" cy="1800000"/>
          </a:xfrm>
          <a:solidFill>
            <a:srgbClr val="FEE0C8"/>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4476000" y="3790800"/>
            <a:ext cx="3240000" cy="540000"/>
          </a:xfrm>
          <a:solidFill>
            <a:srgbClr val="DF6D61"/>
          </a:solidFill>
          <a:ln>
            <a:noFill/>
          </a:ln>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4476000" y="4330800"/>
            <a:ext cx="3240000" cy="1800000"/>
          </a:xfrm>
          <a:solidFill>
            <a:srgbClr val="FEE0C8"/>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8256000" y="3790800"/>
            <a:ext cx="3240000" cy="540000"/>
          </a:xfrm>
          <a:solidFill>
            <a:srgbClr val="DF6D61"/>
          </a:solidFill>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8256000" y="4330800"/>
            <a:ext cx="3240000" cy="1800000"/>
          </a:xfrm>
          <a:solidFill>
            <a:srgbClr val="FEE0C8"/>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3" name="Footer line">
            <a:extLst>
              <a:ext uri="{FF2B5EF4-FFF2-40B4-BE49-F238E27FC236}">
                <a16:creationId xmlns:a16="http://schemas.microsoft.com/office/drawing/2014/main" id="{6D95B2CA-66BD-9F70-AD85-54BC5D632277}"/>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4703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1810505"/>
            <a:ext cx="2340000" cy="1619245"/>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399658" y="1809750"/>
            <a:ext cx="2520000" cy="1620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274565" y="1809750"/>
            <a:ext cx="2520000" cy="1620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702528" y="3609000"/>
            <a:ext cx="234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702528" y="4149725"/>
            <a:ext cx="2340000" cy="1980000"/>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3398176" y="3609000"/>
            <a:ext cx="252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3398176" y="4149338"/>
            <a:ext cx="2520000" cy="1980000"/>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6273824" y="3609000"/>
            <a:ext cx="252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6273824" y="4149338"/>
            <a:ext cx="2520000" cy="1980000"/>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9149472" y="1809750"/>
            <a:ext cx="2340000" cy="1620000"/>
          </a:xfrm>
        </p:spPr>
        <p:txBody>
          <a:bodyPr/>
          <a:lstStyle>
            <a:lvl1pPr>
              <a:defRPr>
                <a:solidFill>
                  <a:srgbClr val="243746"/>
                </a:solidFill>
              </a:defRPr>
            </a:lvl1pPr>
          </a:lstStyle>
          <a:p>
            <a:r>
              <a:rPr lang="en-US" noProof="0"/>
              <a:t>Click icon to add picture</a:t>
            </a:r>
            <a:endParaRPr lang="en-GB" noProof="0" dirty="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hasCustomPrompt="1"/>
          </p:nvPr>
        </p:nvSpPr>
        <p:spPr>
          <a:xfrm>
            <a:off x="9149472" y="3609000"/>
            <a:ext cx="234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hasCustomPrompt="1"/>
          </p:nvPr>
        </p:nvSpPr>
        <p:spPr>
          <a:xfrm>
            <a:off x="9149472" y="4149725"/>
            <a:ext cx="2340000" cy="1979613"/>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dirty="0"/>
              <a:t>Edit Master text styles</a:t>
            </a:r>
          </a:p>
        </p:txBody>
      </p:sp>
      <p:cxnSp>
        <p:nvCxnSpPr>
          <p:cNvPr id="3" name="Footer line">
            <a:extLst>
              <a:ext uri="{FF2B5EF4-FFF2-40B4-BE49-F238E27FC236}">
                <a16:creationId xmlns:a16="http://schemas.microsoft.com/office/drawing/2014/main" id="{57C6EC40-2D1B-FFDC-422F-E34EF1BB10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841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E99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chemeClr val="bg1"/>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593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E99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chemeClr val="bg1"/>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1779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86A7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chemeClr val="bg1"/>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2313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86A7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chemeClr val="bg1"/>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3671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lored right column">
    <p:bg>
      <p:bgPr>
        <a:solidFill>
          <a:srgbClr val="DFF5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1"/>
            <a:ext cx="2700338" cy="3779838"/>
          </a:xfrm>
        </p:spPr>
        <p:txBody>
          <a:bodyPr tIns="0" rIns="0" bIns="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hasCustomPrompt="1"/>
          </p:nvPr>
        </p:nvSpPr>
        <p:spPr>
          <a:xfrm>
            <a:off x="4475999" y="1089025"/>
            <a:ext cx="7020675" cy="5040314"/>
          </a:xfrm>
          <a:prstGeom prst="rect">
            <a:avLst/>
          </a:prstGeom>
        </p:spPr>
        <p:txBody>
          <a:bodyPr lIns="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cxnSp>
        <p:nvCxnSpPr>
          <p:cNvPr id="5" name="Footer line">
            <a:extLst>
              <a:ext uri="{FF2B5EF4-FFF2-40B4-BE49-F238E27FC236}">
                <a16:creationId xmlns:a16="http://schemas.microsoft.com/office/drawing/2014/main" id="{C022ED4C-43E4-97FC-A786-A40849B86F9A}"/>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305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Colored top row">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0" y="0"/>
            <a:ext cx="12192000" cy="3787807"/>
          </a:xfrm>
          <a:solidFill>
            <a:srgbClr val="DFF5FF"/>
          </a:solidFill>
        </p:spPr>
        <p:txBody>
          <a:bodyPr anchor="ctr">
            <a:normAutofit/>
          </a:bodyPr>
          <a:lstStyle>
            <a:lvl1pPr marL="0" indent="0" algn="ctr">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dirty="0"/>
          </a:p>
        </p:txBody>
      </p:sp>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4" y="3968750"/>
            <a:ext cx="2881313" cy="2160582"/>
          </a:xfrm>
        </p:spPr>
        <p:txBody>
          <a:bodyPr tIns="72000" rIns="0" anchor="t"/>
          <a:lstStyle>
            <a:lvl1pPr>
              <a:lnSpc>
                <a:spcPct val="100000"/>
              </a:lnSpc>
              <a:defRPr sz="2400">
                <a:solidFill>
                  <a:srgbClr val="243746"/>
                </a:solidFill>
              </a:defRPr>
            </a:lvl1pPr>
          </a:lstStyle>
          <a:p>
            <a:r>
              <a:rPr lang="en-US" noProof="0"/>
              <a:t>Click to edit Master title style</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4295775" y="4149725"/>
            <a:ext cx="7200900" cy="1979613"/>
          </a:xfrm>
        </p:spPr>
        <p:txBody>
          <a:bodyPr lIns="0" tIns="0" rIns="0"/>
          <a:lstStyle>
            <a:lvl1pPr marL="0" indent="0">
              <a:buNone/>
              <a:defRPr sz="1600">
                <a:solidFill>
                  <a:srgbClr val="24374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Edit Master text styles</a:t>
            </a:r>
          </a:p>
        </p:txBody>
      </p: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1499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A8C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accent1"/>
                </a:solidFill>
                <a:latin typeface="+mn-lt"/>
              </a:defRPr>
            </a:lvl1pPr>
          </a:lstStyle>
          <a:p>
            <a:r>
              <a:rPr lang="en-US" noProof="0" dirty="0"/>
              <a:t>Click to </a:t>
            </a:r>
            <a:r>
              <a:rPr lang="en-US" noProof="0"/>
              <a:t>edit </a:t>
            </a:r>
            <a:br>
              <a:rPr lang="en-US" noProof="0"/>
            </a:br>
            <a:r>
              <a:rPr lang="en-US" noProof="0"/>
              <a:t>the chapter title in one or multiple lines </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endParaRPr lang="en-US" noProof="0" dirty="0"/>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8172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224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bg1"/>
                </a:solidFill>
                <a:latin typeface="+mn-lt"/>
              </a:defRPr>
            </a:lvl1pPr>
          </a:lstStyle>
          <a:p>
            <a:r>
              <a:rPr lang="en-US" noProof="0" dirty="0"/>
              <a:t>Click to </a:t>
            </a:r>
            <a:r>
              <a:rPr lang="en-US" noProof="0"/>
              <a:t>edit </a:t>
            </a:r>
            <a:br>
              <a:rPr lang="en-US" noProof="0"/>
            </a:br>
            <a:r>
              <a:rPr lang="en-US" noProof="0"/>
              <a:t>the chapter title in one or multiple lines </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rgbClr val="ABD6BB"/>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098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F5C3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rgbClr val="DF6D61"/>
                </a:solidFill>
                <a:latin typeface="+mn-lt"/>
              </a:defRPr>
            </a:lvl1pPr>
          </a:lstStyle>
          <a:p>
            <a:r>
              <a:rPr lang="en-US" noProof="0" dirty="0"/>
              <a:t>Click to edit </a:t>
            </a:r>
            <a:br>
              <a:rPr lang="en-US" noProof="0" dirty="0"/>
            </a:br>
            <a:r>
              <a:rPr lang="en-US" noProof="0" dirty="0"/>
              <a:t>the chapter title in one or multiple lines </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7983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DF6D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bg2"/>
                </a:solidFill>
                <a:latin typeface="+mn-lt"/>
              </a:defRPr>
            </a:lvl1pPr>
          </a:lstStyle>
          <a:p>
            <a:r>
              <a:rPr lang="en-US" noProof="0" dirty="0"/>
              <a:t>Click to </a:t>
            </a:r>
            <a:r>
              <a:rPr lang="en-US" noProof="0"/>
              <a:t>edit </a:t>
            </a:r>
            <a:br>
              <a:rPr lang="en-US" noProof="0"/>
            </a:br>
            <a:r>
              <a:rPr lang="en-US" noProof="0"/>
              <a:t>the chapter title in one or multiple lines </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endParaRPr lang="en-US" noProof="0" dirty="0"/>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2888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ABD6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bg1"/>
                </a:solidFill>
                <a:latin typeface="+mn-lt"/>
              </a:defRPr>
            </a:lvl1pPr>
          </a:lstStyle>
          <a:p>
            <a:r>
              <a:rPr lang="en-US" noProof="0" dirty="0"/>
              <a:t>Click to edit </a:t>
            </a:r>
            <a:br>
              <a:rPr lang="en-US" noProof="0" dirty="0"/>
            </a:br>
            <a:r>
              <a:rPr lang="en-US" noProof="0" dirty="0"/>
              <a:t>the chapter title in one or multiple lines </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215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910800"/>
            <a:ext cx="10801350" cy="601648"/>
          </a:xfrm>
        </p:spPr>
        <p:txBody>
          <a:bodyPr tIns="72000" anchor="t"/>
          <a:lstStyle>
            <a:lvl1pPr>
              <a:defRPr>
                <a:solidFill>
                  <a:srgbClr val="243746"/>
                </a:solidFill>
              </a:defRPr>
            </a:lvl1pPr>
          </a:lstStyle>
          <a:p>
            <a:r>
              <a:rPr lang="en-US" noProof="0"/>
              <a:t>Click to edit Master title style</a:t>
            </a:r>
            <a:endParaRPr lang="en-GB" noProof="0" dirty="0"/>
          </a:p>
        </p:txBody>
      </p: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3" name="Footer line">
            <a:extLst>
              <a:ext uri="{FF2B5EF4-FFF2-40B4-BE49-F238E27FC236}">
                <a16:creationId xmlns:a16="http://schemas.microsoft.com/office/drawing/2014/main" id="{F31E28B7-C1C7-04C3-344E-E8A71F095A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684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c">
    <p:spTree>
      <p:nvGrpSpPr>
        <p:cNvPr id="1" name=""/>
        <p:cNvGrpSpPr/>
        <p:nvPr/>
      </p:nvGrpSpPr>
      <p:grpSpPr>
        <a:xfrm>
          <a:off x="0" y="0"/>
          <a:ext cx="0" cy="0"/>
          <a:chOff x="0" y="0"/>
          <a:chExt cx="0" cy="0"/>
        </a:xfrm>
      </p:grpSpPr>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2" name="Straight Connector 1">
            <a:extLst>
              <a:ext uri="{FF2B5EF4-FFF2-40B4-BE49-F238E27FC236}">
                <a16:creationId xmlns:a16="http://schemas.microsoft.com/office/drawing/2014/main" id="{B07F050B-D265-02D8-6A42-E4E231555ADD}"/>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7616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losing credits - animated log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55B974-3DC1-44AE-96AE-E5BC33594F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36200" y="454269"/>
            <a:ext cx="1368000" cy="1061193"/>
          </a:xfrm>
          <a:prstGeom prst="rect">
            <a:avLst/>
          </a:prstGeom>
          <a:ln>
            <a:noFill/>
          </a:ln>
        </p:spPr>
      </p:pic>
      <p:sp>
        <p:nvSpPr>
          <p:cNvPr id="6" name="Rectangle 5">
            <a:extLst>
              <a:ext uri="{FF2B5EF4-FFF2-40B4-BE49-F238E27FC236}">
                <a16:creationId xmlns:a16="http://schemas.microsoft.com/office/drawing/2014/main" id="{01E21570-2B89-43CC-8DEE-216454BE3068}"/>
              </a:ext>
            </a:extLst>
          </p:cNvPr>
          <p:cNvSpPr/>
          <p:nvPr userDrawn="1"/>
        </p:nvSpPr>
        <p:spPr>
          <a:xfrm>
            <a:off x="695325" y="6122244"/>
            <a:ext cx="10801350" cy="7357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0000" rtlCol="0" anchor="b">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dirty="0">
                <a:ln>
                  <a:noFill/>
                </a:ln>
                <a:solidFill>
                  <a:srgbClr val="243746"/>
                </a:solidFill>
                <a:effectLst/>
                <a:uLnTx/>
                <a:uFillTx/>
                <a:latin typeface="+mj-lt"/>
                <a:ea typeface="+mn-ea"/>
                <a:cs typeface="Arial" charset="0"/>
              </a:rPr>
              <a:t>© Equinor ASA</a:t>
            </a:r>
            <a:endParaRPr kumimoji="0" lang="en-GB" sz="1000" b="0" i="0" u="none" strike="noStrike" kern="1200" cap="none" spc="0" normalizeH="0" baseline="0" noProof="0" dirty="0">
              <a:ln>
                <a:noFill/>
              </a:ln>
              <a:solidFill>
                <a:srgbClr val="243746"/>
              </a:solidFill>
              <a:effectLst/>
              <a:uLnTx/>
              <a:uFillTx/>
              <a:latin typeface="+mn-lt"/>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dirty="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endParaRPr kumimoji="0" lang="en-GB" sz="600" b="0" i="0" u="none" strike="noStrike" kern="1200" cap="none" spc="0" normalizeH="0" baseline="0" noProof="0" dirty="0">
              <a:ln>
                <a:noFill/>
              </a:ln>
              <a:solidFill>
                <a:srgbClr val="243746"/>
              </a:solidFill>
              <a:effectLst/>
              <a:uLnTx/>
              <a:uFillTx/>
              <a:latin typeface="+mn-lt"/>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48250"/>
            <a:ext cx="10801350" cy="409785"/>
          </a:xfrm>
        </p:spPr>
        <p:txBody>
          <a:bodyPr lIns="0" tIns="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dirty="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5" y="4329000"/>
            <a:ext cx="10801349" cy="609337"/>
          </a:xfrm>
        </p:spPr>
        <p:txBody>
          <a:bodyPr lIns="0" tIns="0" rIns="0" bIns="0" anchor="b"/>
          <a:lstStyle>
            <a:lvl1pPr>
              <a:defRPr sz="2000">
                <a:solidFill>
                  <a:srgbClr val="FF1243"/>
                </a:solidFill>
                <a:latin typeface="+mj-lt"/>
              </a:defRPr>
            </a:lvl1pPr>
          </a:lstStyle>
          <a:p>
            <a:r>
              <a:rPr lang="en-GB" noProof="0" dirty="0"/>
              <a:t>Click to add presentation title</a:t>
            </a:r>
          </a:p>
        </p:txBody>
      </p:sp>
      <p:graphicFrame>
        <p:nvGraphicFramePr>
          <p:cNvPr id="4" name="Table 3">
            <a:extLst>
              <a:ext uri="{FF2B5EF4-FFF2-40B4-BE49-F238E27FC236}">
                <a16:creationId xmlns:a16="http://schemas.microsoft.com/office/drawing/2014/main" id="{1A80D2A4-AF11-3544-99B5-1DC9E61B03C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6316136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6122244"/>
            <a:ext cx="10801350" cy="7357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0000" rtlCol="0" anchor="b">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rgbClr val="243746"/>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a:ln>
                  <a:noFill/>
                </a:ln>
                <a:solidFill>
                  <a:srgbClr val="243746"/>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dirty="0">
              <a:ln>
                <a:noFill/>
              </a:ln>
              <a:solidFill>
                <a:srgbClr val="243746"/>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48250"/>
            <a:ext cx="10801350" cy="409785"/>
          </a:xfrm>
        </p:spPr>
        <p:txBody>
          <a:bodyPr lIns="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dirty="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329113"/>
            <a:ext cx="10801349" cy="609337"/>
          </a:xfrm>
        </p:spPr>
        <p:txBody>
          <a:bodyPr lIns="0" tIns="0" rIns="0" bIns="0" anchor="b"/>
          <a:lstStyle>
            <a:lvl1pPr>
              <a:defRPr sz="2000">
                <a:solidFill>
                  <a:srgbClr val="FF1243"/>
                </a:solidFill>
                <a:latin typeface="+mj-lt"/>
              </a:defRPr>
            </a:lvl1pPr>
          </a:lstStyle>
          <a:p>
            <a:r>
              <a:rPr lang="en-GB" noProof="0" dirty="0"/>
              <a:t>Click to add presentation title</a:t>
            </a:r>
          </a:p>
        </p:txBody>
      </p:sp>
      <p:pic>
        <p:nvPicPr>
          <p:cNvPr id="2" name="Graphic 1">
            <a:extLst>
              <a:ext uri="{FF2B5EF4-FFF2-40B4-BE49-F238E27FC236}">
                <a16:creationId xmlns:a16="http://schemas.microsoft.com/office/drawing/2014/main" id="{B38DBFF7-AACE-8FF9-0195-44B87AD366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3" name="Table 2">
            <a:extLst>
              <a:ext uri="{FF2B5EF4-FFF2-40B4-BE49-F238E27FC236}">
                <a16:creationId xmlns:a16="http://schemas.microsoft.com/office/drawing/2014/main" id="{7D3EFABB-8C55-3174-109F-59F0F499F92A}"/>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1026621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2026-01-30</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6817933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CED5-A01A-8FF4-6C3B-B323AC4A041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C80D8E-4AEE-5D29-3B95-63B08E961807}"/>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662475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5" name="Table 15" hidden="1">
            <a:extLst>
              <a:ext uri="{FF2B5EF4-FFF2-40B4-BE49-F238E27FC236}">
                <a16:creationId xmlns:a16="http://schemas.microsoft.com/office/drawing/2014/main" id="{DEBD90AC-FD60-41F4-9529-E31232224E59}"/>
              </a:ext>
            </a:extLst>
          </p:cNvPr>
          <p:cNvGraphicFramePr>
            <a:graphicFrameLocks noGrp="1"/>
          </p:cNvGraphicFramePr>
          <p:nvPr userDrawn="1">
            <p:extLst>
              <p:ext uri="{D42A27DB-BD31-4B8C-83A1-F6EECF244321}">
                <p14:modId xmlns:p14="http://schemas.microsoft.com/office/powerpoint/2010/main" val="1016769249"/>
              </p:ext>
            </p:extLst>
          </p:nvPr>
        </p:nvGraphicFramePr>
        <p:xfrm>
          <a:off x="-362400" y="-365400"/>
          <a:ext cx="12916800" cy="758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3706908691"/>
                    </a:ext>
                  </a:extLst>
                </a:gridCol>
                <a:gridCol w="698400">
                  <a:extLst>
                    <a:ext uri="{9D8B030D-6E8A-4147-A177-3AD203B41FA5}">
                      <a16:colId xmlns:a16="http://schemas.microsoft.com/office/drawing/2014/main" val="1122517581"/>
                    </a:ext>
                  </a:extLst>
                </a:gridCol>
                <a:gridCol w="900000">
                  <a:extLst>
                    <a:ext uri="{9D8B030D-6E8A-4147-A177-3AD203B41FA5}">
                      <a16:colId xmlns:a16="http://schemas.microsoft.com/office/drawing/2014/main" val="3921436069"/>
                    </a:ext>
                  </a:extLst>
                </a:gridCol>
                <a:gridCol w="900000">
                  <a:extLst>
                    <a:ext uri="{9D8B030D-6E8A-4147-A177-3AD203B41FA5}">
                      <a16:colId xmlns:a16="http://schemas.microsoft.com/office/drawing/2014/main" val="461690647"/>
                    </a:ext>
                  </a:extLst>
                </a:gridCol>
                <a:gridCol w="900000">
                  <a:extLst>
                    <a:ext uri="{9D8B030D-6E8A-4147-A177-3AD203B41FA5}">
                      <a16:colId xmlns:a16="http://schemas.microsoft.com/office/drawing/2014/main" val="3176828646"/>
                    </a:ext>
                  </a:extLst>
                </a:gridCol>
                <a:gridCol w="900000">
                  <a:extLst>
                    <a:ext uri="{9D8B030D-6E8A-4147-A177-3AD203B41FA5}">
                      <a16:colId xmlns:a16="http://schemas.microsoft.com/office/drawing/2014/main" val="4171762685"/>
                    </a:ext>
                  </a:extLst>
                </a:gridCol>
                <a:gridCol w="900000">
                  <a:extLst>
                    <a:ext uri="{9D8B030D-6E8A-4147-A177-3AD203B41FA5}">
                      <a16:colId xmlns:a16="http://schemas.microsoft.com/office/drawing/2014/main" val="2201640941"/>
                    </a:ext>
                  </a:extLst>
                </a:gridCol>
                <a:gridCol w="900000">
                  <a:extLst>
                    <a:ext uri="{9D8B030D-6E8A-4147-A177-3AD203B41FA5}">
                      <a16:colId xmlns:a16="http://schemas.microsoft.com/office/drawing/2014/main" val="3985058925"/>
                    </a:ext>
                  </a:extLst>
                </a:gridCol>
                <a:gridCol w="900000">
                  <a:extLst>
                    <a:ext uri="{9D8B030D-6E8A-4147-A177-3AD203B41FA5}">
                      <a16:colId xmlns:a16="http://schemas.microsoft.com/office/drawing/2014/main" val="2520456441"/>
                    </a:ext>
                  </a:extLst>
                </a:gridCol>
                <a:gridCol w="900000">
                  <a:extLst>
                    <a:ext uri="{9D8B030D-6E8A-4147-A177-3AD203B41FA5}">
                      <a16:colId xmlns:a16="http://schemas.microsoft.com/office/drawing/2014/main" val="3882555492"/>
                    </a:ext>
                  </a:extLst>
                </a:gridCol>
                <a:gridCol w="900000">
                  <a:extLst>
                    <a:ext uri="{9D8B030D-6E8A-4147-A177-3AD203B41FA5}">
                      <a16:colId xmlns:a16="http://schemas.microsoft.com/office/drawing/2014/main" val="1630932600"/>
                    </a:ext>
                  </a:extLst>
                </a:gridCol>
                <a:gridCol w="900000">
                  <a:extLst>
                    <a:ext uri="{9D8B030D-6E8A-4147-A177-3AD203B41FA5}">
                      <a16:colId xmlns:a16="http://schemas.microsoft.com/office/drawing/2014/main" val="4253300143"/>
                    </a:ext>
                  </a:extLst>
                </a:gridCol>
                <a:gridCol w="900000">
                  <a:extLst>
                    <a:ext uri="{9D8B030D-6E8A-4147-A177-3AD203B41FA5}">
                      <a16:colId xmlns:a16="http://schemas.microsoft.com/office/drawing/2014/main" val="3197937433"/>
                    </a:ext>
                  </a:extLst>
                </a:gridCol>
                <a:gridCol w="900000">
                  <a:extLst>
                    <a:ext uri="{9D8B030D-6E8A-4147-A177-3AD203B41FA5}">
                      <a16:colId xmlns:a16="http://schemas.microsoft.com/office/drawing/2014/main" val="2775328341"/>
                    </a:ext>
                  </a:extLst>
                </a:gridCol>
                <a:gridCol w="698400">
                  <a:extLst>
                    <a:ext uri="{9D8B030D-6E8A-4147-A177-3AD203B41FA5}">
                      <a16:colId xmlns:a16="http://schemas.microsoft.com/office/drawing/2014/main" val="3434562342"/>
                    </a:ext>
                  </a:extLst>
                </a:gridCol>
                <a:gridCol w="360000">
                  <a:extLst>
                    <a:ext uri="{9D8B030D-6E8A-4147-A177-3AD203B41FA5}">
                      <a16:colId xmlns:a16="http://schemas.microsoft.com/office/drawing/2014/main" val="2670757722"/>
                    </a:ext>
                  </a:extLst>
                </a:gridCol>
              </a:tblGrid>
              <a:tr h="360000">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tc>
                  <a:txBody>
                    <a:bodyPr/>
                    <a:lstStyle/>
                    <a:p>
                      <a:pPr algn="ctr"/>
                      <a:r>
                        <a:rPr lang="nb-NO" sz="700" dirty="0" err="1">
                          <a:solidFill>
                            <a:schemeClr val="bg1"/>
                          </a:solidFill>
                        </a:rPr>
                        <a:t>Left</a:t>
                      </a:r>
                      <a:r>
                        <a:rPr lang="nb-NO" sz="700" dirty="0">
                          <a:solidFill>
                            <a:schemeClr val="bg1"/>
                          </a:solidFill>
                        </a:rPr>
                        <a: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dirty="0">
                          <a:solidFill>
                            <a:schemeClr val="bg1"/>
                          </a:solidFill>
                        </a:rPr>
                        <a:t>1</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3</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4</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5</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6</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7</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8</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9</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10</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11</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Right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extLst>
                  <a:ext uri="{0D108BD9-81ED-4DB2-BD59-A6C34878D82A}">
                    <a16:rowId xmlns:a16="http://schemas.microsoft.com/office/drawing/2014/main" val="1267116639"/>
                  </a:ext>
                </a:extLst>
              </a:tr>
              <a:tr h="824400">
                <a:tc>
                  <a:txBody>
                    <a:bodyPr/>
                    <a:lstStyle/>
                    <a:p>
                      <a:pPr algn="ctr"/>
                      <a:r>
                        <a:rPr lang="nb-NO" sz="700" dirty="0">
                          <a:solidFill>
                            <a:schemeClr val="bg1"/>
                          </a:solidFill>
                        </a:rPr>
                        <a:t>Logo Space</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Logo </a:t>
                      </a:r>
                      <a:r>
                        <a:rPr lang="nb-NO" sz="700" dirty="0" err="1">
                          <a:solidFill>
                            <a:schemeClr val="bg1"/>
                          </a:solidFill>
                        </a:rPr>
                        <a:t>space</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284756019"/>
                  </a:ext>
                </a:extLst>
              </a:tr>
              <a:tr h="594000">
                <a:tc>
                  <a:txBody>
                    <a:bodyPr/>
                    <a:lstStyle/>
                    <a:p>
                      <a:pPr algn="ctr"/>
                      <a:r>
                        <a:rPr lang="nb-NO" sz="700" dirty="0">
                          <a:solidFill>
                            <a:schemeClr val="bg1"/>
                          </a:solidFill>
                        </a:rPr>
                        <a:t>1</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6628835"/>
                  </a:ext>
                </a:extLst>
              </a:tr>
              <a:tr h="594000">
                <a:tc>
                  <a:txBody>
                    <a:bodyPr/>
                    <a:lstStyle/>
                    <a:p>
                      <a:pPr algn="ctr"/>
                      <a:r>
                        <a:rPr lang="nb-NO" sz="700" dirty="0">
                          <a:solidFill>
                            <a:schemeClr val="bg1"/>
                          </a:solidFill>
                        </a:rPr>
                        <a:t>2</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2</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786395"/>
                  </a:ext>
                </a:extLst>
              </a:tr>
              <a:tr h="594000">
                <a:tc>
                  <a:txBody>
                    <a:bodyPr/>
                    <a:lstStyle/>
                    <a:p>
                      <a:pPr algn="ctr"/>
                      <a:r>
                        <a:rPr lang="nb-NO" sz="700" dirty="0">
                          <a:solidFill>
                            <a:schemeClr val="bg1"/>
                          </a:solidFill>
                        </a:rPr>
                        <a:t>3</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3</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840466"/>
                  </a:ext>
                </a:extLst>
              </a:tr>
              <a:tr h="594000">
                <a:tc>
                  <a:txBody>
                    <a:bodyPr/>
                    <a:lstStyle/>
                    <a:p>
                      <a:pPr algn="ctr"/>
                      <a:r>
                        <a:rPr lang="nb-NO" sz="700" dirty="0">
                          <a:solidFill>
                            <a:schemeClr val="bg1"/>
                          </a:solidFill>
                        </a:rPr>
                        <a:t>4</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4</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49273"/>
                  </a:ext>
                </a:extLst>
              </a:tr>
              <a:tr h="594000">
                <a:tc>
                  <a:txBody>
                    <a:bodyPr/>
                    <a:lstStyle/>
                    <a:p>
                      <a:pPr algn="ctr"/>
                      <a:r>
                        <a:rPr lang="nb-NO" sz="700" dirty="0">
                          <a:solidFill>
                            <a:schemeClr val="bg1"/>
                          </a:solidFill>
                        </a:rPr>
                        <a:t>5</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5</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9297255"/>
                  </a:ext>
                </a:extLst>
              </a:tr>
              <a:tr h="594000">
                <a:tc>
                  <a:txBody>
                    <a:bodyPr/>
                    <a:lstStyle/>
                    <a:p>
                      <a:pPr algn="ctr"/>
                      <a:r>
                        <a:rPr lang="nb-NO" sz="700" dirty="0">
                          <a:solidFill>
                            <a:schemeClr val="bg1"/>
                          </a:solidFill>
                        </a:rPr>
                        <a:t>6</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6</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784121"/>
                  </a:ext>
                </a:extLst>
              </a:tr>
              <a:tr h="594000">
                <a:tc>
                  <a:txBody>
                    <a:bodyPr/>
                    <a:lstStyle/>
                    <a:p>
                      <a:pPr algn="ctr"/>
                      <a:r>
                        <a:rPr lang="nb-NO" sz="700" dirty="0">
                          <a:solidFill>
                            <a:schemeClr val="bg1"/>
                          </a:solidFill>
                        </a:rPr>
                        <a:t>7</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7</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9926277"/>
                  </a:ext>
                </a:extLst>
              </a:tr>
              <a:tr h="594000">
                <a:tc>
                  <a:txBody>
                    <a:bodyPr/>
                    <a:lstStyle/>
                    <a:p>
                      <a:pPr algn="ctr"/>
                      <a:r>
                        <a:rPr lang="nb-NO" sz="700" dirty="0">
                          <a:solidFill>
                            <a:schemeClr val="bg1"/>
                          </a:solidFill>
                        </a:rPr>
                        <a:t>8</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8</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0813238"/>
                  </a:ext>
                </a:extLst>
              </a:tr>
              <a:tr h="594000">
                <a:tc>
                  <a:txBody>
                    <a:bodyPr/>
                    <a:lstStyle/>
                    <a:p>
                      <a:pPr algn="ctr"/>
                      <a:r>
                        <a:rPr lang="nb-NO" sz="700" dirty="0">
                          <a:solidFill>
                            <a:schemeClr val="bg1"/>
                          </a:solidFill>
                        </a:rPr>
                        <a:t>9</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9</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3967900"/>
                  </a:ext>
                </a:extLst>
              </a:tr>
              <a:tr h="698400">
                <a:tc>
                  <a:txBody>
                    <a:bodyPr/>
                    <a:lstStyle/>
                    <a:p>
                      <a:pPr algn="ctr"/>
                      <a:r>
                        <a:rPr lang="nb-NO" sz="700" dirty="0" err="1">
                          <a:solidFill>
                            <a:schemeClr val="bg1"/>
                          </a:solidFill>
                        </a:rPr>
                        <a:t>Bottom</a:t>
                      </a:r>
                      <a:r>
                        <a:rPr lang="nb-NO" sz="700" dirty="0">
                          <a:solidFill>
                            <a:schemeClr val="bg1"/>
                          </a:solidFill>
                        </a:rPr>
                        <a:t> margin</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err="1">
                          <a:solidFill>
                            <a:schemeClr val="bg1"/>
                          </a:solidFill>
                        </a:rPr>
                        <a:t>Bottom</a:t>
                      </a:r>
                      <a:r>
                        <a:rPr lang="nb-NO" sz="700" dirty="0">
                          <a:solidFill>
                            <a:schemeClr val="bg1"/>
                          </a:solidFill>
                        </a:rPr>
                        <a:t> margin</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749541604"/>
                  </a:ext>
                </a:extLst>
              </a:tr>
              <a:tr h="360000">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tc>
                  <a:txBody>
                    <a:bodyPr/>
                    <a:lstStyle/>
                    <a:p>
                      <a:pPr algn="ctr"/>
                      <a:r>
                        <a:rPr lang="nb-NO" sz="700" dirty="0" err="1">
                          <a:solidFill>
                            <a:schemeClr val="bg1"/>
                          </a:solidFill>
                        </a:rPr>
                        <a:t>Left</a:t>
                      </a:r>
                      <a:r>
                        <a:rPr lang="nb-NO" sz="700" dirty="0">
                          <a:solidFill>
                            <a:schemeClr val="bg1"/>
                          </a:solidFill>
                        </a:rPr>
                        <a: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dirty="0">
                          <a:solidFill>
                            <a:schemeClr val="bg1"/>
                          </a:solidFill>
                        </a:rPr>
                        <a:t>1</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3</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4</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5</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6</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7</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8</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9</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10</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11</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Right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extLst>
                  <a:ext uri="{0D108BD9-81ED-4DB2-BD59-A6C34878D82A}">
                    <a16:rowId xmlns:a16="http://schemas.microsoft.com/office/drawing/2014/main" val="87438051"/>
                  </a:ext>
                </a:extLst>
              </a:tr>
            </a:tbl>
          </a:graphicData>
        </a:graphic>
      </p:graphicFrame>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4295" y="909000"/>
            <a:ext cx="10800000" cy="539362"/>
          </a:xfrm>
          <a:prstGeom prst="rect">
            <a:avLst/>
          </a:prstGeom>
        </p:spPr>
        <p:txBody>
          <a:bodyPr vert="horz" lIns="0" tIns="72000" rIns="0" bIns="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4800" y="1810800"/>
            <a:ext cx="10800000" cy="43195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6000" y="6560275"/>
            <a:ext cx="245260" cy="215444"/>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dirty="0"/>
              <a:t>  |  </a:t>
            </a:r>
            <a:endParaRPr lang="en-GB" noProof="0" dirty="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9757220" y="6560275"/>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Internal</a:t>
            </a:r>
            <a:endParaRPr lang="en-GB" noProof="0" dirty="0">
              <a:latin typeface="+mn-lt"/>
            </a:endParaRPr>
          </a:p>
        </p:txBody>
      </p:sp>
      <p:sp>
        <p:nvSpPr>
          <p:cNvPr id="37" name="DateBox" hidden="1">
            <a:extLst>
              <a:ext uri="{FF2B5EF4-FFF2-40B4-BE49-F238E27FC236}">
                <a16:creationId xmlns:a16="http://schemas.microsoft.com/office/drawing/2014/main" id="{66CDF6A4-3F2C-4A0A-88CC-5D8A55FE1230}"/>
              </a:ext>
            </a:extLst>
          </p:cNvPr>
          <p:cNvSpPr txBox="1"/>
          <p:nvPr userDrawn="1"/>
        </p:nvSpPr>
        <p:spPr>
          <a:xfrm>
            <a:off x="9756774" y="6560275"/>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endParaRPr lang="en-GB" noProof="0" dirty="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Freeform: Shape 10">
            <a:extLst>
              <a:ext uri="{FF2B5EF4-FFF2-40B4-BE49-F238E27FC236}">
                <a16:creationId xmlns:a16="http://schemas.microsoft.com/office/drawing/2014/main" id="{22F0561D-7920-46DD-69C7-002B6307DA7D}"/>
              </a:ext>
            </a:extLst>
          </p:cNvPr>
          <p:cNvSpPr>
            <a:spLocks noChangeAspect="1"/>
          </p:cNvSpPr>
          <p:nvPr/>
        </p:nvSpPr>
        <p:spPr>
          <a:xfrm>
            <a:off x="11136000" y="162000"/>
            <a:ext cx="360000" cy="426702"/>
          </a:xfrm>
          <a:custGeom>
            <a:avLst/>
            <a:gdLst>
              <a:gd name="connsiteX0" fmla="*/ 171346 w 306110"/>
              <a:gd name="connsiteY0" fmla="*/ 300417 h 362827"/>
              <a:gd name="connsiteX1" fmla="*/ 193941 w 306110"/>
              <a:gd name="connsiteY1" fmla="*/ 313328 h 362827"/>
              <a:gd name="connsiteX2" fmla="*/ 196093 w 306110"/>
              <a:gd name="connsiteY2" fmla="*/ 317094 h 362827"/>
              <a:gd name="connsiteX3" fmla="*/ 196093 w 306110"/>
              <a:gd name="connsiteY3" fmla="*/ 343186 h 362827"/>
              <a:gd name="connsiteX4" fmla="*/ 191790 w 306110"/>
              <a:gd name="connsiteY4" fmla="*/ 345607 h 362827"/>
              <a:gd name="connsiteX5" fmla="*/ 169194 w 306110"/>
              <a:gd name="connsiteY5" fmla="*/ 332695 h 362827"/>
              <a:gd name="connsiteX6" fmla="*/ 167042 w 306110"/>
              <a:gd name="connsiteY6" fmla="*/ 328930 h 362827"/>
              <a:gd name="connsiteX7" fmla="*/ 167042 w 306110"/>
              <a:gd name="connsiteY7" fmla="*/ 302838 h 362827"/>
              <a:gd name="connsiteX8" fmla="*/ 171346 w 306110"/>
              <a:gd name="connsiteY8" fmla="*/ 300417 h 362827"/>
              <a:gd name="connsiteX9" fmla="*/ 189369 w 306110"/>
              <a:gd name="connsiteY9" fmla="*/ 268945 h 362827"/>
              <a:gd name="connsiteX10" fmla="*/ 211964 w 306110"/>
              <a:gd name="connsiteY10" fmla="*/ 281856 h 362827"/>
              <a:gd name="connsiteX11" fmla="*/ 216268 w 306110"/>
              <a:gd name="connsiteY11" fmla="*/ 281856 h 362827"/>
              <a:gd name="connsiteX12" fmla="*/ 238863 w 306110"/>
              <a:gd name="connsiteY12" fmla="*/ 268945 h 362827"/>
              <a:gd name="connsiteX13" fmla="*/ 238863 w 306110"/>
              <a:gd name="connsiteY13" fmla="*/ 264103 h 362827"/>
              <a:gd name="connsiteX14" fmla="*/ 216268 w 306110"/>
              <a:gd name="connsiteY14" fmla="*/ 251192 h 362827"/>
              <a:gd name="connsiteX15" fmla="*/ 211964 w 306110"/>
              <a:gd name="connsiteY15" fmla="*/ 251192 h 362827"/>
              <a:gd name="connsiteX16" fmla="*/ 189369 w 306110"/>
              <a:gd name="connsiteY16" fmla="*/ 264103 h 362827"/>
              <a:gd name="connsiteX17" fmla="*/ 189369 w 306110"/>
              <a:gd name="connsiteY17" fmla="*/ 268945 h 362827"/>
              <a:gd name="connsiteX18" fmla="*/ 107865 w 306110"/>
              <a:gd name="connsiteY18" fmla="*/ 263565 h 362827"/>
              <a:gd name="connsiteX19" fmla="*/ 57295 w 306110"/>
              <a:gd name="connsiteY19" fmla="*/ 234245 h 362827"/>
              <a:gd name="connsiteX20" fmla="*/ 52453 w 306110"/>
              <a:gd name="connsiteY20" fmla="*/ 234245 h 362827"/>
              <a:gd name="connsiteX21" fmla="*/ 1614 w 306110"/>
              <a:gd name="connsiteY21" fmla="*/ 263565 h 362827"/>
              <a:gd name="connsiteX22" fmla="*/ 1614 w 306110"/>
              <a:gd name="connsiteY22" fmla="*/ 269214 h 362827"/>
              <a:gd name="connsiteX23" fmla="*/ 52184 w 306110"/>
              <a:gd name="connsiteY23" fmla="*/ 298534 h 362827"/>
              <a:gd name="connsiteX24" fmla="*/ 57026 w 306110"/>
              <a:gd name="connsiteY24" fmla="*/ 298534 h 362827"/>
              <a:gd name="connsiteX25" fmla="*/ 107596 w 306110"/>
              <a:gd name="connsiteY25" fmla="*/ 269214 h 362827"/>
              <a:gd name="connsiteX26" fmla="*/ 107865 w 306110"/>
              <a:gd name="connsiteY26" fmla="*/ 263565 h 362827"/>
              <a:gd name="connsiteX27" fmla="*/ 127501 w 306110"/>
              <a:gd name="connsiteY27" fmla="*/ 299610 h 362827"/>
              <a:gd name="connsiteX28" fmla="*/ 93608 w 306110"/>
              <a:gd name="connsiteY28" fmla="*/ 318977 h 362827"/>
              <a:gd name="connsiteX29" fmla="*/ 91994 w 306110"/>
              <a:gd name="connsiteY29" fmla="*/ 321667 h 362827"/>
              <a:gd name="connsiteX30" fmla="*/ 91994 w 306110"/>
              <a:gd name="connsiteY30" fmla="*/ 360670 h 362827"/>
              <a:gd name="connsiteX31" fmla="*/ 95222 w 306110"/>
              <a:gd name="connsiteY31" fmla="*/ 362553 h 362827"/>
              <a:gd name="connsiteX32" fmla="*/ 129115 w 306110"/>
              <a:gd name="connsiteY32" fmla="*/ 343186 h 362827"/>
              <a:gd name="connsiteX33" fmla="*/ 130729 w 306110"/>
              <a:gd name="connsiteY33" fmla="*/ 340496 h 362827"/>
              <a:gd name="connsiteX34" fmla="*/ 130729 w 306110"/>
              <a:gd name="connsiteY34" fmla="*/ 301493 h 362827"/>
              <a:gd name="connsiteX35" fmla="*/ 127501 w 306110"/>
              <a:gd name="connsiteY35" fmla="*/ 299610 h 362827"/>
              <a:gd name="connsiteX36" fmla="*/ 294544 w 306110"/>
              <a:gd name="connsiteY36" fmla="*/ 1032 h 362827"/>
              <a:gd name="connsiteX37" fmla="*/ 172960 w 306110"/>
              <a:gd name="connsiteY37" fmla="*/ 71238 h 362827"/>
              <a:gd name="connsiteX38" fmla="*/ 167042 w 306110"/>
              <a:gd name="connsiteY38" fmla="*/ 81190 h 362827"/>
              <a:gd name="connsiteX39" fmla="*/ 167042 w 306110"/>
              <a:gd name="connsiteY39" fmla="*/ 221603 h 362827"/>
              <a:gd name="connsiteX40" fmla="*/ 178878 w 306110"/>
              <a:gd name="connsiteY40" fmla="*/ 228328 h 362827"/>
              <a:gd name="connsiteX41" fmla="*/ 300461 w 306110"/>
              <a:gd name="connsiteY41" fmla="*/ 158121 h 362827"/>
              <a:gd name="connsiteX42" fmla="*/ 306110 w 306110"/>
              <a:gd name="connsiteY42" fmla="*/ 148169 h 362827"/>
              <a:gd name="connsiteX43" fmla="*/ 306110 w 306110"/>
              <a:gd name="connsiteY43" fmla="*/ 7756 h 362827"/>
              <a:gd name="connsiteX44" fmla="*/ 294544 w 306110"/>
              <a:gd name="connsiteY44" fmla="*/ 1032 h 362827"/>
              <a:gd name="connsiteX45" fmla="*/ 34162 w 306110"/>
              <a:gd name="connsiteY45" fmla="*/ 77156 h 362827"/>
              <a:gd name="connsiteX46" fmla="*/ 34162 w 306110"/>
              <a:gd name="connsiteY46" fmla="*/ 174799 h 362827"/>
              <a:gd name="connsiteX47" fmla="*/ 38197 w 306110"/>
              <a:gd name="connsiteY47" fmla="*/ 181792 h 362827"/>
              <a:gd name="connsiteX48" fmla="*/ 122659 w 306110"/>
              <a:gd name="connsiteY48" fmla="*/ 230479 h 362827"/>
              <a:gd name="connsiteX49" fmla="*/ 130729 w 306110"/>
              <a:gd name="connsiteY49" fmla="*/ 225907 h 362827"/>
              <a:gd name="connsiteX50" fmla="*/ 130729 w 306110"/>
              <a:gd name="connsiteY50" fmla="*/ 128264 h 362827"/>
              <a:gd name="connsiteX51" fmla="*/ 126694 w 306110"/>
              <a:gd name="connsiteY51" fmla="*/ 121270 h 362827"/>
              <a:gd name="connsiteX52" fmla="*/ 42231 w 306110"/>
              <a:gd name="connsiteY52" fmla="*/ 72583 h 362827"/>
              <a:gd name="connsiteX53" fmla="*/ 34162 w 306110"/>
              <a:gd name="connsiteY53" fmla="*/ 77156 h 36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6110" h="362827">
                <a:moveTo>
                  <a:pt x="171346" y="300417"/>
                </a:moveTo>
                <a:lnTo>
                  <a:pt x="193941" y="313328"/>
                </a:lnTo>
                <a:cubicBezTo>
                  <a:pt x="195286" y="314135"/>
                  <a:pt x="196093" y="315480"/>
                  <a:pt x="196093" y="317094"/>
                </a:cubicBezTo>
                <a:lnTo>
                  <a:pt x="196093" y="343186"/>
                </a:lnTo>
                <a:cubicBezTo>
                  <a:pt x="196093" y="345338"/>
                  <a:pt x="193672" y="346683"/>
                  <a:pt x="191790" y="345607"/>
                </a:cubicBezTo>
                <a:lnTo>
                  <a:pt x="169194" y="332695"/>
                </a:lnTo>
                <a:cubicBezTo>
                  <a:pt x="167849" y="331888"/>
                  <a:pt x="167042" y="330544"/>
                  <a:pt x="167042" y="328930"/>
                </a:cubicBezTo>
                <a:lnTo>
                  <a:pt x="167042" y="302838"/>
                </a:lnTo>
                <a:cubicBezTo>
                  <a:pt x="167042" y="300686"/>
                  <a:pt x="169463" y="299072"/>
                  <a:pt x="171346" y="300417"/>
                </a:cubicBezTo>
                <a:close/>
                <a:moveTo>
                  <a:pt x="189369" y="268945"/>
                </a:moveTo>
                <a:lnTo>
                  <a:pt x="211964" y="281856"/>
                </a:lnTo>
                <a:cubicBezTo>
                  <a:pt x="213309" y="282663"/>
                  <a:pt x="214923" y="282663"/>
                  <a:pt x="216268" y="281856"/>
                </a:cubicBezTo>
                <a:lnTo>
                  <a:pt x="238863" y="268945"/>
                </a:lnTo>
                <a:cubicBezTo>
                  <a:pt x="240746" y="267869"/>
                  <a:pt x="240746" y="265179"/>
                  <a:pt x="238863" y="264103"/>
                </a:cubicBezTo>
                <a:lnTo>
                  <a:pt x="216268" y="251192"/>
                </a:lnTo>
                <a:cubicBezTo>
                  <a:pt x="214923" y="250385"/>
                  <a:pt x="213309" y="250385"/>
                  <a:pt x="211964" y="251192"/>
                </a:cubicBezTo>
                <a:lnTo>
                  <a:pt x="189369" y="264103"/>
                </a:lnTo>
                <a:cubicBezTo>
                  <a:pt x="187486" y="265179"/>
                  <a:pt x="187486" y="267869"/>
                  <a:pt x="189369" y="268945"/>
                </a:cubicBezTo>
                <a:close/>
                <a:moveTo>
                  <a:pt x="107865" y="263565"/>
                </a:moveTo>
                <a:lnTo>
                  <a:pt x="57295" y="234245"/>
                </a:lnTo>
                <a:cubicBezTo>
                  <a:pt x="55681" y="233438"/>
                  <a:pt x="54067" y="233438"/>
                  <a:pt x="52453" y="234245"/>
                </a:cubicBezTo>
                <a:lnTo>
                  <a:pt x="1614" y="263565"/>
                </a:lnTo>
                <a:cubicBezTo>
                  <a:pt x="-538" y="264910"/>
                  <a:pt x="-538" y="267869"/>
                  <a:pt x="1614" y="269214"/>
                </a:cubicBezTo>
                <a:lnTo>
                  <a:pt x="52184" y="298534"/>
                </a:lnTo>
                <a:cubicBezTo>
                  <a:pt x="53798" y="299341"/>
                  <a:pt x="55412" y="299341"/>
                  <a:pt x="57026" y="298534"/>
                </a:cubicBezTo>
                <a:lnTo>
                  <a:pt x="107596" y="269214"/>
                </a:lnTo>
                <a:cubicBezTo>
                  <a:pt x="110017" y="268138"/>
                  <a:pt x="110017" y="264910"/>
                  <a:pt x="107865" y="263565"/>
                </a:cubicBezTo>
                <a:close/>
                <a:moveTo>
                  <a:pt x="127501" y="299610"/>
                </a:moveTo>
                <a:lnTo>
                  <a:pt x="93608" y="318977"/>
                </a:lnTo>
                <a:cubicBezTo>
                  <a:pt x="92532" y="319515"/>
                  <a:pt x="91994" y="320591"/>
                  <a:pt x="91994" y="321667"/>
                </a:cubicBezTo>
                <a:lnTo>
                  <a:pt x="91994" y="360670"/>
                </a:lnTo>
                <a:cubicBezTo>
                  <a:pt x="91994" y="362284"/>
                  <a:pt x="93877" y="363360"/>
                  <a:pt x="95222" y="362553"/>
                </a:cubicBezTo>
                <a:lnTo>
                  <a:pt x="129115" y="343186"/>
                </a:lnTo>
                <a:cubicBezTo>
                  <a:pt x="130191" y="342648"/>
                  <a:pt x="130729" y="341572"/>
                  <a:pt x="130729" y="340496"/>
                </a:cubicBezTo>
                <a:lnTo>
                  <a:pt x="130729" y="301493"/>
                </a:lnTo>
                <a:cubicBezTo>
                  <a:pt x="130729" y="299879"/>
                  <a:pt x="128846" y="298803"/>
                  <a:pt x="127501" y="299610"/>
                </a:cubicBezTo>
                <a:close/>
                <a:moveTo>
                  <a:pt x="294544" y="1032"/>
                </a:moveTo>
                <a:lnTo>
                  <a:pt x="172960" y="71238"/>
                </a:lnTo>
                <a:cubicBezTo>
                  <a:pt x="169463" y="73390"/>
                  <a:pt x="167042" y="77156"/>
                  <a:pt x="167042" y="81190"/>
                </a:cubicBezTo>
                <a:lnTo>
                  <a:pt x="167042" y="221603"/>
                </a:lnTo>
                <a:cubicBezTo>
                  <a:pt x="167042" y="227521"/>
                  <a:pt x="173498" y="231286"/>
                  <a:pt x="178878" y="228328"/>
                </a:cubicBezTo>
                <a:lnTo>
                  <a:pt x="300461" y="158121"/>
                </a:lnTo>
                <a:cubicBezTo>
                  <a:pt x="303958" y="155969"/>
                  <a:pt x="306110" y="152204"/>
                  <a:pt x="306110" y="148169"/>
                </a:cubicBezTo>
                <a:lnTo>
                  <a:pt x="306110" y="7756"/>
                </a:lnTo>
                <a:cubicBezTo>
                  <a:pt x="306110" y="1839"/>
                  <a:pt x="299654" y="-1927"/>
                  <a:pt x="294544" y="1032"/>
                </a:cubicBezTo>
                <a:close/>
                <a:moveTo>
                  <a:pt x="34162" y="77156"/>
                </a:moveTo>
                <a:lnTo>
                  <a:pt x="34162" y="174799"/>
                </a:lnTo>
                <a:cubicBezTo>
                  <a:pt x="34162" y="177758"/>
                  <a:pt x="35507" y="180447"/>
                  <a:pt x="38197" y="181792"/>
                </a:cubicBezTo>
                <a:lnTo>
                  <a:pt x="122659" y="230479"/>
                </a:lnTo>
                <a:cubicBezTo>
                  <a:pt x="126156" y="232631"/>
                  <a:pt x="130729" y="229941"/>
                  <a:pt x="130729" y="225907"/>
                </a:cubicBezTo>
                <a:lnTo>
                  <a:pt x="130729" y="128264"/>
                </a:lnTo>
                <a:cubicBezTo>
                  <a:pt x="130729" y="125305"/>
                  <a:pt x="129115" y="122615"/>
                  <a:pt x="126694" y="121270"/>
                </a:cubicBezTo>
                <a:lnTo>
                  <a:pt x="42231" y="72583"/>
                </a:lnTo>
                <a:cubicBezTo>
                  <a:pt x="38466" y="70431"/>
                  <a:pt x="34162" y="73121"/>
                  <a:pt x="34162" y="77156"/>
                </a:cubicBezTo>
                <a:close/>
              </a:path>
            </a:pathLst>
          </a:custGeom>
          <a:solidFill>
            <a:srgbClr val="FF1243"/>
          </a:solidFill>
          <a:ln w="2684" cap="flat">
            <a:noFill/>
            <a:prstDash val="solid"/>
            <a:miter/>
          </a:ln>
        </p:spPr>
        <p:txBody>
          <a:bodyPr rtlCol="0" anchor="ctr"/>
          <a:lstStyle/>
          <a:p>
            <a:endParaRPr lang="nb-NO"/>
          </a:p>
        </p:txBody>
      </p:sp>
      <p:graphicFrame>
        <p:nvGraphicFramePr>
          <p:cNvPr id="26" name="Table 25">
            <a:extLst>
              <a:ext uri="{FF2B5EF4-FFF2-40B4-BE49-F238E27FC236}">
                <a16:creationId xmlns:a16="http://schemas.microsoft.com/office/drawing/2014/main" id="{32598C14-D2C6-7ED6-E763-76F034E52550}"/>
              </a:ext>
            </a:extLst>
          </p:cNvPr>
          <p:cNvGraphicFramePr>
            <a:graphicFrameLocks noGrp="1"/>
          </p:cNvGraphicFramePr>
          <p:nvPr userDrawn="1">
            <p:extLst>
              <p:ext uri="{D42A27DB-BD31-4B8C-83A1-F6EECF244321}">
                <p14:modId xmlns:p14="http://schemas.microsoft.com/office/powerpoint/2010/main" val="1590297876"/>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1161360054"/>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4" r:id="rId3"/>
    <p:sldLayoutId id="2147483676" r:id="rId4"/>
    <p:sldLayoutId id="2147483667" r:id="rId5"/>
    <p:sldLayoutId id="2147483660" r:id="rId6"/>
    <p:sldLayoutId id="2147483661" r:id="rId7"/>
    <p:sldLayoutId id="2147483683" r:id="rId8"/>
    <p:sldLayoutId id="2147483684" r:id="rId9"/>
    <p:sldLayoutId id="2147483699" r:id="rId10"/>
    <p:sldLayoutId id="2147483700" r:id="rId11"/>
    <p:sldLayoutId id="2147483650" r:id="rId12"/>
    <p:sldLayoutId id="2147483652" r:id="rId13"/>
    <p:sldLayoutId id="2147483668" r:id="rId14"/>
    <p:sldLayoutId id="2147483673" r:id="rId15"/>
    <p:sldLayoutId id="2147483679" r:id="rId16"/>
    <p:sldLayoutId id="2147483669" r:id="rId17"/>
    <p:sldLayoutId id="2147483678" r:id="rId18"/>
    <p:sldLayoutId id="2147483656" r:id="rId19"/>
    <p:sldLayoutId id="2147483695" r:id="rId20"/>
    <p:sldLayoutId id="2147483688" r:id="rId21"/>
    <p:sldLayoutId id="2147483690" r:id="rId22"/>
    <p:sldLayoutId id="2147483698" r:id="rId23"/>
    <p:sldLayoutId id="2147483692" r:id="rId24"/>
    <p:sldLayoutId id="2147483689" r:id="rId25"/>
    <p:sldLayoutId id="2147483691" r:id="rId26"/>
    <p:sldLayoutId id="2147483694" r:id="rId27"/>
    <p:sldLayoutId id="2147483680" r:id="rId28"/>
    <p:sldLayoutId id="2147483693" r:id="rId29"/>
    <p:sldLayoutId id="2147483697" r:id="rId30"/>
    <p:sldLayoutId id="2147483677" r:id="rId31"/>
    <p:sldLayoutId id="2147483657" r:id="rId32"/>
    <p:sldLayoutId id="2147483681" r:id="rId33"/>
    <p:sldLayoutId id="2147483682" r:id="rId34"/>
    <p:sldLayoutId id="2147483687" r:id="rId35"/>
    <p:sldLayoutId id="2147483685" r:id="rId36"/>
    <p:sldLayoutId id="2147483686" r:id="rId37"/>
    <p:sldLayoutId id="2147483654" r:id="rId38"/>
    <p:sldLayoutId id="2147483655" r:id="rId39"/>
    <p:sldLayoutId id="2147483671" r:id="rId40"/>
    <p:sldLayoutId id="2147483674" r:id="rId41"/>
    <p:sldLayoutId id="2147483703" r:id="rId42"/>
  </p:sldLayoutIdLst>
  <p:hf hdr="0" ftr="0" dt="0"/>
  <p:txStyles>
    <p:titleStyle>
      <a:lvl1pPr algn="l" defTabSz="914400" rtl="0" eaLnBrk="1" latinLnBrk="0" hangingPunct="1">
        <a:lnSpc>
          <a:spcPct val="100000"/>
        </a:lnSpc>
        <a:spcBef>
          <a:spcPct val="0"/>
        </a:spcBef>
        <a:buNone/>
        <a:defRPr sz="2400" kern="1200">
          <a:solidFill>
            <a:srgbClr val="243746"/>
          </a:solidFill>
          <a:latin typeface="Equinor Light" panose="020B0303050302040203" pitchFamily="34" charset="0"/>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4" orient="horz" pos="2840" userDrawn="1">
          <p15:clr>
            <a:srgbClr val="F26B43"/>
          </p15:clr>
        </p15:guide>
        <p15:guide id="6" orient="horz" pos="2954" userDrawn="1">
          <p15:clr>
            <a:srgbClr val="F26B43"/>
          </p15:clr>
        </p15:guide>
        <p15:guide id="8" orient="horz" pos="3067" userDrawn="1">
          <p15:clr>
            <a:srgbClr val="F26B43"/>
          </p15:clr>
        </p15:guide>
        <p15:guide id="10" orient="horz" pos="3180" userDrawn="1">
          <p15:clr>
            <a:srgbClr val="F26B43"/>
          </p15:clr>
        </p15:guide>
        <p15:guide id="14" orient="horz" pos="3294" userDrawn="1">
          <p15:clr>
            <a:srgbClr val="F26B43"/>
          </p15:clr>
        </p15:guide>
        <p15:guide id="18" orient="horz" pos="3521" userDrawn="1">
          <p15:clr>
            <a:srgbClr val="F26B43"/>
          </p15:clr>
        </p15:guide>
        <p15:guide id="20" orient="horz" pos="3634" userDrawn="1">
          <p15:clr>
            <a:srgbClr val="F26B43"/>
          </p15:clr>
        </p15:guide>
        <p15:guide id="21" orient="horz" pos="3747" userDrawn="1">
          <p15:clr>
            <a:srgbClr val="F26B43"/>
          </p15:clr>
        </p15:guide>
        <p15:guide id="22" pos="6675" userDrawn="1">
          <p15:clr>
            <a:srgbClr val="F26B43"/>
          </p15:clr>
        </p15:guide>
        <p15:guide id="24" pos="6108" userDrawn="1">
          <p15:clr>
            <a:srgbClr val="F26B43"/>
          </p15:clr>
        </p15:guide>
        <p15:guide id="26" pos="5541" userDrawn="1">
          <p15:clr>
            <a:srgbClr val="F26B43"/>
          </p15:clr>
        </p15:guide>
        <p15:guide id="28" pos="4974" userDrawn="1">
          <p15:clr>
            <a:srgbClr val="F26B43"/>
          </p15:clr>
        </p15:guide>
        <p15:guide id="30" pos="4407" userDrawn="1">
          <p15:clr>
            <a:srgbClr val="F26B43"/>
          </p15:clr>
        </p15:guide>
        <p15:guide id="32" pos="3840" userDrawn="1">
          <p15:clr>
            <a:srgbClr val="F26B43"/>
          </p15:clr>
        </p15:guide>
        <p15:guide id="34" pos="3727" userDrawn="1">
          <p15:clr>
            <a:srgbClr val="F26B43"/>
          </p15:clr>
        </p15:guide>
        <p15:guide id="36" pos="2706" userDrawn="1">
          <p15:clr>
            <a:srgbClr val="F26B43"/>
          </p15:clr>
        </p15:guide>
        <p15:guide id="38" pos="2139" userDrawn="1">
          <p15:clr>
            <a:srgbClr val="F26B43"/>
          </p15:clr>
        </p15:guide>
        <p15:guide id="40" pos="1572" userDrawn="1">
          <p15:clr>
            <a:srgbClr val="F26B43"/>
          </p15:clr>
        </p15:guide>
        <p15:guide id="42" pos="1005" userDrawn="1">
          <p15:clr>
            <a:srgbClr val="F26B43"/>
          </p15:clr>
        </p15:guide>
        <p15:guide id="43" orient="horz" pos="3861" userDrawn="1">
          <p15:clr>
            <a:srgbClr val="F26B43"/>
          </p15:clr>
        </p15:guide>
        <p15:guide id="44" orient="horz" pos="3974" userDrawn="1">
          <p15:clr>
            <a:srgbClr val="F26B43"/>
          </p15:clr>
        </p15:guide>
        <p15:guide id="45" pos="3613" userDrawn="1">
          <p15:clr>
            <a:srgbClr val="F26B43"/>
          </p15:clr>
        </p15:guide>
        <p15:guide id="46" pos="3500" userDrawn="1">
          <p15:clr>
            <a:srgbClr val="F26B43"/>
          </p15:clr>
        </p15:guide>
        <p15:guide id="47" pos="3386" userDrawn="1">
          <p15:clr>
            <a:srgbClr val="F26B43"/>
          </p15:clr>
        </p15:guide>
        <p15:guide id="48" pos="3273" userDrawn="1">
          <p15:clr>
            <a:srgbClr val="F26B43"/>
          </p15:clr>
        </p15:guide>
        <p15:guide id="49" pos="3160" userDrawn="1">
          <p15:clr>
            <a:srgbClr val="F26B43"/>
          </p15:clr>
        </p15:guide>
        <p15:guide id="50" pos="3047" userDrawn="1">
          <p15:clr>
            <a:srgbClr val="F26B43"/>
          </p15:clr>
        </p15:guide>
        <p15:guide id="51" pos="2933" userDrawn="1">
          <p15:clr>
            <a:srgbClr val="F26B43"/>
          </p15:clr>
        </p15:guide>
        <p15:guide id="52" pos="2820" userDrawn="1">
          <p15:clr>
            <a:srgbClr val="F26B43"/>
          </p15:clr>
        </p15:guide>
        <p15:guide id="53" pos="2592" userDrawn="1">
          <p15:clr>
            <a:srgbClr val="F26B43"/>
          </p15:clr>
        </p15:guide>
        <p15:guide id="54" pos="2479" userDrawn="1">
          <p15:clr>
            <a:srgbClr val="F26B43"/>
          </p15:clr>
        </p15:guide>
        <p15:guide id="55" pos="2366" userDrawn="1">
          <p15:clr>
            <a:srgbClr val="F26B43"/>
          </p15:clr>
        </p15:guide>
        <p15:guide id="56" pos="2253" userDrawn="1">
          <p15:clr>
            <a:srgbClr val="F26B43"/>
          </p15:clr>
        </p15:guide>
        <p15:guide id="57" pos="2026" userDrawn="1">
          <p15:clr>
            <a:srgbClr val="F26B43"/>
          </p15:clr>
        </p15:guide>
        <p15:guide id="58" pos="1912" userDrawn="1">
          <p15:clr>
            <a:srgbClr val="F26B43"/>
          </p15:clr>
        </p15:guide>
        <p15:guide id="59" pos="1799" userDrawn="1">
          <p15:clr>
            <a:srgbClr val="F26B43"/>
          </p15:clr>
        </p15:guide>
        <p15:guide id="60" pos="1686" userDrawn="1">
          <p15:clr>
            <a:srgbClr val="F26B43"/>
          </p15:clr>
        </p15:guide>
        <p15:guide id="61" pos="1459" userDrawn="1">
          <p15:clr>
            <a:srgbClr val="F26B43"/>
          </p15:clr>
        </p15:guide>
        <p15:guide id="62" pos="1346" userDrawn="1">
          <p15:clr>
            <a:srgbClr val="F26B43"/>
          </p15:clr>
        </p15:guide>
        <p15:guide id="63" pos="1232" userDrawn="1">
          <p15:clr>
            <a:srgbClr val="F26B43"/>
          </p15:clr>
        </p15:guide>
        <p15:guide id="64" pos="1119" userDrawn="1">
          <p15:clr>
            <a:srgbClr val="F26B43"/>
          </p15:clr>
        </p15:guide>
        <p15:guide id="65" pos="892" userDrawn="1">
          <p15:clr>
            <a:srgbClr val="F26B43"/>
          </p15:clr>
        </p15:guide>
        <p15:guide id="66" pos="779" userDrawn="1">
          <p15:clr>
            <a:srgbClr val="F26B43"/>
          </p15:clr>
        </p15:guide>
        <p15:guide id="67" pos="665" userDrawn="1">
          <p15:clr>
            <a:srgbClr val="F26B43"/>
          </p15:clr>
        </p15:guide>
        <p15:guide id="68" pos="552" userDrawn="1">
          <p15:clr>
            <a:srgbClr val="F26B43"/>
          </p15:clr>
        </p15:guide>
        <p15:guide id="70" pos="3953" userDrawn="1">
          <p15:clr>
            <a:srgbClr val="F26B43"/>
          </p15:clr>
        </p15:guide>
        <p15:guide id="71" pos="4180" userDrawn="1">
          <p15:clr>
            <a:srgbClr val="F26B43"/>
          </p15:clr>
        </p15:guide>
        <p15:guide id="72" pos="4294" userDrawn="1">
          <p15:clr>
            <a:srgbClr val="F26B43"/>
          </p15:clr>
        </p15:guide>
        <p15:guide id="73" pos="4520" userDrawn="1">
          <p15:clr>
            <a:srgbClr val="F26B43"/>
          </p15:clr>
        </p15:guide>
        <p15:guide id="74" pos="4634" userDrawn="1">
          <p15:clr>
            <a:srgbClr val="F26B43"/>
          </p15:clr>
        </p15:guide>
        <p15:guide id="75" pos="4747" userDrawn="1">
          <p15:clr>
            <a:srgbClr val="F26B43"/>
          </p15:clr>
        </p15:guide>
        <p15:guide id="76" pos="4860" userDrawn="1">
          <p15:clr>
            <a:srgbClr val="F26B43"/>
          </p15:clr>
        </p15:guide>
        <p15:guide id="77" pos="5087" userDrawn="1">
          <p15:clr>
            <a:srgbClr val="F26B43"/>
          </p15:clr>
        </p15:guide>
        <p15:guide id="78" pos="5201" userDrawn="1">
          <p15:clr>
            <a:srgbClr val="F26B43"/>
          </p15:clr>
        </p15:guide>
        <p15:guide id="79" pos="5314" userDrawn="1">
          <p15:clr>
            <a:srgbClr val="F26B43"/>
          </p15:clr>
        </p15:guide>
        <p15:guide id="80" pos="5427" userDrawn="1">
          <p15:clr>
            <a:srgbClr val="F26B43"/>
          </p15:clr>
        </p15:guide>
        <p15:guide id="81" pos="5654" userDrawn="1">
          <p15:clr>
            <a:srgbClr val="F26B43"/>
          </p15:clr>
        </p15:guide>
        <p15:guide id="82" pos="5768" userDrawn="1">
          <p15:clr>
            <a:srgbClr val="F26B43"/>
          </p15:clr>
        </p15:guide>
        <p15:guide id="83" pos="5881" userDrawn="1">
          <p15:clr>
            <a:srgbClr val="F26B43"/>
          </p15:clr>
        </p15:guide>
        <p15:guide id="84" pos="5994" userDrawn="1">
          <p15:clr>
            <a:srgbClr val="F26B43"/>
          </p15:clr>
        </p15:guide>
        <p15:guide id="85" pos="6221" userDrawn="1">
          <p15:clr>
            <a:srgbClr val="F26B43"/>
          </p15:clr>
        </p15:guide>
        <p15:guide id="86" pos="6334" userDrawn="1">
          <p15:clr>
            <a:srgbClr val="F26B43"/>
          </p15:clr>
        </p15:guide>
        <p15:guide id="87" pos="6448" userDrawn="1">
          <p15:clr>
            <a:srgbClr val="F26B43"/>
          </p15:clr>
        </p15:guide>
        <p15:guide id="88" pos="6561" userDrawn="1">
          <p15:clr>
            <a:srgbClr val="F26B43"/>
          </p15:clr>
        </p15:guide>
        <p15:guide id="89" pos="6785" userDrawn="1">
          <p15:clr>
            <a:srgbClr val="F26B43"/>
          </p15:clr>
        </p15:guide>
        <p15:guide id="90" pos="6901" userDrawn="1">
          <p15:clr>
            <a:srgbClr val="F26B43"/>
          </p15:clr>
        </p15:guide>
        <p15:guide id="91" pos="7015" userDrawn="1">
          <p15:clr>
            <a:srgbClr val="F26B43"/>
          </p15:clr>
        </p15:guide>
        <p15:guide id="92" pos="7128" userDrawn="1">
          <p15:clr>
            <a:srgbClr val="F26B43"/>
          </p15:clr>
        </p15:guide>
        <p15:guide id="93" orient="horz" pos="459" userDrawn="1">
          <p15:clr>
            <a:srgbClr val="F26B43"/>
          </p15:clr>
        </p15:guide>
        <p15:guide id="94" orient="horz" pos="573" userDrawn="1">
          <p15:clr>
            <a:srgbClr val="F26B43"/>
          </p15:clr>
        </p15:guide>
        <p15:guide id="95" orient="horz" pos="686" userDrawn="1">
          <p15:clr>
            <a:srgbClr val="F26B43"/>
          </p15:clr>
        </p15:guide>
        <p15:guide id="96" orient="horz" pos="799" userDrawn="1">
          <p15:clr>
            <a:srgbClr val="F26B43"/>
          </p15:clr>
        </p15:guide>
        <p15:guide id="97" orient="horz" pos="913" userDrawn="1">
          <p15:clr>
            <a:srgbClr val="F26B43"/>
          </p15:clr>
        </p15:guide>
        <p15:guide id="98" orient="horz" pos="1026" userDrawn="1">
          <p15:clr>
            <a:srgbClr val="F26B43"/>
          </p15:clr>
        </p15:guide>
        <p15:guide id="99" orient="horz" pos="1140" userDrawn="1">
          <p15:clr>
            <a:srgbClr val="F26B43"/>
          </p15:clr>
        </p15:guide>
        <p15:guide id="100" orient="horz" pos="1253" userDrawn="1">
          <p15:clr>
            <a:srgbClr val="F26B43"/>
          </p15:clr>
        </p15:guide>
        <p15:guide id="101" orient="horz" pos="1366" userDrawn="1">
          <p15:clr>
            <a:srgbClr val="F26B43"/>
          </p15:clr>
        </p15:guide>
        <p15:guide id="102" orient="horz" pos="1480" userDrawn="1">
          <p15:clr>
            <a:srgbClr val="F26B43"/>
          </p15:clr>
        </p15:guide>
        <p15:guide id="103" orient="horz" pos="1593" userDrawn="1">
          <p15:clr>
            <a:srgbClr val="F26B43"/>
          </p15:clr>
        </p15:guide>
        <p15:guide id="104" orient="horz" pos="1706" userDrawn="1">
          <p15:clr>
            <a:srgbClr val="F26B43"/>
          </p15:clr>
        </p15:guide>
        <p15:guide id="105" orient="horz" pos="1820" userDrawn="1">
          <p15:clr>
            <a:srgbClr val="F26B43"/>
          </p15:clr>
        </p15:guide>
        <p15:guide id="106" orient="horz" pos="1933" userDrawn="1">
          <p15:clr>
            <a:srgbClr val="F26B43"/>
          </p15:clr>
        </p15:guide>
        <p15:guide id="107" orient="horz" pos="2047" userDrawn="1">
          <p15:clr>
            <a:srgbClr val="F26B43"/>
          </p15:clr>
        </p15:guide>
        <p15:guide id="108" orient="horz" pos="2160" userDrawn="1">
          <p15:clr>
            <a:srgbClr val="F26B43"/>
          </p15:clr>
        </p15:guide>
        <p15:guide id="109" orient="horz" pos="2273" userDrawn="1">
          <p15:clr>
            <a:srgbClr val="F26B43"/>
          </p15:clr>
        </p15:guide>
        <p15:guide id="110" orient="horz" pos="2387" userDrawn="1">
          <p15:clr>
            <a:srgbClr val="F26B43"/>
          </p15:clr>
        </p15:guide>
        <p15:guide id="111" orient="horz" pos="2500" userDrawn="1">
          <p15:clr>
            <a:srgbClr val="F26B43"/>
          </p15:clr>
        </p15:guide>
        <p15:guide id="112" orient="horz" pos="2614" userDrawn="1">
          <p15:clr>
            <a:srgbClr val="F26B43"/>
          </p15:clr>
        </p15:guide>
        <p15:guide id="113" orient="horz" pos="2727" userDrawn="1">
          <p15:clr>
            <a:srgbClr val="F26B43"/>
          </p15:clr>
        </p15:guide>
        <p15:guide id="114" orient="horz" pos="3407" userDrawn="1">
          <p15:clr>
            <a:srgbClr val="F26B43"/>
          </p15:clr>
        </p15:guide>
        <p15:guide id="115" pos="406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90BF16-7070-4A95-9AEF-55DBC958E75E}"/>
              </a:ext>
            </a:extLst>
          </p:cNvPr>
          <p:cNvSpPr txBox="1">
            <a:spLocks/>
          </p:cNvSpPr>
          <p:nvPr userDrawn="1"/>
        </p:nvSpPr>
        <p:spPr>
          <a:xfrm>
            <a:off x="695325" y="811227"/>
            <a:ext cx="10801350" cy="1145313"/>
          </a:xfrm>
          <a:prstGeom prst="rect">
            <a:avLst/>
          </a:prstGeom>
        </p:spPr>
        <p:txBody>
          <a:bodyPr vert="horz" lIns="0" tIns="252000" rIns="0" bIns="144000" rtlCol="0" anchor="t">
            <a:no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0" i="0" u="none" strike="noStrike" kern="1200" cap="none" spc="0" normalizeH="0" baseline="0" noProof="0" dirty="0">
                <a:ln>
                  <a:noFill/>
                </a:ln>
                <a:solidFill>
                  <a:srgbClr val="243746"/>
                </a:solidFill>
                <a:effectLst/>
                <a:uLnTx/>
                <a:uFillTx/>
                <a:latin typeface="+mj-lt"/>
                <a:ea typeface="+mj-ea"/>
                <a:cs typeface="+mj-cs"/>
              </a:rPr>
              <a:t>Embedded fonts</a:t>
            </a:r>
          </a:p>
        </p:txBody>
      </p:sp>
      <p:sp>
        <p:nvSpPr>
          <p:cNvPr id="9" name="TextBox 8">
            <a:extLst>
              <a:ext uri="{FF2B5EF4-FFF2-40B4-BE49-F238E27FC236}">
                <a16:creationId xmlns:a16="http://schemas.microsoft.com/office/drawing/2014/main" id="{B372C405-F956-4F94-95E2-A22E0C6C22EA}"/>
              </a:ext>
            </a:extLst>
          </p:cNvPr>
          <p:cNvSpPr txBox="1"/>
          <p:nvPr userDrawn="1"/>
        </p:nvSpPr>
        <p:spPr>
          <a:xfrm>
            <a:off x="666964" y="1609946"/>
            <a:ext cx="3444240" cy="2523768"/>
          </a:xfrm>
          <a:prstGeom prst="rect">
            <a:avLst/>
          </a:prstGeom>
          <a:noFill/>
        </p:spPr>
        <p:txBody>
          <a:bodyPr wrap="square" rtlCol="0">
            <a:spAutoFit/>
          </a:bodyPr>
          <a:lstStyle/>
          <a:p>
            <a:r>
              <a:rPr lang="en-GB" sz="1400" u="sng" noProof="0" dirty="0">
                <a:solidFill>
                  <a:srgbClr val="243746"/>
                </a:solidFill>
                <a:latin typeface="Equinor Medium" panose="020B0603050302040203" pitchFamily="34" charset="0"/>
              </a:rPr>
              <a:t>Font faces:</a:t>
            </a:r>
            <a:br>
              <a:rPr lang="en-GB" sz="1400" u="sng" noProof="0" dirty="0">
                <a:solidFill>
                  <a:srgbClr val="243746"/>
                </a:solidFill>
                <a:latin typeface="Equinor Medium" panose="020B0603050302040203" pitchFamily="34" charset="0"/>
              </a:rPr>
            </a:br>
            <a:endParaRPr lang="en-GB" sz="1400" u="sng" noProof="0" dirty="0">
              <a:solidFill>
                <a:srgbClr val="243746"/>
              </a:solidFill>
              <a:latin typeface="Equinor Medium" panose="020B0603050302040203" pitchFamily="34" charset="0"/>
            </a:endParaRPr>
          </a:p>
          <a:p>
            <a:r>
              <a:rPr lang="en-GB" sz="1400" noProof="0" dirty="0">
                <a:solidFill>
                  <a:srgbClr val="243746"/>
                </a:solidFill>
                <a:latin typeface="Equinor Light" panose="020B0303050302040203" pitchFamily="34" charset="0"/>
              </a:rPr>
              <a:t>Equinor Light</a:t>
            </a:r>
          </a:p>
          <a:p>
            <a:r>
              <a:rPr lang="en-GB" sz="1400" i="1" noProof="0" dirty="0">
                <a:solidFill>
                  <a:srgbClr val="243746"/>
                </a:solidFill>
                <a:latin typeface="Equinor Light" panose="020B0303050302040203" pitchFamily="34" charset="0"/>
              </a:rPr>
              <a:t>Equinor Light Italic</a:t>
            </a:r>
          </a:p>
          <a:p>
            <a:r>
              <a:rPr lang="en-GB" sz="1400" noProof="0" dirty="0">
                <a:solidFill>
                  <a:srgbClr val="243746"/>
                </a:solidFill>
                <a:latin typeface="Equinor" panose="020B0503050302040203" pitchFamily="34" charset="0"/>
              </a:rPr>
              <a:t>Equinor</a:t>
            </a:r>
            <a:r>
              <a:rPr lang="en-GB" sz="1400" noProof="0" dirty="0">
                <a:solidFill>
                  <a:srgbClr val="243746"/>
                </a:solidFill>
                <a:latin typeface="Equinor Medium" panose="020B0603050302040203" pitchFamily="34" charset="0"/>
              </a:rPr>
              <a:t> </a:t>
            </a:r>
          </a:p>
          <a:p>
            <a:r>
              <a:rPr lang="en-GB" sz="1400" i="1" noProof="0" dirty="0">
                <a:solidFill>
                  <a:srgbClr val="243746"/>
                </a:solidFill>
                <a:latin typeface="Equinor" panose="020B0503050302040203" pitchFamily="34" charset="0"/>
              </a:rPr>
              <a:t>Equinor Italic</a:t>
            </a:r>
          </a:p>
          <a:p>
            <a:r>
              <a:rPr lang="en-GB" sz="1400" noProof="0" dirty="0">
                <a:solidFill>
                  <a:srgbClr val="243746"/>
                </a:solidFill>
                <a:latin typeface="Equinor Medium" panose="020B0603050302040203" pitchFamily="34" charset="0"/>
              </a:rPr>
              <a:t>Equinor Medium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noProof="0" dirty="0">
                <a:solidFill>
                  <a:srgbClr val="243746"/>
                </a:solidFill>
                <a:latin typeface="Equinor Medium" panose="020B0603050302040203" pitchFamily="34" charset="0"/>
              </a:rPr>
              <a:t>Equinor Medium Italic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dirty="0">
                <a:solidFill>
                  <a:srgbClr val="243746"/>
                </a:solidFill>
                <a:latin typeface="Equinor" panose="020B0503050302040203" pitchFamily="34" charset="0"/>
              </a:rPr>
              <a:t>Equinor Bold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i="1" noProof="0" dirty="0">
                <a:solidFill>
                  <a:srgbClr val="243746"/>
                </a:solidFill>
                <a:latin typeface="Equinor" panose="020B0503050302040203" pitchFamily="34" charset="0"/>
              </a:rPr>
              <a:t>Equinor Bold Italic</a:t>
            </a:r>
          </a:p>
          <a:p>
            <a:endParaRPr lang="en-GB" noProof="0" dirty="0">
              <a:solidFill>
                <a:srgbClr val="243746"/>
              </a:solidFill>
              <a:latin typeface="Equinor Medium" panose="020B0603050302040203" pitchFamily="34" charset="0"/>
            </a:endParaRPr>
          </a:p>
        </p:txBody>
      </p:sp>
    </p:spTree>
    <p:extLst>
      <p:ext uri="{BB962C8B-B14F-4D97-AF65-F5344CB8AC3E}">
        <p14:creationId xmlns:p14="http://schemas.microsoft.com/office/powerpoint/2010/main" val="3758912119"/>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equinor/ores/app/demo/json" TargetMode="External"/><Relationship Id="rId2" Type="http://schemas.openxmlformats.org/officeDocument/2006/relationships/hyperlink" Target="https://github.com/equinor/ores/app/demo/py" TargetMode="External"/><Relationship Id="rId1" Type="http://schemas.openxmlformats.org/officeDocument/2006/relationships/slideLayout" Target="../slideLayouts/slideLayout42.xml"/><Relationship Id="rId4" Type="http://schemas.openxmlformats.org/officeDocument/2006/relationships/hyperlink" Target="https://github.com/equinor/ores/app/demo/m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8D5647-12E4-6387-3A68-5BAA2D98215E}"/>
              </a:ext>
            </a:extLst>
          </p:cNvPr>
          <p:cNvSpPr>
            <a:spLocks noGrp="1"/>
          </p:cNvSpPr>
          <p:nvPr>
            <p:ph type="ctrTitle"/>
          </p:nvPr>
        </p:nvSpPr>
        <p:spPr/>
        <p:txBody>
          <a:bodyPr/>
          <a:lstStyle/>
          <a:p>
            <a:br>
              <a:rPr lang="en-US" dirty="0">
                <a:cs typeface="Biome"/>
              </a:rPr>
            </a:br>
            <a:r>
              <a:rPr lang="en-US" dirty="0">
                <a:cs typeface="Biome"/>
              </a:rPr>
              <a:t>DG1-DG2-DG3-DG4:</a:t>
            </a:r>
            <a:br>
              <a:rPr lang="en-US" dirty="0">
                <a:cs typeface="Biome"/>
              </a:rPr>
            </a:br>
            <a:r>
              <a:rPr lang="en-US" dirty="0">
                <a:cs typeface="Biome"/>
              </a:rPr>
              <a:t>“</a:t>
            </a:r>
            <a:r>
              <a:rPr lang="en-US" dirty="0" err="1">
                <a:cs typeface="Biome"/>
              </a:rPr>
              <a:t>BusinessDecision</a:t>
            </a:r>
            <a:r>
              <a:rPr lang="en-US" dirty="0">
                <a:cs typeface="Biome"/>
              </a:rPr>
              <a:t>”</a:t>
            </a:r>
            <a:br>
              <a:rPr lang="en-US" dirty="0">
                <a:cs typeface="Biome"/>
              </a:rPr>
            </a:br>
            <a:r>
              <a:rPr lang="en-US" dirty="0">
                <a:cs typeface="Biome"/>
              </a:rPr>
              <a:t>in OSDU</a:t>
            </a:r>
            <a:br>
              <a:rPr lang="en-US" dirty="0">
                <a:cs typeface="Biome"/>
              </a:rPr>
            </a:br>
            <a:br>
              <a:rPr lang="en-US" dirty="0">
                <a:cs typeface="Biome"/>
              </a:rPr>
            </a:br>
            <a:r>
              <a:rPr lang="en-US" dirty="0">
                <a:cs typeface="Biome"/>
              </a:rPr>
              <a:t>with Demo Grane GRAND</a:t>
            </a:r>
            <a:endParaRPr lang="nb-NO" dirty="0">
              <a:latin typeface="Equinor Light" panose="020B0303050302040203" pitchFamily="34" charset="0"/>
            </a:endParaRPr>
          </a:p>
        </p:txBody>
      </p:sp>
      <p:sp>
        <p:nvSpPr>
          <p:cNvPr id="5" name="Subtitle 4">
            <a:extLst>
              <a:ext uri="{FF2B5EF4-FFF2-40B4-BE49-F238E27FC236}">
                <a16:creationId xmlns:a16="http://schemas.microsoft.com/office/drawing/2014/main" id="{F91E13C9-00D8-1458-0DA2-D233875A5EFE}"/>
              </a:ext>
            </a:extLst>
          </p:cNvPr>
          <p:cNvSpPr>
            <a:spLocks noGrp="1"/>
          </p:cNvSpPr>
          <p:nvPr>
            <p:ph type="subTitle" idx="1"/>
          </p:nvPr>
        </p:nvSpPr>
        <p:spPr/>
        <p:txBody>
          <a:bodyPr/>
          <a:lstStyle/>
          <a:p>
            <a:r>
              <a:rPr lang="nb-NO" dirty="0"/>
              <a:t>maap@equinor.com</a:t>
            </a:r>
          </a:p>
        </p:txBody>
      </p:sp>
      <p:pic>
        <p:nvPicPr>
          <p:cNvPr id="3" name="Picture 2">
            <a:extLst>
              <a:ext uri="{FF2B5EF4-FFF2-40B4-BE49-F238E27FC236}">
                <a16:creationId xmlns:a16="http://schemas.microsoft.com/office/drawing/2014/main" id="{E9DB463C-28A1-71B1-7FF6-F783B7934AE6}"/>
              </a:ext>
            </a:extLst>
          </p:cNvPr>
          <p:cNvPicPr>
            <a:picLocks noChangeAspect="1"/>
          </p:cNvPicPr>
          <p:nvPr/>
        </p:nvPicPr>
        <p:blipFill>
          <a:blip r:embed="rId2">
            <a:alphaModFix/>
          </a:blip>
          <a:stretch>
            <a:fillRect/>
          </a:stretch>
        </p:blipFill>
        <p:spPr>
          <a:xfrm>
            <a:off x="5372100" y="1524000"/>
            <a:ext cx="6702599" cy="3367878"/>
          </a:xfrm>
          <a:prstGeom prst="rect">
            <a:avLst/>
          </a:prstGeom>
        </p:spPr>
      </p:pic>
      <p:pic>
        <p:nvPicPr>
          <p:cNvPr id="6" name="Picture 5">
            <a:extLst>
              <a:ext uri="{FF2B5EF4-FFF2-40B4-BE49-F238E27FC236}">
                <a16:creationId xmlns:a16="http://schemas.microsoft.com/office/drawing/2014/main" id="{42E4CD43-C4AB-C399-68E1-9528559398A0}"/>
              </a:ext>
            </a:extLst>
          </p:cNvPr>
          <p:cNvPicPr>
            <a:picLocks noChangeAspect="1"/>
          </p:cNvPicPr>
          <p:nvPr/>
        </p:nvPicPr>
        <p:blipFill>
          <a:blip r:embed="rId3"/>
          <a:stretch>
            <a:fillRect/>
          </a:stretch>
        </p:blipFill>
        <p:spPr>
          <a:xfrm>
            <a:off x="6810376" y="4475153"/>
            <a:ext cx="7848600" cy="2587641"/>
          </a:xfrm>
          <a:prstGeom prst="rect">
            <a:avLst/>
          </a:prstGeom>
        </p:spPr>
      </p:pic>
    </p:spTree>
    <p:extLst>
      <p:ext uri="{BB962C8B-B14F-4D97-AF65-F5344CB8AC3E}">
        <p14:creationId xmlns:p14="http://schemas.microsoft.com/office/powerpoint/2010/main" val="4007871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2D1C0-5E85-E619-6E06-AF961650FFC8}"/>
              </a:ext>
            </a:extLst>
          </p:cNvPr>
          <p:cNvSpPr>
            <a:spLocks noGrp="1"/>
          </p:cNvSpPr>
          <p:nvPr>
            <p:ph type="title"/>
          </p:nvPr>
        </p:nvSpPr>
        <p:spPr>
          <a:xfrm>
            <a:off x="457200" y="490128"/>
            <a:ext cx="11277599" cy="914400"/>
          </a:xfrm>
        </p:spPr>
        <p:txBody>
          <a:bodyPr anchor="t">
            <a:normAutofit/>
          </a:bodyPr>
          <a:lstStyle/>
          <a:p>
            <a:r>
              <a:rPr lang="en-US" dirty="0"/>
              <a:t>Why OSDU for DG1–DG4 Decision Traceability</a:t>
            </a:r>
          </a:p>
        </p:txBody>
      </p:sp>
      <p:sp>
        <p:nvSpPr>
          <p:cNvPr id="4" name="Content Placeholder 3">
            <a:extLst>
              <a:ext uri="{FF2B5EF4-FFF2-40B4-BE49-F238E27FC236}">
                <a16:creationId xmlns:a16="http://schemas.microsoft.com/office/drawing/2014/main" id="{228CD1D5-2928-46EF-E2F8-4909F51E3DA8}"/>
              </a:ext>
            </a:extLst>
          </p:cNvPr>
          <p:cNvSpPr>
            <a:spLocks noGrp="1"/>
          </p:cNvSpPr>
          <p:nvPr>
            <p:ph idx="1"/>
          </p:nvPr>
        </p:nvSpPr>
        <p:spPr/>
        <p:txBody>
          <a:bodyPr/>
          <a:lstStyle/>
          <a:p>
            <a:pPr marL="0" indent="0" fontAlgn="ctr">
              <a:buNone/>
            </a:pPr>
            <a:r>
              <a:rPr lang="en-US" b="1" dirty="0"/>
              <a:t>Performance Tracking</a:t>
            </a:r>
            <a:endParaRPr lang="en-US" dirty="0"/>
          </a:p>
          <a:p>
            <a:pPr fontAlgn="ctr"/>
            <a:r>
              <a:rPr lang="en-US" dirty="0"/>
              <a:t>Compare volumetric estimates across DG1–DG4 and attribute changes to input parameters. </a:t>
            </a:r>
            <a:r>
              <a:rPr lang="en-US" i="1" dirty="0"/>
              <a:t>What</a:t>
            </a:r>
            <a:r>
              <a:rPr lang="en-US" dirty="0"/>
              <a:t> changed between DG?</a:t>
            </a:r>
          </a:p>
          <a:p>
            <a:pPr marL="0" indent="0" fontAlgn="ctr">
              <a:buNone/>
            </a:pPr>
            <a:endParaRPr lang="en-US" b="1" dirty="0"/>
          </a:p>
          <a:p>
            <a:pPr marL="0" indent="0" fontAlgn="ctr">
              <a:buNone/>
            </a:pPr>
            <a:r>
              <a:rPr lang="en-US" b="1" dirty="0"/>
              <a:t>Uncertainty Calibration</a:t>
            </a:r>
            <a:endParaRPr lang="en-US" dirty="0"/>
          </a:p>
          <a:p>
            <a:pPr fontAlgn="ctr"/>
            <a:r>
              <a:rPr lang="en-US" dirty="0"/>
              <a:t>Use outputs to discover data relationships; refine input distributions for improved future field development decisions. </a:t>
            </a:r>
            <a:r>
              <a:rPr lang="en-US" i="1" dirty="0"/>
              <a:t>Why</a:t>
            </a:r>
            <a:r>
              <a:rPr lang="en-US" dirty="0"/>
              <a:t> changes between DG?</a:t>
            </a:r>
          </a:p>
          <a:p>
            <a:pPr marL="0" indent="0" fontAlgn="ctr">
              <a:buNone/>
            </a:pPr>
            <a:endParaRPr lang="en-US" b="1" dirty="0"/>
          </a:p>
          <a:p>
            <a:pPr marL="0" indent="0" fontAlgn="ctr">
              <a:buNone/>
            </a:pPr>
            <a:r>
              <a:rPr lang="en-US" b="1" dirty="0"/>
              <a:t>Risk Governance</a:t>
            </a:r>
            <a:endParaRPr lang="en-US" dirty="0"/>
          </a:p>
          <a:p>
            <a:pPr fontAlgn="ctr"/>
            <a:r>
              <a:rPr lang="en-US" dirty="0"/>
              <a:t>Link risks and mitigations to decisions for audit readiness. </a:t>
            </a:r>
          </a:p>
          <a:p>
            <a:pPr marL="0" indent="0" fontAlgn="ctr">
              <a:buNone/>
            </a:pPr>
            <a:endParaRPr lang="en-US" b="1" dirty="0"/>
          </a:p>
          <a:p>
            <a:pPr marL="0" indent="0" fontAlgn="ctr">
              <a:buNone/>
            </a:pPr>
            <a:r>
              <a:rPr lang="en-US" b="1" dirty="0"/>
              <a:t>Evidence Consolidation</a:t>
            </a:r>
            <a:endParaRPr lang="en-US" dirty="0"/>
          </a:p>
          <a:p>
            <a:pPr fontAlgn="ctr"/>
            <a:r>
              <a:rPr lang="en-US" dirty="0"/>
              <a:t>Package volumes, design matrices, and assurance documents under </a:t>
            </a:r>
            <a:r>
              <a:rPr lang="en-US" dirty="0" err="1"/>
              <a:t>BusinessDecision</a:t>
            </a:r>
            <a:r>
              <a:rPr lang="en-US" dirty="0"/>
              <a:t>. Allow for rich queries. </a:t>
            </a:r>
          </a:p>
          <a:p>
            <a:endParaRPr lang="en-US" dirty="0"/>
          </a:p>
        </p:txBody>
      </p:sp>
    </p:spTree>
    <p:extLst>
      <p:ext uri="{BB962C8B-B14F-4D97-AF65-F5344CB8AC3E}">
        <p14:creationId xmlns:p14="http://schemas.microsoft.com/office/powerpoint/2010/main" val="28605798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ECC-8941-E096-D9CF-20A3F7A85350}"/>
              </a:ext>
            </a:extLst>
          </p:cNvPr>
          <p:cNvSpPr>
            <a:spLocks noGrp="1"/>
          </p:cNvSpPr>
          <p:nvPr>
            <p:ph type="title"/>
          </p:nvPr>
        </p:nvSpPr>
        <p:spPr/>
        <p:txBody>
          <a:bodyPr/>
          <a:lstStyle/>
          <a:p>
            <a:r>
              <a:rPr lang="en-US" sz="2400" b="1" dirty="0">
                <a:latin typeface="Calibri"/>
                <a:ea typeface="Calibri"/>
                <a:cs typeface="Calibri"/>
              </a:rPr>
              <a:t>Strategy: Bridging the Gap between Decision Gates with OSDU </a:t>
            </a:r>
            <a:r>
              <a:rPr lang="en-US" b="1" dirty="0">
                <a:latin typeface="Calibri"/>
                <a:ea typeface="Calibri"/>
                <a:cs typeface="Calibri"/>
              </a:rPr>
              <a:t>data records</a:t>
            </a:r>
            <a:endParaRPr lang="en-US" dirty="0"/>
          </a:p>
        </p:txBody>
      </p:sp>
      <p:sp>
        <p:nvSpPr>
          <p:cNvPr id="3" name="Content Placeholder 2">
            <a:extLst>
              <a:ext uri="{FF2B5EF4-FFF2-40B4-BE49-F238E27FC236}">
                <a16:creationId xmlns:a16="http://schemas.microsoft.com/office/drawing/2014/main" id="{5F9C4DAC-C8DE-65B6-1A48-5DD3DAE02552}"/>
              </a:ext>
            </a:extLst>
          </p:cNvPr>
          <p:cNvSpPr>
            <a:spLocks noGrp="1"/>
          </p:cNvSpPr>
          <p:nvPr>
            <p:ph idx="1"/>
          </p:nvPr>
        </p:nvSpPr>
        <p:spPr/>
        <p:txBody>
          <a:bodyPr vert="horz" lIns="91440" tIns="45720" rIns="91440" bIns="45720" rtlCol="0" anchor="t">
            <a:normAutofit/>
          </a:bodyPr>
          <a:lstStyle/>
          <a:p>
            <a:pPr marL="0" indent="0">
              <a:lnSpc>
                <a:spcPct val="150000"/>
              </a:lnSpc>
              <a:spcBef>
                <a:spcPts val="0"/>
              </a:spcBef>
              <a:buNone/>
            </a:pPr>
            <a:r>
              <a:rPr lang="en-US" sz="1800" dirty="0">
                <a:latin typeface="Calibri"/>
                <a:ea typeface="Calibri"/>
                <a:cs typeface="Calibri"/>
              </a:rPr>
              <a:t>The Current State: Pre-DG1 volumes/inputs stored in </a:t>
            </a:r>
            <a:r>
              <a:rPr lang="en-US" sz="1800" dirty="0" err="1">
                <a:latin typeface="Calibri"/>
                <a:ea typeface="Calibri"/>
                <a:cs typeface="Calibri"/>
              </a:rPr>
              <a:t>GeoX</a:t>
            </a:r>
            <a:r>
              <a:rPr lang="en-US" sz="1800" dirty="0">
                <a:latin typeface="Calibri"/>
                <a:ea typeface="Calibri"/>
                <a:cs typeface="Calibri"/>
              </a:rPr>
              <a:t>.</a:t>
            </a:r>
            <a:endParaRPr lang="en-US" dirty="0"/>
          </a:p>
          <a:p>
            <a:pPr marL="0" indent="0">
              <a:lnSpc>
                <a:spcPct val="150000"/>
              </a:lnSpc>
              <a:spcBef>
                <a:spcPts val="0"/>
              </a:spcBef>
              <a:buNone/>
            </a:pPr>
            <a:r>
              <a:rPr lang="en-US" sz="1800" dirty="0">
                <a:latin typeface="Calibri"/>
                <a:ea typeface="Calibri"/>
                <a:cs typeface="Calibri"/>
              </a:rPr>
              <a:t>The Issue: No standard method between DG1 and DG4+ leads to data silos, loss of links, no query.</a:t>
            </a:r>
          </a:p>
          <a:p>
            <a:pPr marL="0" indent="0">
              <a:lnSpc>
                <a:spcPct val="150000"/>
              </a:lnSpc>
              <a:spcBef>
                <a:spcPts val="0"/>
              </a:spcBef>
              <a:buNone/>
            </a:pPr>
            <a:r>
              <a:rPr lang="en-US" sz="1800" dirty="0">
                <a:latin typeface="Calibri"/>
                <a:ea typeface="Calibri"/>
                <a:cs typeface="Calibri"/>
              </a:rPr>
              <a:t>The Goal: Implement lossless, formalized input-output provenance through OSDU.</a:t>
            </a:r>
          </a:p>
          <a:p>
            <a:pPr marL="0" indent="0">
              <a:lnSpc>
                <a:spcPct val="150000"/>
              </a:lnSpc>
              <a:spcBef>
                <a:spcPts val="0"/>
              </a:spcBef>
              <a:buNone/>
            </a:pPr>
            <a:r>
              <a:rPr lang="en-US" sz="1800" dirty="0">
                <a:latin typeface="Calibri"/>
                <a:ea typeface="Calibri"/>
                <a:cs typeface="Calibri"/>
              </a:rPr>
              <a:t>Benefit: Facilitates performance tracking and maturation analysis.</a:t>
            </a:r>
          </a:p>
          <a:p>
            <a:pPr marL="0" indent="0">
              <a:lnSpc>
                <a:spcPct val="100000"/>
              </a:lnSpc>
              <a:spcBef>
                <a:spcPts val="0"/>
              </a:spcBef>
              <a:buNone/>
            </a:pPr>
            <a:br>
              <a:rPr lang="en-US" sz="1800" dirty="0">
                <a:latin typeface="Calibri"/>
                <a:ea typeface="Calibri"/>
                <a:cs typeface="Calibri"/>
              </a:rPr>
            </a:br>
            <a:endParaRPr lang="en-US" sz="1800" dirty="0">
              <a:latin typeface="Calibri"/>
              <a:ea typeface="Calibri"/>
              <a:cs typeface="Calibri"/>
            </a:endParaRPr>
          </a:p>
          <a:p>
            <a:pPr algn="ctr">
              <a:lnSpc>
                <a:spcPct val="100000"/>
              </a:lnSpc>
              <a:spcBef>
                <a:spcPts val="0"/>
              </a:spcBef>
            </a:pPr>
            <a:endParaRPr lang="en-GB" sz="1800" dirty="0"/>
          </a:p>
          <a:p>
            <a:endParaRPr lang="en-GB" dirty="0"/>
          </a:p>
        </p:txBody>
      </p:sp>
    </p:spTree>
    <p:extLst>
      <p:ext uri="{BB962C8B-B14F-4D97-AF65-F5344CB8AC3E}">
        <p14:creationId xmlns:p14="http://schemas.microsoft.com/office/powerpoint/2010/main" val="2066202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C11E-23C0-208B-7F2F-A59B76B4B3C8}"/>
              </a:ext>
            </a:extLst>
          </p:cNvPr>
          <p:cNvSpPr>
            <a:spLocks noGrp="1"/>
          </p:cNvSpPr>
          <p:nvPr>
            <p:ph type="title"/>
          </p:nvPr>
        </p:nvSpPr>
        <p:spPr>
          <a:xfrm>
            <a:off x="457200" y="490128"/>
            <a:ext cx="11277599" cy="914400"/>
          </a:xfrm>
        </p:spPr>
        <p:txBody>
          <a:bodyPr anchor="t">
            <a:normAutofit/>
          </a:bodyPr>
          <a:lstStyle/>
          <a:p>
            <a:r>
              <a:rPr lang="en-US" dirty="0"/>
              <a:t>OSDU Uncertainty and volumetric data: building blocks</a:t>
            </a:r>
          </a:p>
        </p:txBody>
      </p:sp>
      <p:sp>
        <p:nvSpPr>
          <p:cNvPr id="4" name="Content Placeholder 3">
            <a:extLst>
              <a:ext uri="{FF2B5EF4-FFF2-40B4-BE49-F238E27FC236}">
                <a16:creationId xmlns:a16="http://schemas.microsoft.com/office/drawing/2014/main" id="{467D4C58-B8E1-1E71-004B-3B729A34CEDC}"/>
              </a:ext>
            </a:extLst>
          </p:cNvPr>
          <p:cNvSpPr>
            <a:spLocks noGrp="1"/>
          </p:cNvSpPr>
          <p:nvPr>
            <p:ph idx="1"/>
          </p:nvPr>
        </p:nvSpPr>
        <p:spPr>
          <a:xfrm>
            <a:off x="460513" y="1600200"/>
            <a:ext cx="11277599" cy="4648200"/>
          </a:xfrm>
        </p:spPr>
        <p:txBody>
          <a:bodyPr>
            <a:noAutofit/>
          </a:bodyPr>
          <a:lstStyle/>
          <a:p>
            <a:pPr marL="0" indent="0">
              <a:buNone/>
            </a:pPr>
            <a:r>
              <a:rPr lang="en-US" sz="1200" b="1" dirty="0"/>
              <a:t>Master‑data (anchors for scope)</a:t>
            </a:r>
          </a:p>
          <a:p>
            <a:r>
              <a:rPr lang="en-US" sz="1200" dirty="0"/>
              <a:t>master-data—Reservoir: reservoir entity of interest.</a:t>
            </a:r>
          </a:p>
          <a:p>
            <a:r>
              <a:rPr lang="en-US" sz="1200" dirty="0"/>
              <a:t>master-data--</a:t>
            </a:r>
            <a:r>
              <a:rPr lang="en-US" sz="1200" dirty="0" err="1"/>
              <a:t>ReservoirSegment</a:t>
            </a:r>
            <a:r>
              <a:rPr lang="en-US" sz="1200" dirty="0"/>
              <a:t> — segments under the reservoir (compartments like fault block, zone, fluid region)</a:t>
            </a:r>
            <a:br>
              <a:rPr lang="en-US" sz="1200" dirty="0"/>
            </a:br>
            <a:r>
              <a:rPr lang="en-US" sz="1200" dirty="0"/>
              <a:t>(WPC are linked by </a:t>
            </a:r>
            <a:r>
              <a:rPr lang="en-US" sz="1200" dirty="0" err="1"/>
              <a:t>ParentObjectID</a:t>
            </a:r>
            <a:r>
              <a:rPr lang="en-US" sz="1200" dirty="0"/>
              <a:t> to Field/Reservoir/</a:t>
            </a:r>
            <a:r>
              <a:rPr lang="en-US" sz="1200" dirty="0" err="1"/>
              <a:t>ReservoirSegment</a:t>
            </a:r>
            <a:r>
              <a:rPr lang="en-US" sz="1200" dirty="0"/>
              <a:t>)</a:t>
            </a:r>
          </a:p>
          <a:p>
            <a:pPr marL="0" indent="0">
              <a:buNone/>
            </a:pPr>
            <a:r>
              <a:rPr lang="en-US" sz="1200" b="1" dirty="0"/>
              <a:t>Reference‑data (governed catalogs)</a:t>
            </a:r>
          </a:p>
          <a:p>
            <a:r>
              <a:rPr lang="en-US" sz="1200" b="1" dirty="0"/>
              <a:t>Units</a:t>
            </a:r>
            <a:r>
              <a:rPr lang="en-US" sz="1200" dirty="0"/>
              <a:t>: reference-data--</a:t>
            </a:r>
            <a:r>
              <a:rPr lang="en-US" sz="1200" dirty="0" err="1"/>
              <a:t>UnitOfMeasure</a:t>
            </a:r>
            <a:r>
              <a:rPr lang="en-US" sz="1200" dirty="0"/>
              <a:t> (e.g., m3, Mm3).</a:t>
            </a:r>
          </a:p>
          <a:p>
            <a:r>
              <a:rPr lang="en-US" sz="1200" b="1" dirty="0"/>
              <a:t>Statistics facets</a:t>
            </a:r>
            <a:r>
              <a:rPr lang="en-US" sz="1200" dirty="0"/>
              <a:t>: reference-data--</a:t>
            </a:r>
            <a:r>
              <a:rPr lang="en-US" sz="1200" dirty="0" err="1"/>
              <a:t>FacetType:statistics</a:t>
            </a:r>
            <a:r>
              <a:rPr lang="en-US" sz="1200" dirty="0"/>
              <a:t>, reference-data--</a:t>
            </a:r>
            <a:r>
              <a:rPr lang="en-US" sz="1200" dirty="0" err="1"/>
              <a:t>FacetRole</a:t>
            </a:r>
            <a:r>
              <a:rPr lang="en-US" sz="1200" dirty="0"/>
              <a:t>: {P10,P50,P90,ArithmeticMean,Minimum,Maximum,StandardDeviation}.</a:t>
            </a:r>
          </a:p>
          <a:p>
            <a:r>
              <a:rPr lang="en-US" sz="1200" b="1" dirty="0"/>
              <a:t>Canonical volume property types</a:t>
            </a:r>
            <a:r>
              <a:rPr lang="en-US" sz="1200" dirty="0"/>
              <a:t>: reference-data--</a:t>
            </a:r>
            <a:r>
              <a:rPr lang="en-US" sz="1200" dirty="0" err="1"/>
              <a:t>ReservoirEstimatedVolumePropertyType</a:t>
            </a:r>
            <a:r>
              <a:rPr lang="en-US" sz="1200" dirty="0"/>
              <a:t>: {</a:t>
            </a:r>
            <a:r>
              <a:rPr lang="en-US" sz="1200" dirty="0" err="1"/>
              <a:t>Bulk,Net,Pore,HydrocarbonPore,Oil,AssociatedGas</a:t>
            </a:r>
            <a:r>
              <a:rPr lang="en-US" sz="1200" dirty="0"/>
              <a:t>}.</a:t>
            </a:r>
          </a:p>
          <a:p>
            <a:pPr marL="0" indent="0">
              <a:buNone/>
            </a:pPr>
            <a:r>
              <a:rPr lang="en-US" sz="1200" b="1" dirty="0"/>
              <a:t>Work‑product components (WPCs)</a:t>
            </a:r>
          </a:p>
          <a:p>
            <a:r>
              <a:rPr lang="en-US" sz="1200" b="1" dirty="0"/>
              <a:t>Design Matrix, Time series etc.</a:t>
            </a:r>
            <a:r>
              <a:rPr lang="en-US" sz="1200" dirty="0"/>
              <a:t> — work-product-component—</a:t>
            </a:r>
            <a:r>
              <a:rPr lang="en-US" sz="1200" dirty="0" err="1"/>
              <a:t>ColumnBasedTable</a:t>
            </a:r>
            <a:r>
              <a:rPr lang="en-US" sz="1200" dirty="0"/>
              <a:t> (generic object in OSDU).</a:t>
            </a:r>
          </a:p>
          <a:p>
            <a:r>
              <a:rPr lang="en-US" sz="1200" b="1" dirty="0"/>
              <a:t>Spatial data</a:t>
            </a:r>
            <a:r>
              <a:rPr lang="en-US" sz="1200" dirty="0"/>
              <a:t> — grids, properties, as WPCs (e.g., </a:t>
            </a:r>
            <a:r>
              <a:rPr lang="en-US" sz="1200" dirty="0" err="1"/>
              <a:t>GenericRepresentation</a:t>
            </a:r>
            <a:r>
              <a:rPr lang="en-US" sz="1200" dirty="0"/>
              <a:t>: STOIIP 2d grid map).</a:t>
            </a:r>
          </a:p>
          <a:p>
            <a:r>
              <a:rPr lang="en-US" sz="1200" b="1" dirty="0"/>
              <a:t>Output volumes</a:t>
            </a:r>
            <a:r>
              <a:rPr lang="en-US" sz="1200" dirty="0"/>
              <a:t> — work-product-component--</a:t>
            </a:r>
            <a:r>
              <a:rPr lang="en-US" sz="1200" dirty="0" err="1"/>
              <a:t>ReservoirEstimatedVolumes</a:t>
            </a:r>
            <a:r>
              <a:rPr lang="en-US" sz="1200" dirty="0"/>
              <a:t>, raw per‑</a:t>
            </a:r>
            <a:r>
              <a:rPr lang="en-US" sz="1200" dirty="0" err="1"/>
              <a:t>realisation</a:t>
            </a:r>
            <a:r>
              <a:rPr lang="en-US" sz="1200" dirty="0"/>
              <a:t> and aggregated statistics</a:t>
            </a:r>
            <a:endParaRPr lang="en-US" sz="1200" b="1" dirty="0"/>
          </a:p>
          <a:p>
            <a:pPr marL="0" indent="0">
              <a:buNone/>
            </a:pPr>
            <a:r>
              <a:rPr lang="en-US" sz="1200" b="1" dirty="0"/>
              <a:t>Collections for scenarios/cases</a:t>
            </a:r>
          </a:p>
          <a:p>
            <a:r>
              <a:rPr lang="en-US" sz="1200" b="1" dirty="0" err="1"/>
              <a:t>WorkProduct</a:t>
            </a:r>
            <a:r>
              <a:rPr lang="en-US" sz="1200" dirty="0"/>
              <a:t> — covering versioned package: yearly revisions, PUD, DG … (design/input, Activities, outputs).</a:t>
            </a:r>
          </a:p>
          <a:p>
            <a:r>
              <a:rPr lang="en-US" sz="1200" b="1" dirty="0" err="1"/>
              <a:t>CollaborationProjectCollection</a:t>
            </a:r>
            <a:r>
              <a:rPr lang="en-US" sz="1200" dirty="0"/>
              <a:t> — curated working set while iterating.</a:t>
            </a:r>
          </a:p>
          <a:p>
            <a:pPr marL="0" indent="0">
              <a:buNone/>
            </a:pPr>
            <a:r>
              <a:rPr lang="en-US" sz="1200" b="1" dirty="0"/>
              <a:t>Activity semantics (</a:t>
            </a:r>
            <a:r>
              <a:rPr lang="en-US" sz="1200" b="1" dirty="0" err="1"/>
              <a:t>AbstractProjectActivity</a:t>
            </a:r>
            <a:r>
              <a:rPr lang="en-US" sz="1200" b="1" dirty="0"/>
              <a:t>)</a:t>
            </a:r>
          </a:p>
          <a:p>
            <a:r>
              <a:rPr lang="en-US" sz="1200" dirty="0"/>
              <a:t>Use Parameters[] with </a:t>
            </a:r>
            <a:r>
              <a:rPr lang="en-US" sz="1200" dirty="0" err="1"/>
              <a:t>ParameterRole</a:t>
            </a:r>
            <a:r>
              <a:rPr lang="en-US" sz="1200" dirty="0"/>
              <a:t> = </a:t>
            </a:r>
            <a:r>
              <a:rPr lang="en-US" sz="1200" dirty="0" err="1"/>
              <a:t>input|output|context</a:t>
            </a:r>
            <a:r>
              <a:rPr lang="en-US" sz="1200" dirty="0"/>
              <a:t> and </a:t>
            </a:r>
            <a:r>
              <a:rPr lang="en-US" sz="1200" dirty="0" err="1"/>
              <a:t>ObjectParameterKey</a:t>
            </a:r>
            <a:r>
              <a:rPr lang="en-US" sz="1200" dirty="0"/>
              <a:t> to record run inputs/outputs and context. </a:t>
            </a:r>
          </a:p>
          <a:p>
            <a:endParaRPr lang="en-US" sz="1200" dirty="0"/>
          </a:p>
        </p:txBody>
      </p:sp>
    </p:spTree>
    <p:extLst>
      <p:ext uri="{BB962C8B-B14F-4D97-AF65-F5344CB8AC3E}">
        <p14:creationId xmlns:p14="http://schemas.microsoft.com/office/powerpoint/2010/main" val="411346143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2AF04-BC8C-8CD3-96A0-54EA0EEA2CD8}"/>
              </a:ext>
            </a:extLst>
          </p:cNvPr>
          <p:cNvSpPr>
            <a:spLocks noGrp="1"/>
          </p:cNvSpPr>
          <p:nvPr>
            <p:ph type="title"/>
          </p:nvPr>
        </p:nvSpPr>
        <p:spPr>
          <a:xfrm>
            <a:off x="457200" y="490128"/>
            <a:ext cx="11277599" cy="914400"/>
          </a:xfrm>
        </p:spPr>
        <p:txBody>
          <a:bodyPr anchor="t">
            <a:normAutofit/>
          </a:bodyPr>
          <a:lstStyle/>
          <a:p>
            <a:r>
              <a:rPr lang="en-US" dirty="0"/>
              <a:t>Structure and Role of </a:t>
            </a:r>
            <a:r>
              <a:rPr lang="en-US" dirty="0" err="1"/>
              <a:t>BusinessDecision</a:t>
            </a:r>
          </a:p>
        </p:txBody>
      </p:sp>
      <p:graphicFrame>
        <p:nvGraphicFramePr>
          <p:cNvPr id="5" name="Content Placeholder 4">
            <a:extLst>
              <a:ext uri="{FF2B5EF4-FFF2-40B4-BE49-F238E27FC236}">
                <a16:creationId xmlns:a16="http://schemas.microsoft.com/office/drawing/2014/main" id="{AA98485A-E4FD-44A3-97C8-0B61FB902175}"/>
              </a:ext>
            </a:extLst>
          </p:cNvPr>
          <p:cNvGraphicFramePr>
            <a:graphicFrameLocks noGrp="1"/>
          </p:cNvGraphicFramePr>
          <p:nvPr>
            <p:ph idx="1"/>
            <p:extLst>
              <p:ext uri="{D42A27DB-BD31-4B8C-83A1-F6EECF244321}">
                <p14:modId xmlns:p14="http://schemas.microsoft.com/office/powerpoint/2010/main" val="3120557218"/>
              </p:ext>
            </p:extLst>
          </p:nvPr>
        </p:nvGraphicFramePr>
        <p:xfrm>
          <a:off x="457199" y="3048000"/>
          <a:ext cx="11277598" cy="2953900"/>
        </p:xfrm>
        <a:graphic>
          <a:graphicData uri="http://schemas.openxmlformats.org/drawingml/2006/table">
            <a:tbl>
              <a:tblPr bandRow="1">
                <a:tableStyleId>{35758FB7-9AC5-4552-8A53-C91805E547FA}</a:tableStyleId>
              </a:tblPr>
              <a:tblGrid>
                <a:gridCol w="3519524">
                  <a:extLst>
                    <a:ext uri="{9D8B030D-6E8A-4147-A177-3AD203B41FA5}">
                      <a16:colId xmlns:a16="http://schemas.microsoft.com/office/drawing/2014/main" val="3673223596"/>
                    </a:ext>
                  </a:extLst>
                </a:gridCol>
                <a:gridCol w="7758074">
                  <a:extLst>
                    <a:ext uri="{9D8B030D-6E8A-4147-A177-3AD203B41FA5}">
                      <a16:colId xmlns:a16="http://schemas.microsoft.com/office/drawing/2014/main" val="2585360418"/>
                    </a:ext>
                  </a:extLst>
                </a:gridCol>
              </a:tblGrid>
              <a:tr h="0">
                <a:tc>
                  <a:txBody>
                    <a:bodyPr/>
                    <a:lstStyle/>
                    <a:p>
                      <a:pPr>
                        <a:buNone/>
                      </a:pPr>
                      <a:r>
                        <a:rPr lang="en-US" sz="1400" b="1" cap="none" spc="0" dirty="0" err="1">
                          <a:solidFill>
                            <a:schemeClr val="tx1"/>
                          </a:solidFill>
                        </a:rPr>
                        <a:t>DecisionLevelID</a:t>
                      </a:r>
                    </a:p>
                  </a:txBody>
                  <a:tcPr marL="188710" marR="188710" marT="188710" marB="188710" anchor="ctr"/>
                </a:tc>
                <a:tc>
                  <a:txBody>
                    <a:bodyPr/>
                    <a:lstStyle/>
                    <a:p>
                      <a:pPr>
                        <a:buNone/>
                      </a:pPr>
                      <a:r>
                        <a:rPr lang="en-US" sz="1400" cap="none" spc="0" dirty="0">
                          <a:solidFill>
                            <a:schemeClr val="tx1"/>
                          </a:solidFill>
                        </a:rPr>
                        <a:t>Reference to DG level (DG1–DG4)</a:t>
                      </a:r>
                    </a:p>
                  </a:txBody>
                  <a:tcPr marL="188710" marR="188710" marT="188710" marB="188710" anchor="ctr"/>
                </a:tc>
                <a:extLst>
                  <a:ext uri="{0D108BD9-81ED-4DB2-BD59-A6C34878D82A}">
                    <a16:rowId xmlns:a16="http://schemas.microsoft.com/office/drawing/2014/main" val="3598529289"/>
                  </a:ext>
                </a:extLst>
              </a:tr>
              <a:tr h="0">
                <a:tc>
                  <a:txBody>
                    <a:bodyPr/>
                    <a:lstStyle/>
                    <a:p>
                      <a:pPr>
                        <a:buNone/>
                      </a:pPr>
                      <a:r>
                        <a:rPr lang="en-US" sz="1400" b="1" cap="none" spc="0" dirty="0" err="1">
                          <a:solidFill>
                            <a:schemeClr val="tx1"/>
                          </a:solidFill>
                        </a:rPr>
                        <a:t>ApprovalStatusID</a:t>
                      </a:r>
                    </a:p>
                  </a:txBody>
                  <a:tcPr marL="188710" marR="188710" marT="188710" marB="188710" anchor="ctr"/>
                </a:tc>
                <a:tc>
                  <a:txBody>
                    <a:bodyPr/>
                    <a:lstStyle/>
                    <a:p>
                      <a:pPr>
                        <a:buNone/>
                      </a:pPr>
                      <a:r>
                        <a:rPr lang="en-US" sz="1400" cap="none" spc="0" dirty="0">
                          <a:solidFill>
                            <a:schemeClr val="tx1"/>
                          </a:solidFill>
                        </a:rPr>
                        <a:t>Approved, </a:t>
                      </a:r>
                      <a:r>
                        <a:rPr lang="en-US" sz="1400" cap="none" spc="0" dirty="0" err="1">
                          <a:solidFill>
                            <a:schemeClr val="tx1"/>
                          </a:solidFill>
                        </a:rPr>
                        <a:t>ApprovedWithChanges</a:t>
                      </a:r>
                      <a:r>
                        <a:rPr lang="en-US" sz="1400" cap="none" spc="0" dirty="0">
                          <a:solidFill>
                            <a:schemeClr val="tx1"/>
                          </a:solidFill>
                        </a:rPr>
                        <a:t>, or Rejected</a:t>
                      </a:r>
                    </a:p>
                  </a:txBody>
                  <a:tcPr marL="188710" marR="188710" marT="188710" marB="188710" anchor="ctr"/>
                </a:tc>
                <a:extLst>
                  <a:ext uri="{0D108BD9-81ED-4DB2-BD59-A6C34878D82A}">
                    <a16:rowId xmlns:a16="http://schemas.microsoft.com/office/drawing/2014/main" val="271355914"/>
                  </a:ext>
                </a:extLst>
              </a:tr>
              <a:tr h="0">
                <a:tc>
                  <a:txBody>
                    <a:bodyPr/>
                    <a:lstStyle/>
                    <a:p>
                      <a:pPr>
                        <a:buNone/>
                      </a:pPr>
                      <a:r>
                        <a:rPr lang="en-US" sz="1400" b="1" cap="none" spc="0" dirty="0" err="1">
                          <a:solidFill>
                            <a:schemeClr val="tx1"/>
                          </a:solidFill>
                        </a:rPr>
                        <a:t>RiskIDs</a:t>
                      </a:r>
                    </a:p>
                  </a:txBody>
                  <a:tcPr marL="188710" marR="188710" marT="188710" marB="188710" anchor="ctr"/>
                </a:tc>
                <a:tc>
                  <a:txBody>
                    <a:bodyPr/>
                    <a:lstStyle/>
                    <a:p>
                      <a:pPr>
                        <a:buNone/>
                      </a:pPr>
                      <a:r>
                        <a:rPr lang="en-US" sz="1400" cap="none" spc="0" dirty="0">
                          <a:solidFill>
                            <a:schemeClr val="tx1"/>
                          </a:solidFill>
                        </a:rPr>
                        <a:t>List of linked Risk records</a:t>
                      </a:r>
                    </a:p>
                  </a:txBody>
                  <a:tcPr marL="188710" marR="188710" marT="188710" marB="188710" anchor="ctr"/>
                </a:tc>
                <a:extLst>
                  <a:ext uri="{0D108BD9-81ED-4DB2-BD59-A6C34878D82A}">
                    <a16:rowId xmlns:a16="http://schemas.microsoft.com/office/drawing/2014/main" val="3853027099"/>
                  </a:ext>
                </a:extLst>
              </a:tr>
              <a:tr h="0">
                <a:tc>
                  <a:txBody>
                    <a:bodyPr/>
                    <a:lstStyle/>
                    <a:p>
                      <a:pPr>
                        <a:buNone/>
                      </a:pPr>
                      <a:r>
                        <a:rPr lang="en-US" sz="1400" b="1" cap="none" spc="0" dirty="0" err="1">
                          <a:solidFill>
                            <a:schemeClr val="tx1"/>
                          </a:solidFill>
                        </a:rPr>
                        <a:t>PriorActivityIDs</a:t>
                      </a:r>
                    </a:p>
                  </a:txBody>
                  <a:tcPr marL="188710" marR="188710" marT="188710" marB="188710" anchor="ctr"/>
                </a:tc>
                <a:tc>
                  <a:txBody>
                    <a:bodyPr/>
                    <a:lstStyle/>
                    <a:p>
                      <a:pPr>
                        <a:buNone/>
                      </a:pPr>
                      <a:r>
                        <a:rPr lang="en-US" sz="1400" cap="none" spc="0" dirty="0">
                          <a:solidFill>
                            <a:schemeClr val="tx1"/>
                          </a:solidFill>
                        </a:rPr>
                        <a:t>Anchor to primary evidence artefact (e.g., volume stats)</a:t>
                      </a:r>
                    </a:p>
                  </a:txBody>
                  <a:tcPr marL="188710" marR="188710" marT="188710" marB="188710" anchor="ctr"/>
                </a:tc>
                <a:extLst>
                  <a:ext uri="{0D108BD9-81ED-4DB2-BD59-A6C34878D82A}">
                    <a16:rowId xmlns:a16="http://schemas.microsoft.com/office/drawing/2014/main" val="2695663594"/>
                  </a:ext>
                </a:extLst>
              </a:tr>
              <a:tr h="0">
                <a:tc>
                  <a:txBody>
                    <a:bodyPr/>
                    <a:lstStyle/>
                    <a:p>
                      <a:pPr>
                        <a:buNone/>
                      </a:pPr>
                      <a:r>
                        <a:rPr lang="en-US" sz="1400" b="1" cap="none" spc="0" dirty="0">
                          <a:solidFill>
                            <a:schemeClr val="tx1"/>
                          </a:solidFill>
                        </a:rPr>
                        <a:t>Parameters[]</a:t>
                      </a:r>
                    </a:p>
                  </a:txBody>
                  <a:tcPr marL="188710" marR="188710" marT="188710" marB="188710" anchor="ctr"/>
                </a:tc>
                <a:tc>
                  <a:txBody>
                    <a:bodyPr/>
                    <a:lstStyle/>
                    <a:p>
                      <a:pPr>
                        <a:buNone/>
                      </a:pPr>
                      <a:r>
                        <a:rPr lang="en-US" sz="1400" cap="none" spc="0" dirty="0">
                          <a:solidFill>
                            <a:schemeClr val="tx1"/>
                          </a:solidFill>
                        </a:rPr>
                        <a:t>Detailed provenance of inputs and context</a:t>
                      </a:r>
                    </a:p>
                  </a:txBody>
                  <a:tcPr marL="188710" marR="188710" marT="188710" marB="188710" anchor="ctr"/>
                </a:tc>
                <a:extLst>
                  <a:ext uri="{0D108BD9-81ED-4DB2-BD59-A6C34878D82A}">
                    <a16:rowId xmlns:a16="http://schemas.microsoft.com/office/drawing/2014/main" val="655460358"/>
                  </a:ext>
                </a:extLst>
              </a:tr>
            </a:tbl>
          </a:graphicData>
        </a:graphic>
      </p:graphicFrame>
    </p:spTree>
    <p:extLst>
      <p:ext uri="{BB962C8B-B14F-4D97-AF65-F5344CB8AC3E}">
        <p14:creationId xmlns:p14="http://schemas.microsoft.com/office/powerpoint/2010/main" val="373586288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C860-82C9-9A91-55F1-CF1D82D43974}"/>
              </a:ext>
            </a:extLst>
          </p:cNvPr>
          <p:cNvSpPr>
            <a:spLocks noGrp="1"/>
          </p:cNvSpPr>
          <p:nvPr>
            <p:ph type="title"/>
          </p:nvPr>
        </p:nvSpPr>
        <p:spPr/>
        <p:txBody>
          <a:bodyPr/>
          <a:lstStyle/>
          <a:p>
            <a:r>
              <a:rPr lang="en-US" dirty="0" err="1"/>
              <a:t>BusinessDecision</a:t>
            </a:r>
            <a:r>
              <a:rPr lang="en-US" dirty="0"/>
              <a:t> minimal example </a:t>
            </a:r>
          </a:p>
        </p:txBody>
      </p:sp>
      <p:pic>
        <p:nvPicPr>
          <p:cNvPr id="6" name="Content Placeholder 5">
            <a:extLst>
              <a:ext uri="{FF2B5EF4-FFF2-40B4-BE49-F238E27FC236}">
                <a16:creationId xmlns:a16="http://schemas.microsoft.com/office/drawing/2014/main" id="{A4CCDC09-0960-DA6D-182D-BA356E9D7AD4}"/>
              </a:ext>
            </a:extLst>
          </p:cNvPr>
          <p:cNvPicPr>
            <a:picLocks noGrp="1" noChangeAspect="1"/>
          </p:cNvPicPr>
          <p:nvPr>
            <p:ph idx="1"/>
          </p:nvPr>
        </p:nvPicPr>
        <p:blipFill>
          <a:blip r:embed="rId2"/>
          <a:stretch>
            <a:fillRect/>
          </a:stretch>
        </p:blipFill>
        <p:spPr>
          <a:xfrm>
            <a:off x="2362200" y="1066799"/>
            <a:ext cx="7161013" cy="5708919"/>
          </a:xfrm>
          <a:prstGeom prst="rect">
            <a:avLst/>
          </a:prstGeom>
        </p:spPr>
      </p:pic>
      <p:sp>
        <p:nvSpPr>
          <p:cNvPr id="4" name="Slide Number Placeholder 3">
            <a:extLst>
              <a:ext uri="{FF2B5EF4-FFF2-40B4-BE49-F238E27FC236}">
                <a16:creationId xmlns:a16="http://schemas.microsoft.com/office/drawing/2014/main" id="{E73FC853-1187-3CBC-C8C6-4596D196903E}"/>
              </a:ext>
            </a:extLst>
          </p:cNvPr>
          <p:cNvSpPr>
            <a:spLocks noGrp="1"/>
          </p:cNvSpPr>
          <p:nvPr>
            <p:ph type="sldNum" sz="quarter" idx="12"/>
          </p:nvPr>
        </p:nvSpPr>
        <p:spPr/>
        <p:txBody>
          <a:bodyPr/>
          <a:lstStyle/>
          <a:p>
            <a:fld id="{AEAA3239-9EA4-4A65-A281-97F994456D9F}" type="slidenum">
              <a:rPr lang="en-US" smtClean="0"/>
              <a:t>6</a:t>
            </a:fld>
            <a:endParaRPr lang="en-US"/>
          </a:p>
        </p:txBody>
      </p:sp>
    </p:spTree>
    <p:extLst>
      <p:ext uri="{BB962C8B-B14F-4D97-AF65-F5344CB8AC3E}">
        <p14:creationId xmlns:p14="http://schemas.microsoft.com/office/powerpoint/2010/main" val="1998187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1D801-DB1A-E583-F120-5598603D1F8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75233CC-154B-FFC6-B92C-352B26C6AF02}"/>
              </a:ext>
            </a:extLst>
          </p:cNvPr>
          <p:cNvPicPr>
            <a:picLocks noChangeAspect="1"/>
          </p:cNvPicPr>
          <p:nvPr/>
        </p:nvPicPr>
        <p:blipFill>
          <a:blip r:embed="rId3"/>
          <a:stretch>
            <a:fillRect/>
          </a:stretch>
        </p:blipFill>
        <p:spPr>
          <a:xfrm>
            <a:off x="-1" y="609600"/>
            <a:ext cx="11882699" cy="5970741"/>
          </a:xfrm>
          <a:prstGeom prst="rect">
            <a:avLst/>
          </a:prstGeom>
        </p:spPr>
      </p:pic>
    </p:spTree>
    <p:extLst>
      <p:ext uri="{BB962C8B-B14F-4D97-AF65-F5344CB8AC3E}">
        <p14:creationId xmlns:p14="http://schemas.microsoft.com/office/powerpoint/2010/main" val="2892544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1E44-F188-A0A3-62EE-8C835C615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A3307-1613-EF47-E81E-AD6609B5A08A}"/>
              </a:ext>
            </a:extLst>
          </p:cNvPr>
          <p:cNvSpPr>
            <a:spLocks noGrp="1"/>
          </p:cNvSpPr>
          <p:nvPr>
            <p:ph type="title"/>
          </p:nvPr>
        </p:nvSpPr>
        <p:spPr>
          <a:xfrm>
            <a:off x="457200" y="490128"/>
            <a:ext cx="11277599" cy="914400"/>
          </a:xfrm>
        </p:spPr>
        <p:txBody>
          <a:bodyPr anchor="t">
            <a:normAutofit/>
          </a:bodyPr>
          <a:lstStyle/>
          <a:p>
            <a:r>
              <a:rPr lang="en-US" dirty="0"/>
              <a:t>OSDU Work Product Components</a:t>
            </a:r>
          </a:p>
        </p:txBody>
      </p:sp>
      <p:graphicFrame>
        <p:nvGraphicFramePr>
          <p:cNvPr id="5" name="Content Placeholder 4">
            <a:extLst>
              <a:ext uri="{FF2B5EF4-FFF2-40B4-BE49-F238E27FC236}">
                <a16:creationId xmlns:a16="http://schemas.microsoft.com/office/drawing/2014/main" id="{396309DE-44AB-62B7-4FA4-3162C529E6AF}"/>
              </a:ext>
            </a:extLst>
          </p:cNvPr>
          <p:cNvGraphicFramePr>
            <a:graphicFrameLocks noGrp="1"/>
          </p:cNvGraphicFramePr>
          <p:nvPr>
            <p:ph idx="1"/>
            <p:extLst>
              <p:ext uri="{D42A27DB-BD31-4B8C-83A1-F6EECF244321}">
                <p14:modId xmlns:p14="http://schemas.microsoft.com/office/powerpoint/2010/main" val="1071923835"/>
              </p:ext>
            </p:extLst>
          </p:nvPr>
        </p:nvGraphicFramePr>
        <p:xfrm>
          <a:off x="437645" y="1864915"/>
          <a:ext cx="11277600" cy="3289900"/>
        </p:xfrm>
        <a:graphic>
          <a:graphicData uri="http://schemas.openxmlformats.org/drawingml/2006/table">
            <a:tbl>
              <a:tblPr bandRow="1">
                <a:tableStyleId>{35758FB7-9AC5-4552-8A53-C91805E547FA}</a:tableStyleId>
              </a:tblPr>
              <a:tblGrid>
                <a:gridCol w="3901441">
                  <a:extLst>
                    <a:ext uri="{9D8B030D-6E8A-4147-A177-3AD203B41FA5}">
                      <a16:colId xmlns:a16="http://schemas.microsoft.com/office/drawing/2014/main" val="3483684731"/>
                    </a:ext>
                  </a:extLst>
                </a:gridCol>
                <a:gridCol w="7376159">
                  <a:extLst>
                    <a:ext uri="{9D8B030D-6E8A-4147-A177-3AD203B41FA5}">
                      <a16:colId xmlns:a16="http://schemas.microsoft.com/office/drawing/2014/main" val="356990822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err="1">
                          <a:solidFill>
                            <a:schemeClr val="dk1"/>
                          </a:solidFill>
                          <a:effectLst/>
                        </a:rPr>
                        <a:t>ReservoirEstimatedVolumes</a:t>
                      </a:r>
                      <a:endParaRPr lang="en-US" sz="1400" b="1" kern="1200" cap="all" spc="150" dirty="0">
                        <a:solidFill>
                          <a:schemeClr val="tx1"/>
                        </a:solidFill>
                        <a:latin typeface="+mn-lt"/>
                        <a:ea typeface="+mn-ea"/>
                        <a:cs typeface="+mn-cs"/>
                      </a:endParaRPr>
                    </a:p>
                  </a:txBody>
                  <a:tcPr marL="222310" marR="222310" marT="222310" marB="222310" anchor="ctr"/>
                </a:tc>
                <a:tc>
                  <a:txBody>
                    <a:bodyPr/>
                    <a:lstStyle/>
                    <a:p>
                      <a:pPr>
                        <a:buNone/>
                      </a:pPr>
                      <a:r>
                        <a:rPr lang="en-US" sz="1400" cap="none" spc="0" dirty="0">
                          <a:solidFill>
                            <a:schemeClr val="tx1"/>
                          </a:solidFill>
                        </a:rPr>
                        <a:t>Volumetric outputs (raw and aggregated)</a:t>
                      </a:r>
                    </a:p>
                  </a:txBody>
                  <a:tcPr marL="222310" marR="222310" marT="222310" marB="222310" anchor="ctr"/>
                </a:tc>
                <a:extLst>
                  <a:ext uri="{0D108BD9-81ED-4DB2-BD59-A6C34878D82A}">
                    <a16:rowId xmlns:a16="http://schemas.microsoft.com/office/drawing/2014/main" val="43536415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err="1">
                          <a:solidFill>
                            <a:schemeClr val="dk1"/>
                          </a:solidFill>
                          <a:effectLst/>
                        </a:rPr>
                        <a:t>ColumnBasedTable</a:t>
                      </a:r>
                      <a:endParaRPr lang="en-US" sz="1400" b="0" kern="1200" dirty="0">
                        <a:solidFill>
                          <a:schemeClr val="dk1"/>
                        </a:solidFill>
                        <a:effectLst/>
                        <a:latin typeface="+mn-lt"/>
                        <a:ea typeface="+mn-ea"/>
                        <a:cs typeface="+mn-cs"/>
                      </a:endParaRPr>
                    </a:p>
                  </a:txBody>
                  <a:tcPr marL="222310" marR="222310" marT="222310" marB="222310" anchor="ctr"/>
                </a:tc>
                <a:tc>
                  <a:txBody>
                    <a:bodyPr/>
                    <a:lstStyle/>
                    <a:p>
                      <a:pPr>
                        <a:buNone/>
                      </a:pPr>
                      <a:r>
                        <a:rPr lang="en-US" sz="1400" cap="none" spc="0" dirty="0">
                          <a:solidFill>
                            <a:schemeClr val="tx1"/>
                          </a:solidFill>
                        </a:rPr>
                        <a:t>Input parameters/design matrix, output QA tables </a:t>
                      </a:r>
                    </a:p>
                  </a:txBody>
                  <a:tcPr marL="222310" marR="222310" marT="222310" marB="222310" anchor="ctr"/>
                </a:tc>
                <a:extLst>
                  <a:ext uri="{0D108BD9-81ED-4DB2-BD59-A6C34878D82A}">
                    <a16:rowId xmlns:a16="http://schemas.microsoft.com/office/drawing/2014/main" val="142842010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dk1"/>
                          </a:solidFill>
                          <a:effectLst/>
                        </a:rPr>
                        <a:t>Risk</a:t>
                      </a:r>
                      <a:endParaRPr lang="en-US" sz="1400" b="0" kern="1200" dirty="0">
                        <a:solidFill>
                          <a:schemeClr val="dk1"/>
                        </a:solidFill>
                        <a:effectLst/>
                        <a:latin typeface="+mn-lt"/>
                        <a:ea typeface="+mn-ea"/>
                        <a:cs typeface="+mn-cs"/>
                      </a:endParaRPr>
                    </a:p>
                  </a:txBody>
                  <a:tcPr marL="222310" marR="222310" marT="222310" marB="22231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dk1"/>
                          </a:solidFill>
                          <a:effectLst/>
                        </a:rPr>
                        <a:t>Canonical risk records; typed, with local Equinor extensions</a:t>
                      </a:r>
                      <a:endParaRPr lang="en-US" sz="1400" b="0" kern="1200" dirty="0">
                        <a:solidFill>
                          <a:schemeClr val="dk1"/>
                        </a:solidFill>
                        <a:effectLst/>
                        <a:latin typeface="+mn-lt"/>
                        <a:ea typeface="+mn-ea"/>
                        <a:cs typeface="+mn-cs"/>
                      </a:endParaRPr>
                    </a:p>
                  </a:txBody>
                  <a:tcPr marL="222310" marR="222310" marT="222310" marB="222310" anchor="ctr"/>
                </a:tc>
                <a:extLst>
                  <a:ext uri="{0D108BD9-81ED-4DB2-BD59-A6C34878D82A}">
                    <a16:rowId xmlns:a16="http://schemas.microsoft.com/office/drawing/2014/main" val="249836712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dk1"/>
                          </a:solidFill>
                          <a:effectLst/>
                        </a:rPr>
                        <a:t>Document</a:t>
                      </a:r>
                      <a:endParaRPr lang="en-US" sz="1400" b="0" kern="1200" dirty="0">
                        <a:solidFill>
                          <a:schemeClr val="dk1"/>
                        </a:solidFill>
                        <a:effectLst/>
                        <a:latin typeface="+mn-lt"/>
                        <a:ea typeface="+mn-ea"/>
                        <a:cs typeface="+mn-cs"/>
                      </a:endParaRPr>
                    </a:p>
                  </a:txBody>
                  <a:tcPr marL="222310" marR="222310" marT="222310" marB="222310" anchor="ctr"/>
                </a:tc>
                <a:tc>
                  <a:txBody>
                    <a:bodyPr/>
                    <a:lstStyle/>
                    <a:p>
                      <a:pPr>
                        <a:buNone/>
                      </a:pPr>
                      <a:r>
                        <a:rPr lang="en-US" sz="1400" cap="none" spc="0" dirty="0">
                          <a:solidFill>
                            <a:schemeClr val="tx1"/>
                          </a:solidFill>
                        </a:rPr>
                        <a:t>Model reports, QA reports, risk mitigation plans, …</a:t>
                      </a:r>
                    </a:p>
                  </a:txBody>
                  <a:tcPr marL="222310" marR="222310" marT="222310" marB="222310" anchor="ctr"/>
                </a:tc>
                <a:extLst>
                  <a:ext uri="{0D108BD9-81ED-4DB2-BD59-A6C34878D82A}">
                    <a16:rowId xmlns:a16="http://schemas.microsoft.com/office/drawing/2014/main" val="265255948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err="1">
                          <a:solidFill>
                            <a:schemeClr val="dk1"/>
                          </a:solidFill>
                          <a:effectLst/>
                        </a:rPr>
                        <a:t>GeoLabelSet</a:t>
                      </a:r>
                      <a:endParaRPr lang="en-US" sz="1400" b="0" kern="1200" dirty="0">
                        <a:solidFill>
                          <a:schemeClr val="dk1"/>
                        </a:solidFill>
                        <a:effectLst/>
                        <a:latin typeface="+mn-lt"/>
                        <a:ea typeface="+mn-ea"/>
                        <a:cs typeface="+mn-cs"/>
                      </a:endParaRPr>
                    </a:p>
                  </a:txBody>
                  <a:tcPr marL="222310" marR="222310" marT="222310" marB="22231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cap="none" spc="0" dirty="0">
                          <a:solidFill>
                            <a:schemeClr val="tx1"/>
                          </a:solidFill>
                        </a:rPr>
                        <a:t>Dashboard-friendly headline values,</a:t>
                      </a:r>
                      <a:r>
                        <a:rPr lang="en-US" sz="1400" b="0" kern="1200" dirty="0">
                          <a:solidFill>
                            <a:schemeClr val="dk1"/>
                          </a:solidFill>
                          <a:effectLst/>
                        </a:rPr>
                        <a:t> fast discovery tied to master data objects</a:t>
                      </a:r>
                      <a:endParaRPr lang="en-US" sz="1400" b="0" kern="1200" dirty="0">
                        <a:solidFill>
                          <a:schemeClr val="dk1"/>
                        </a:solidFill>
                        <a:effectLst/>
                        <a:latin typeface="+mn-lt"/>
                        <a:ea typeface="+mn-ea"/>
                        <a:cs typeface="+mn-cs"/>
                      </a:endParaRPr>
                    </a:p>
                  </a:txBody>
                  <a:tcPr marL="222310" marR="222310" marT="222310" marB="222310" anchor="ctr"/>
                </a:tc>
                <a:extLst>
                  <a:ext uri="{0D108BD9-81ED-4DB2-BD59-A6C34878D82A}">
                    <a16:rowId xmlns:a16="http://schemas.microsoft.com/office/drawing/2014/main" val="2703516577"/>
                  </a:ext>
                </a:extLst>
              </a:tr>
            </a:tbl>
          </a:graphicData>
        </a:graphic>
      </p:graphicFrame>
    </p:spTree>
    <p:extLst>
      <p:ext uri="{BB962C8B-B14F-4D97-AF65-F5344CB8AC3E}">
        <p14:creationId xmlns:p14="http://schemas.microsoft.com/office/powerpoint/2010/main" val="378319765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8F666-9AE6-DA08-80CE-9417CB2BA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704F5-DF44-9C9E-EB85-CE9C8211AB4D}"/>
              </a:ext>
            </a:extLst>
          </p:cNvPr>
          <p:cNvSpPr>
            <a:spLocks noGrp="1"/>
          </p:cNvSpPr>
          <p:nvPr>
            <p:ph type="title"/>
          </p:nvPr>
        </p:nvSpPr>
        <p:spPr/>
        <p:txBody>
          <a:bodyPr/>
          <a:lstStyle/>
          <a:p>
            <a:r>
              <a:rPr lang="en-US" dirty="0"/>
              <a:t>Input: Parameter and volume tables from subsurface modelling</a:t>
            </a:r>
          </a:p>
        </p:txBody>
      </p:sp>
      <p:sp>
        <p:nvSpPr>
          <p:cNvPr id="4" name="Slide Number Placeholder 3">
            <a:extLst>
              <a:ext uri="{FF2B5EF4-FFF2-40B4-BE49-F238E27FC236}">
                <a16:creationId xmlns:a16="http://schemas.microsoft.com/office/drawing/2014/main" id="{B14964F5-5056-8977-41EB-508B64D69543}"/>
              </a:ext>
            </a:extLst>
          </p:cNvPr>
          <p:cNvSpPr>
            <a:spLocks noGrp="1"/>
          </p:cNvSpPr>
          <p:nvPr>
            <p:ph type="sldNum" sz="quarter" idx="12"/>
          </p:nvPr>
        </p:nvSpPr>
        <p:spPr/>
        <p:txBody>
          <a:bodyPr/>
          <a:lstStyle/>
          <a:p>
            <a:fld id="{AEAA3239-9EA4-4A65-A281-97F994456D9F}" type="slidenum">
              <a:rPr lang="en-US" smtClean="0"/>
              <a:t>9</a:t>
            </a:fld>
            <a:endParaRPr lang="en-US"/>
          </a:p>
        </p:txBody>
      </p:sp>
      <p:sp>
        <p:nvSpPr>
          <p:cNvPr id="5" name="Content Placeholder 4">
            <a:extLst>
              <a:ext uri="{FF2B5EF4-FFF2-40B4-BE49-F238E27FC236}">
                <a16:creationId xmlns:a16="http://schemas.microsoft.com/office/drawing/2014/main" id="{2728E4BB-CFAB-C10F-0CAF-C97C80EA1502}"/>
              </a:ext>
            </a:extLst>
          </p:cNvPr>
          <p:cNvSpPr>
            <a:spLocks noGrp="1"/>
          </p:cNvSpPr>
          <p:nvPr>
            <p:ph idx="1"/>
          </p:nvPr>
        </p:nvSpPr>
        <p:spPr/>
        <p:txBody>
          <a:bodyPr/>
          <a:lstStyle/>
          <a:p>
            <a:r>
              <a:rPr lang="en-US" dirty="0"/>
              <a:t>Example: Grane Grand DG2 FMU/RMS output as csv</a:t>
            </a:r>
          </a:p>
          <a:p>
            <a:pPr marL="0" indent="0">
              <a:buNone/>
            </a:pPr>
            <a:endParaRPr lang="en-US" dirty="0"/>
          </a:p>
        </p:txBody>
      </p:sp>
      <p:pic>
        <p:nvPicPr>
          <p:cNvPr id="7" name="Picture 6">
            <a:extLst>
              <a:ext uri="{FF2B5EF4-FFF2-40B4-BE49-F238E27FC236}">
                <a16:creationId xmlns:a16="http://schemas.microsoft.com/office/drawing/2014/main" id="{5F206847-2E01-709B-CC1B-B1A2B50BE2AA}"/>
              </a:ext>
            </a:extLst>
          </p:cNvPr>
          <p:cNvPicPr>
            <a:picLocks noChangeAspect="1"/>
          </p:cNvPicPr>
          <p:nvPr/>
        </p:nvPicPr>
        <p:blipFill>
          <a:blip r:embed="rId2"/>
          <a:stretch>
            <a:fillRect/>
          </a:stretch>
        </p:blipFill>
        <p:spPr>
          <a:xfrm>
            <a:off x="1676400" y="2971800"/>
            <a:ext cx="8130170" cy="2888974"/>
          </a:xfrm>
          <a:prstGeom prst="rect">
            <a:avLst/>
          </a:prstGeom>
        </p:spPr>
      </p:pic>
    </p:spTree>
    <p:extLst>
      <p:ext uri="{BB962C8B-B14F-4D97-AF65-F5344CB8AC3E}">
        <p14:creationId xmlns:p14="http://schemas.microsoft.com/office/powerpoint/2010/main" val="1455978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35B3-A949-B636-8597-7E6F3FEED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EEEC2-3D35-6D13-A2CA-EAA53CC6851B}"/>
              </a:ext>
            </a:extLst>
          </p:cNvPr>
          <p:cNvSpPr>
            <a:spLocks noGrp="1"/>
          </p:cNvSpPr>
          <p:nvPr>
            <p:ph type="title"/>
          </p:nvPr>
        </p:nvSpPr>
        <p:spPr/>
        <p:txBody>
          <a:bodyPr/>
          <a:lstStyle/>
          <a:p>
            <a:r>
              <a:rPr lang="en-US" dirty="0" err="1"/>
              <a:t>ReservoirEstimatedVolume</a:t>
            </a:r>
            <a:r>
              <a:rPr lang="en-US" dirty="0"/>
              <a:t> record for ensemble output volume table</a:t>
            </a:r>
          </a:p>
        </p:txBody>
      </p:sp>
      <p:sp>
        <p:nvSpPr>
          <p:cNvPr id="4" name="Slide Number Placeholder 3">
            <a:extLst>
              <a:ext uri="{FF2B5EF4-FFF2-40B4-BE49-F238E27FC236}">
                <a16:creationId xmlns:a16="http://schemas.microsoft.com/office/drawing/2014/main" id="{349AAD2A-6ED0-AFCC-6B87-5CE9D3A23343}"/>
              </a:ext>
            </a:extLst>
          </p:cNvPr>
          <p:cNvSpPr>
            <a:spLocks noGrp="1"/>
          </p:cNvSpPr>
          <p:nvPr>
            <p:ph type="sldNum" sz="quarter" idx="12"/>
          </p:nvPr>
        </p:nvSpPr>
        <p:spPr/>
        <p:txBody>
          <a:bodyPr/>
          <a:lstStyle/>
          <a:p>
            <a:fld id="{AEAA3239-9EA4-4A65-A281-97F994456D9F}" type="slidenum">
              <a:rPr lang="en-US" smtClean="0"/>
              <a:t>10</a:t>
            </a:fld>
            <a:endParaRPr lang="en-US"/>
          </a:p>
        </p:txBody>
      </p:sp>
      <p:sp>
        <p:nvSpPr>
          <p:cNvPr id="5" name="Content Placeholder 4">
            <a:extLst>
              <a:ext uri="{FF2B5EF4-FFF2-40B4-BE49-F238E27FC236}">
                <a16:creationId xmlns:a16="http://schemas.microsoft.com/office/drawing/2014/main" id="{977A7ABA-FD75-7023-DBB2-A1EB6D7B80AC}"/>
              </a:ext>
            </a:extLst>
          </p:cNvPr>
          <p:cNvSpPr>
            <a:spLocks noGrp="1"/>
          </p:cNvSpPr>
          <p:nvPr>
            <p:ph idx="1"/>
          </p:nvPr>
        </p:nvSpPr>
        <p:spPr>
          <a:xfrm>
            <a:off x="457200" y="1447800"/>
            <a:ext cx="11277599" cy="4953000"/>
          </a:xfrm>
        </p:spPr>
        <p:txBody>
          <a:bodyPr/>
          <a:lstStyle/>
          <a:p>
            <a:r>
              <a:rPr lang="en-US" b="1" dirty="0"/>
              <a:t>Raw volume table</a:t>
            </a:r>
            <a:r>
              <a:rPr lang="en-US" dirty="0"/>
              <a:t>, assigned to </a:t>
            </a:r>
            <a:r>
              <a:rPr lang="en-US" i="1" dirty="0" err="1"/>
              <a:t>MasterData</a:t>
            </a:r>
            <a:r>
              <a:rPr lang="en-US" dirty="0"/>
              <a:t> objects. </a:t>
            </a:r>
          </a:p>
          <a:p>
            <a:r>
              <a:rPr lang="en-US" b="1" dirty="0" err="1"/>
              <a:t>KeyColumns</a:t>
            </a:r>
            <a:r>
              <a:rPr lang="en-US" dirty="0"/>
              <a:t>: </a:t>
            </a:r>
            <a:r>
              <a:rPr lang="en-US" dirty="0" err="1"/>
              <a:t>Realisation:int</a:t>
            </a:r>
            <a:r>
              <a:rPr lang="en-US" dirty="0"/>
              <a:t>, </a:t>
            </a:r>
            <a:r>
              <a:rPr lang="en-US" dirty="0" err="1"/>
              <a:t>Zone:string</a:t>
            </a:r>
            <a:r>
              <a:rPr lang="en-US" dirty="0"/>
              <a:t>, </a:t>
            </a:r>
            <a:r>
              <a:rPr lang="en-US" dirty="0" err="1"/>
              <a:t>SegmentID:string</a:t>
            </a:r>
            <a:r>
              <a:rPr lang="en-US" dirty="0"/>
              <a:t> with </a:t>
            </a:r>
            <a:r>
              <a:rPr lang="en-US" dirty="0" err="1"/>
              <a:t>KindID</a:t>
            </a:r>
            <a:r>
              <a:rPr lang="en-US" dirty="0"/>
              <a:t> = </a:t>
            </a:r>
            <a:r>
              <a:rPr lang="en-US" i="1" dirty="0" err="1"/>
              <a:t>osdu:wks:master-data</a:t>
            </a:r>
            <a:r>
              <a:rPr lang="en-US" i="1" dirty="0"/>
              <a:t>--ReservoirSegment:2.0.0 </a:t>
            </a:r>
            <a:r>
              <a:rPr lang="en-US" dirty="0"/>
              <a:t>— this ties each row to a segment</a:t>
            </a:r>
          </a:p>
          <a:p>
            <a:r>
              <a:rPr lang="en-US" dirty="0"/>
              <a:t>Uses OSDU </a:t>
            </a:r>
            <a:r>
              <a:rPr lang="en-US" b="1" dirty="0"/>
              <a:t>canonical</a:t>
            </a:r>
            <a:r>
              <a:rPr lang="en-US" dirty="0"/>
              <a:t> </a:t>
            </a:r>
            <a:r>
              <a:rPr lang="en-US" b="1" dirty="0"/>
              <a:t>reference</a:t>
            </a:r>
            <a:r>
              <a:rPr lang="en-US" dirty="0"/>
              <a:t> units, property types , statistical facets. Open governance: extensible – used to add to OSDU custom properties or statistical measures</a:t>
            </a:r>
          </a:p>
          <a:p>
            <a:r>
              <a:rPr lang="en-US" dirty="0"/>
              <a:t>Could be linked to input ensemble design matrix: as </a:t>
            </a:r>
            <a:r>
              <a:rPr lang="en-US" i="1" dirty="0" err="1"/>
              <a:t>ColumnBasedTable</a:t>
            </a:r>
            <a:r>
              <a:rPr lang="en-US" dirty="0"/>
              <a:t> per Realization. Use </a:t>
            </a:r>
            <a:r>
              <a:rPr lang="en-US" i="1" dirty="0"/>
              <a:t>Activity</a:t>
            </a:r>
            <a:r>
              <a:rPr lang="en-US" dirty="0"/>
              <a:t> to record processing</a:t>
            </a:r>
          </a:p>
        </p:txBody>
      </p:sp>
      <p:pic>
        <p:nvPicPr>
          <p:cNvPr id="6" name="Picture 5">
            <a:extLst>
              <a:ext uri="{FF2B5EF4-FFF2-40B4-BE49-F238E27FC236}">
                <a16:creationId xmlns:a16="http://schemas.microsoft.com/office/drawing/2014/main" id="{EC5989C0-3FDC-F377-C6B6-2FFB020C63F9}"/>
              </a:ext>
            </a:extLst>
          </p:cNvPr>
          <p:cNvPicPr>
            <a:picLocks noChangeAspect="1"/>
          </p:cNvPicPr>
          <p:nvPr/>
        </p:nvPicPr>
        <p:blipFill>
          <a:blip r:embed="rId2"/>
          <a:stretch>
            <a:fillRect/>
          </a:stretch>
        </p:blipFill>
        <p:spPr>
          <a:xfrm>
            <a:off x="0" y="3130992"/>
            <a:ext cx="12192000" cy="3520440"/>
          </a:xfrm>
          <a:prstGeom prst="rect">
            <a:avLst/>
          </a:prstGeom>
        </p:spPr>
      </p:pic>
    </p:spTree>
    <p:extLst>
      <p:ext uri="{BB962C8B-B14F-4D97-AF65-F5344CB8AC3E}">
        <p14:creationId xmlns:p14="http://schemas.microsoft.com/office/powerpoint/2010/main" val="464713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27C44-EC72-E1E3-5BB2-845AECC4E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E3688-61EE-B24F-837E-C3869ACD3AFB}"/>
              </a:ext>
            </a:extLst>
          </p:cNvPr>
          <p:cNvSpPr>
            <a:spLocks noGrp="1"/>
          </p:cNvSpPr>
          <p:nvPr>
            <p:ph type="title"/>
          </p:nvPr>
        </p:nvSpPr>
        <p:spPr/>
        <p:txBody>
          <a:bodyPr/>
          <a:lstStyle/>
          <a:p>
            <a:r>
              <a:rPr lang="en-US" dirty="0" err="1"/>
              <a:t>ReservoirEstimatedVolume</a:t>
            </a:r>
            <a:r>
              <a:rPr lang="en-US" dirty="0"/>
              <a:t> table for aggregate ensemble volumes</a:t>
            </a:r>
          </a:p>
        </p:txBody>
      </p:sp>
      <p:sp>
        <p:nvSpPr>
          <p:cNvPr id="4" name="Slide Number Placeholder 3">
            <a:extLst>
              <a:ext uri="{FF2B5EF4-FFF2-40B4-BE49-F238E27FC236}">
                <a16:creationId xmlns:a16="http://schemas.microsoft.com/office/drawing/2014/main" id="{D8FF1351-DDF4-02FF-FDC7-5B73CF2C962B}"/>
              </a:ext>
            </a:extLst>
          </p:cNvPr>
          <p:cNvSpPr>
            <a:spLocks noGrp="1"/>
          </p:cNvSpPr>
          <p:nvPr>
            <p:ph type="sldNum" sz="quarter" idx="12"/>
          </p:nvPr>
        </p:nvSpPr>
        <p:spPr/>
        <p:txBody>
          <a:bodyPr/>
          <a:lstStyle/>
          <a:p>
            <a:fld id="{AEAA3239-9EA4-4A65-A281-97F994456D9F}" type="slidenum">
              <a:rPr lang="en-US" smtClean="0"/>
              <a:t>11</a:t>
            </a:fld>
            <a:endParaRPr lang="en-US"/>
          </a:p>
        </p:txBody>
      </p:sp>
      <p:sp>
        <p:nvSpPr>
          <p:cNvPr id="5" name="Content Placeholder 4">
            <a:extLst>
              <a:ext uri="{FF2B5EF4-FFF2-40B4-BE49-F238E27FC236}">
                <a16:creationId xmlns:a16="http://schemas.microsoft.com/office/drawing/2014/main" id="{5EA7937B-795F-D4E6-EBAE-75404D9BA45F}"/>
              </a:ext>
            </a:extLst>
          </p:cNvPr>
          <p:cNvSpPr>
            <a:spLocks noGrp="1"/>
          </p:cNvSpPr>
          <p:nvPr>
            <p:ph idx="1"/>
          </p:nvPr>
        </p:nvSpPr>
        <p:spPr>
          <a:xfrm>
            <a:off x="457200" y="1404528"/>
            <a:ext cx="11277599" cy="4996272"/>
          </a:xfrm>
        </p:spPr>
        <p:txBody>
          <a:bodyPr/>
          <a:lstStyle/>
          <a:p>
            <a:r>
              <a:rPr lang="en-US" dirty="0"/>
              <a:t>Raw or aggregate volume table, linked to </a:t>
            </a:r>
            <a:r>
              <a:rPr lang="en-US" i="1" dirty="0" err="1"/>
              <a:t>MasterData</a:t>
            </a:r>
            <a:r>
              <a:rPr lang="en-US" dirty="0"/>
              <a:t> objects like </a:t>
            </a:r>
            <a:r>
              <a:rPr lang="en-US" i="1" dirty="0" err="1"/>
              <a:t>ReservoirSegment</a:t>
            </a:r>
            <a:endParaRPr lang="en-US" i="1" dirty="0"/>
          </a:p>
          <a:p>
            <a:r>
              <a:rPr lang="en-US" dirty="0" err="1"/>
              <a:t>KeyColumns</a:t>
            </a:r>
            <a:r>
              <a:rPr lang="en-US" dirty="0"/>
              <a:t>: Zone, </a:t>
            </a:r>
            <a:r>
              <a:rPr lang="en-US" dirty="0" err="1"/>
              <a:t>SegmentID</a:t>
            </a:r>
            <a:r>
              <a:rPr lang="en-US" dirty="0"/>
              <a:t>; aggregate across realizations</a:t>
            </a:r>
          </a:p>
          <a:p>
            <a:r>
              <a:rPr lang="en-US" dirty="0"/>
              <a:t>Canonical names; property types with statistics facets defined as reference data</a:t>
            </a:r>
          </a:p>
        </p:txBody>
      </p:sp>
      <p:pic>
        <p:nvPicPr>
          <p:cNvPr id="8" name="Picture 7">
            <a:extLst>
              <a:ext uri="{FF2B5EF4-FFF2-40B4-BE49-F238E27FC236}">
                <a16:creationId xmlns:a16="http://schemas.microsoft.com/office/drawing/2014/main" id="{6FDF99CB-2A6A-05E3-4F0E-A1B349939407}"/>
              </a:ext>
            </a:extLst>
          </p:cNvPr>
          <p:cNvPicPr>
            <a:picLocks noChangeAspect="1"/>
          </p:cNvPicPr>
          <p:nvPr/>
        </p:nvPicPr>
        <p:blipFill>
          <a:blip r:embed="rId2"/>
          <a:stretch>
            <a:fillRect/>
          </a:stretch>
        </p:blipFill>
        <p:spPr>
          <a:xfrm>
            <a:off x="9939" y="2828828"/>
            <a:ext cx="12192000" cy="3651710"/>
          </a:xfrm>
          <a:prstGeom prst="rect">
            <a:avLst/>
          </a:prstGeom>
        </p:spPr>
      </p:pic>
    </p:spTree>
    <p:extLst>
      <p:ext uri="{BB962C8B-B14F-4D97-AF65-F5344CB8AC3E}">
        <p14:creationId xmlns:p14="http://schemas.microsoft.com/office/powerpoint/2010/main" val="507515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41D3-EE60-C62E-483E-DDF76612D41B}"/>
              </a:ext>
            </a:extLst>
          </p:cNvPr>
          <p:cNvSpPr>
            <a:spLocks noGrp="1"/>
          </p:cNvSpPr>
          <p:nvPr>
            <p:ph type="title"/>
          </p:nvPr>
        </p:nvSpPr>
        <p:spPr/>
        <p:txBody>
          <a:bodyPr/>
          <a:lstStyle/>
          <a:p>
            <a:r>
              <a:rPr lang="en-US" dirty="0" err="1"/>
              <a:t>ReservoirEstimatedVolume</a:t>
            </a:r>
            <a:r>
              <a:rPr lang="en-US" dirty="0"/>
              <a:t> table – Relationship to </a:t>
            </a:r>
            <a:r>
              <a:rPr lang="en-US" dirty="0" err="1"/>
              <a:t>MasterData</a:t>
            </a:r>
            <a:r>
              <a:rPr lang="en-US" dirty="0"/>
              <a:t> </a:t>
            </a:r>
          </a:p>
        </p:txBody>
      </p:sp>
      <p:pic>
        <p:nvPicPr>
          <p:cNvPr id="6" name="Content Placeholder 5">
            <a:extLst>
              <a:ext uri="{FF2B5EF4-FFF2-40B4-BE49-F238E27FC236}">
                <a16:creationId xmlns:a16="http://schemas.microsoft.com/office/drawing/2014/main" id="{44A88FFA-3675-120A-D86D-59F4CB8B3049}"/>
              </a:ext>
            </a:extLst>
          </p:cNvPr>
          <p:cNvPicPr>
            <a:picLocks noGrp="1" noChangeAspect="1"/>
          </p:cNvPicPr>
          <p:nvPr>
            <p:ph idx="1"/>
          </p:nvPr>
        </p:nvPicPr>
        <p:blipFill>
          <a:blip r:embed="rId2"/>
          <a:stretch>
            <a:fillRect/>
          </a:stretch>
        </p:blipFill>
        <p:spPr>
          <a:xfrm>
            <a:off x="108064" y="1447800"/>
            <a:ext cx="11051380" cy="4953000"/>
          </a:xfrm>
          <a:prstGeom prst="rect">
            <a:avLst/>
          </a:prstGeom>
        </p:spPr>
      </p:pic>
      <p:sp>
        <p:nvSpPr>
          <p:cNvPr id="4" name="Slide Number Placeholder 3">
            <a:extLst>
              <a:ext uri="{FF2B5EF4-FFF2-40B4-BE49-F238E27FC236}">
                <a16:creationId xmlns:a16="http://schemas.microsoft.com/office/drawing/2014/main" id="{A215C2DC-5A6E-D687-2D4B-71114268ADF4}"/>
              </a:ext>
            </a:extLst>
          </p:cNvPr>
          <p:cNvSpPr>
            <a:spLocks noGrp="1"/>
          </p:cNvSpPr>
          <p:nvPr>
            <p:ph type="sldNum" sz="quarter" idx="12"/>
          </p:nvPr>
        </p:nvSpPr>
        <p:spPr/>
        <p:txBody>
          <a:bodyPr/>
          <a:lstStyle/>
          <a:p>
            <a:fld id="{AEAA3239-9EA4-4A65-A281-97F994456D9F}" type="slidenum">
              <a:rPr lang="en-US" smtClean="0"/>
              <a:t>12</a:t>
            </a:fld>
            <a:endParaRPr lang="en-US"/>
          </a:p>
        </p:txBody>
      </p:sp>
    </p:spTree>
    <p:extLst>
      <p:ext uri="{BB962C8B-B14F-4D97-AF65-F5344CB8AC3E}">
        <p14:creationId xmlns:p14="http://schemas.microsoft.com/office/powerpoint/2010/main" val="4189514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6046-26FC-106F-314D-C5B86DCFF14F}"/>
              </a:ext>
            </a:extLst>
          </p:cNvPr>
          <p:cNvSpPr>
            <a:spLocks noGrp="1"/>
          </p:cNvSpPr>
          <p:nvPr>
            <p:ph type="title"/>
          </p:nvPr>
        </p:nvSpPr>
        <p:spPr>
          <a:xfrm>
            <a:off x="457200" y="490128"/>
            <a:ext cx="11277599" cy="914400"/>
          </a:xfrm>
        </p:spPr>
        <p:txBody>
          <a:bodyPr anchor="t">
            <a:normAutofit/>
          </a:bodyPr>
          <a:lstStyle/>
          <a:p>
            <a:r>
              <a:rPr lang="en-US" dirty="0"/>
              <a:t>Canonical Risk Records and Equinor Extensions</a:t>
            </a:r>
          </a:p>
        </p:txBody>
      </p:sp>
      <p:graphicFrame>
        <p:nvGraphicFramePr>
          <p:cNvPr id="5" name="Content Placeholder 4">
            <a:extLst>
              <a:ext uri="{FF2B5EF4-FFF2-40B4-BE49-F238E27FC236}">
                <a16:creationId xmlns:a16="http://schemas.microsoft.com/office/drawing/2014/main" id="{F739A218-F86F-43D3-95B1-2CBDB4DB3F35}"/>
              </a:ext>
            </a:extLst>
          </p:cNvPr>
          <p:cNvGraphicFramePr>
            <a:graphicFrameLocks noGrp="1"/>
          </p:cNvGraphicFramePr>
          <p:nvPr>
            <p:ph idx="1"/>
            <p:extLst>
              <p:ext uri="{D42A27DB-BD31-4B8C-83A1-F6EECF244321}">
                <p14:modId xmlns:p14="http://schemas.microsoft.com/office/powerpoint/2010/main" val="222563462"/>
              </p:ext>
            </p:extLst>
          </p:nvPr>
        </p:nvGraphicFramePr>
        <p:xfrm>
          <a:off x="477520" y="1576024"/>
          <a:ext cx="11125200" cy="2850640"/>
        </p:xfrm>
        <a:graphic>
          <a:graphicData uri="http://schemas.openxmlformats.org/drawingml/2006/table">
            <a:tbl>
              <a:tblPr firstRow="1" bandRow="1">
                <a:noFill/>
                <a:tableStyleId>{5C22544A-7EE6-4342-B048-85BDC9FD1C3A}</a:tableStyleId>
              </a:tblPr>
              <a:tblGrid>
                <a:gridCol w="3494619">
                  <a:extLst>
                    <a:ext uri="{9D8B030D-6E8A-4147-A177-3AD203B41FA5}">
                      <a16:colId xmlns:a16="http://schemas.microsoft.com/office/drawing/2014/main" val="1251701376"/>
                    </a:ext>
                  </a:extLst>
                </a:gridCol>
                <a:gridCol w="7630581">
                  <a:extLst>
                    <a:ext uri="{9D8B030D-6E8A-4147-A177-3AD203B41FA5}">
                      <a16:colId xmlns:a16="http://schemas.microsoft.com/office/drawing/2014/main" val="1482997489"/>
                    </a:ext>
                  </a:extLst>
                </a:gridCol>
              </a:tblGrid>
              <a:tr h="631067">
                <a:tc>
                  <a:txBody>
                    <a:bodyPr/>
                    <a:lstStyle/>
                    <a:p>
                      <a:pPr>
                        <a:buNone/>
                      </a:pPr>
                      <a:r>
                        <a:rPr lang="en-US" sz="1400" b="1" cap="all" spc="150" dirty="0">
                          <a:solidFill>
                            <a:schemeClr val="tx1"/>
                          </a:solidFill>
                        </a:rPr>
                        <a:t>Field</a:t>
                      </a:r>
                    </a:p>
                  </a:txBody>
                  <a:tcPr marL="249650" marR="249650" marT="249650" marB="24965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400" b="1" cap="all" spc="150" dirty="0">
                          <a:solidFill>
                            <a:schemeClr val="tx1"/>
                          </a:solidFill>
                        </a:rPr>
                        <a:t>Purpose</a:t>
                      </a:r>
                    </a:p>
                  </a:txBody>
                  <a:tcPr marL="249650" marR="249650" marT="249650" marB="249650"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631544571"/>
                  </a:ext>
                </a:extLst>
              </a:tr>
              <a:tr h="579056">
                <a:tc>
                  <a:txBody>
                    <a:bodyPr/>
                    <a:lstStyle/>
                    <a:p>
                      <a:pPr>
                        <a:buNone/>
                      </a:pPr>
                      <a:r>
                        <a:rPr lang="en-US" sz="1400" b="1" cap="none" spc="0" dirty="0" err="1">
                          <a:solidFill>
                            <a:schemeClr val="tx1"/>
                          </a:solidFill>
                        </a:rPr>
                        <a:t>RiskCategoryID</a:t>
                      </a:r>
                    </a:p>
                  </a:txBody>
                  <a:tcPr marL="249650" marR="249650" marT="249650" marB="24965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dirty="0">
                          <a:solidFill>
                            <a:schemeClr val="tx1"/>
                          </a:solidFill>
                        </a:rPr>
                        <a:t>Classifies risk domain (e.g., Subsurface-Static)</a:t>
                      </a:r>
                    </a:p>
                  </a:txBody>
                  <a:tcPr marL="249650" marR="249650" marT="249650" marB="24965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44764029"/>
                  </a:ext>
                </a:extLst>
              </a:tr>
              <a:tr h="579056">
                <a:tc>
                  <a:txBody>
                    <a:bodyPr/>
                    <a:lstStyle/>
                    <a:p>
                      <a:pPr>
                        <a:buNone/>
                      </a:pPr>
                      <a:r>
                        <a:rPr lang="en-US" sz="1400" b="1" cap="none" spc="0" dirty="0" err="1">
                          <a:solidFill>
                            <a:schemeClr val="tx1"/>
                          </a:solidFill>
                        </a:rPr>
                        <a:t>SeverityScaleID</a:t>
                      </a:r>
                    </a:p>
                  </a:txBody>
                  <a:tcPr marL="249650" marR="249650" marT="249650" marB="24965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dirty="0">
                          <a:solidFill>
                            <a:schemeClr val="tx1"/>
                          </a:solidFill>
                        </a:rPr>
                        <a:t>Links to severity scale reference-data</a:t>
                      </a:r>
                    </a:p>
                  </a:txBody>
                  <a:tcPr marL="249650" marR="249650" marT="249650" marB="24965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94681486"/>
                  </a:ext>
                </a:extLst>
              </a:tr>
              <a:tr h="579056">
                <a:tc>
                  <a:txBody>
                    <a:bodyPr/>
                    <a:lstStyle/>
                    <a:p>
                      <a:pPr>
                        <a:buNone/>
                      </a:pPr>
                      <a:r>
                        <a:rPr lang="en-US" sz="1400" b="1" cap="none" spc="0" dirty="0" err="1">
                          <a:solidFill>
                            <a:schemeClr val="tx1"/>
                          </a:solidFill>
                        </a:rPr>
                        <a:t>MitigationActionIDs</a:t>
                      </a:r>
                    </a:p>
                  </a:txBody>
                  <a:tcPr marL="249650" marR="249650" marT="249650" marB="24965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400" cap="none" spc="0" dirty="0">
                          <a:solidFill>
                            <a:schemeClr val="tx1"/>
                          </a:solidFill>
                        </a:rPr>
                        <a:t>References Document WPCs for mitigation</a:t>
                      </a:r>
                    </a:p>
                  </a:txBody>
                  <a:tcPr marL="249650" marR="249650" marT="249650" marB="24965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3004205081"/>
                  </a:ext>
                </a:extLst>
              </a:tr>
            </a:tbl>
          </a:graphicData>
        </a:graphic>
      </p:graphicFrame>
      <p:pic>
        <p:nvPicPr>
          <p:cNvPr id="4" name="Picture 3">
            <a:extLst>
              <a:ext uri="{FF2B5EF4-FFF2-40B4-BE49-F238E27FC236}">
                <a16:creationId xmlns:a16="http://schemas.microsoft.com/office/drawing/2014/main" id="{763142DD-AF11-6A5E-C57B-1A9C288D1252}"/>
              </a:ext>
            </a:extLst>
          </p:cNvPr>
          <p:cNvPicPr>
            <a:picLocks noChangeAspect="1"/>
          </p:cNvPicPr>
          <p:nvPr/>
        </p:nvPicPr>
        <p:blipFill>
          <a:blip r:embed="rId3"/>
          <a:stretch>
            <a:fillRect/>
          </a:stretch>
        </p:blipFill>
        <p:spPr>
          <a:xfrm>
            <a:off x="1371600" y="4628640"/>
            <a:ext cx="9067800" cy="1962120"/>
          </a:xfrm>
          <a:prstGeom prst="rect">
            <a:avLst/>
          </a:prstGeom>
        </p:spPr>
      </p:pic>
    </p:spTree>
    <p:extLst>
      <p:ext uri="{BB962C8B-B14F-4D97-AF65-F5344CB8AC3E}">
        <p14:creationId xmlns:p14="http://schemas.microsoft.com/office/powerpoint/2010/main" val="391036076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860D663-BD25-B372-4F37-8D355BC12653}"/>
              </a:ext>
            </a:extLst>
          </p:cNvPr>
          <p:cNvPicPr>
            <a:picLocks noChangeAspect="1"/>
          </p:cNvPicPr>
          <p:nvPr/>
        </p:nvPicPr>
        <p:blipFill>
          <a:blip r:embed="rId2"/>
          <a:stretch>
            <a:fillRect/>
          </a:stretch>
        </p:blipFill>
        <p:spPr>
          <a:xfrm>
            <a:off x="1771984" y="490128"/>
            <a:ext cx="9962816" cy="6057900"/>
          </a:xfrm>
          <a:prstGeom prst="rect">
            <a:avLst/>
          </a:prstGeom>
        </p:spPr>
      </p:pic>
      <p:sp>
        <p:nvSpPr>
          <p:cNvPr id="2" name="Title 1">
            <a:extLst>
              <a:ext uri="{FF2B5EF4-FFF2-40B4-BE49-F238E27FC236}">
                <a16:creationId xmlns:a16="http://schemas.microsoft.com/office/drawing/2014/main" id="{FB63212B-54DE-C8EF-5F6E-27AC2A951A6B}"/>
              </a:ext>
            </a:extLst>
          </p:cNvPr>
          <p:cNvSpPr>
            <a:spLocks noGrp="1"/>
          </p:cNvSpPr>
          <p:nvPr>
            <p:ph type="title"/>
          </p:nvPr>
        </p:nvSpPr>
        <p:spPr/>
        <p:txBody>
          <a:bodyPr/>
          <a:lstStyle/>
          <a:p>
            <a:r>
              <a:rPr lang="en-US" dirty="0"/>
              <a:t>Risk </a:t>
            </a:r>
            <a:br>
              <a:rPr lang="en-US" dirty="0"/>
            </a:br>
            <a:r>
              <a:rPr lang="en-US" dirty="0"/>
              <a:t>Example</a:t>
            </a:r>
          </a:p>
        </p:txBody>
      </p:sp>
      <p:sp>
        <p:nvSpPr>
          <p:cNvPr id="4" name="Slide Number Placeholder 3">
            <a:extLst>
              <a:ext uri="{FF2B5EF4-FFF2-40B4-BE49-F238E27FC236}">
                <a16:creationId xmlns:a16="http://schemas.microsoft.com/office/drawing/2014/main" id="{73ABDC31-B85D-D7D2-B69D-0E299D83979A}"/>
              </a:ext>
            </a:extLst>
          </p:cNvPr>
          <p:cNvSpPr>
            <a:spLocks noGrp="1"/>
          </p:cNvSpPr>
          <p:nvPr>
            <p:ph type="sldNum" sz="quarter" idx="12"/>
          </p:nvPr>
        </p:nvSpPr>
        <p:spPr/>
        <p:txBody>
          <a:bodyPr/>
          <a:lstStyle/>
          <a:p>
            <a:fld id="{AEAA3239-9EA4-4A65-A281-97F994456D9F}" type="slidenum">
              <a:rPr lang="en-US" smtClean="0"/>
              <a:t>14</a:t>
            </a:fld>
            <a:endParaRPr lang="en-US"/>
          </a:p>
        </p:txBody>
      </p:sp>
    </p:spTree>
    <p:extLst>
      <p:ext uri="{BB962C8B-B14F-4D97-AF65-F5344CB8AC3E}">
        <p14:creationId xmlns:p14="http://schemas.microsoft.com/office/powerpoint/2010/main" val="2801699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E2D0-D81F-5E31-E944-A15FE5741550}"/>
              </a:ext>
            </a:extLst>
          </p:cNvPr>
          <p:cNvSpPr>
            <a:spLocks noGrp="1"/>
          </p:cNvSpPr>
          <p:nvPr>
            <p:ph type="title"/>
          </p:nvPr>
        </p:nvSpPr>
        <p:spPr/>
        <p:txBody>
          <a:bodyPr/>
          <a:lstStyle/>
          <a:p>
            <a:r>
              <a:rPr lang="en-US" dirty="0"/>
              <a:t>Convenience  Schema: </a:t>
            </a:r>
            <a:r>
              <a:rPr lang="en-US" dirty="0" err="1"/>
              <a:t>GeoLabelSet</a:t>
            </a:r>
            <a:endParaRPr lang="en-US" dirty="0"/>
          </a:p>
        </p:txBody>
      </p:sp>
      <p:sp>
        <p:nvSpPr>
          <p:cNvPr id="3" name="Content Placeholder 2">
            <a:extLst>
              <a:ext uri="{FF2B5EF4-FFF2-40B4-BE49-F238E27FC236}">
                <a16:creationId xmlns:a16="http://schemas.microsoft.com/office/drawing/2014/main" id="{F510E8DF-67C7-AA3D-B66B-E653EC336316}"/>
              </a:ext>
            </a:extLst>
          </p:cNvPr>
          <p:cNvSpPr>
            <a:spLocks noGrp="1"/>
          </p:cNvSpPr>
          <p:nvPr>
            <p:ph idx="1"/>
          </p:nvPr>
        </p:nvSpPr>
        <p:spPr>
          <a:xfrm>
            <a:off x="457200" y="1159464"/>
            <a:ext cx="11277599" cy="4539072"/>
          </a:xfrm>
        </p:spPr>
        <p:txBody>
          <a:bodyPr/>
          <a:lstStyle/>
          <a:p>
            <a:r>
              <a:rPr lang="en-US" dirty="0"/>
              <a:t>assign arbitrary properties (e.g. volumes, average NTG) to master data objects such as </a:t>
            </a:r>
            <a:r>
              <a:rPr lang="en-US" dirty="0" err="1"/>
              <a:t>ReservoirSegment</a:t>
            </a:r>
            <a:endParaRPr lang="en-US" dirty="0"/>
          </a:p>
        </p:txBody>
      </p:sp>
      <p:sp>
        <p:nvSpPr>
          <p:cNvPr id="4" name="Slide Number Placeholder 3">
            <a:extLst>
              <a:ext uri="{FF2B5EF4-FFF2-40B4-BE49-F238E27FC236}">
                <a16:creationId xmlns:a16="http://schemas.microsoft.com/office/drawing/2014/main" id="{4651BABD-40B4-DDD9-DB94-B63535A37FFF}"/>
              </a:ext>
            </a:extLst>
          </p:cNvPr>
          <p:cNvSpPr>
            <a:spLocks noGrp="1"/>
          </p:cNvSpPr>
          <p:nvPr>
            <p:ph type="sldNum" sz="quarter" idx="12"/>
          </p:nvPr>
        </p:nvSpPr>
        <p:spPr/>
        <p:txBody>
          <a:bodyPr/>
          <a:lstStyle/>
          <a:p>
            <a:fld id="{AEAA3239-9EA4-4A65-A281-97F994456D9F}" type="slidenum">
              <a:rPr lang="en-US" smtClean="0"/>
              <a:t>15</a:t>
            </a:fld>
            <a:endParaRPr lang="en-US"/>
          </a:p>
        </p:txBody>
      </p:sp>
      <p:pic>
        <p:nvPicPr>
          <p:cNvPr id="6" name="Picture 5">
            <a:extLst>
              <a:ext uri="{FF2B5EF4-FFF2-40B4-BE49-F238E27FC236}">
                <a16:creationId xmlns:a16="http://schemas.microsoft.com/office/drawing/2014/main" id="{C650BCED-4D88-5230-6473-3DFD1E5D5787}"/>
              </a:ext>
            </a:extLst>
          </p:cNvPr>
          <p:cNvPicPr>
            <a:picLocks noChangeAspect="1"/>
          </p:cNvPicPr>
          <p:nvPr/>
        </p:nvPicPr>
        <p:blipFill>
          <a:blip r:embed="rId2"/>
          <a:stretch>
            <a:fillRect/>
          </a:stretch>
        </p:blipFill>
        <p:spPr>
          <a:xfrm>
            <a:off x="228599" y="1516425"/>
            <a:ext cx="11734799" cy="5259294"/>
          </a:xfrm>
          <a:prstGeom prst="rect">
            <a:avLst/>
          </a:prstGeom>
        </p:spPr>
      </p:pic>
    </p:spTree>
    <p:extLst>
      <p:ext uri="{BB962C8B-B14F-4D97-AF65-F5344CB8AC3E}">
        <p14:creationId xmlns:p14="http://schemas.microsoft.com/office/powerpoint/2010/main" val="272093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766D-E186-24C0-523E-EAFD0C4EA444}"/>
              </a:ext>
            </a:extLst>
          </p:cNvPr>
          <p:cNvSpPr>
            <a:spLocks noGrp="1"/>
          </p:cNvSpPr>
          <p:nvPr>
            <p:ph type="title"/>
          </p:nvPr>
        </p:nvSpPr>
        <p:spPr>
          <a:xfrm>
            <a:off x="457200" y="490128"/>
            <a:ext cx="11277599" cy="914400"/>
          </a:xfrm>
        </p:spPr>
        <p:txBody>
          <a:bodyPr anchor="t">
            <a:normAutofit/>
          </a:bodyPr>
          <a:lstStyle/>
          <a:p>
            <a:r>
              <a:rPr lang="en-US" dirty="0"/>
              <a:t>Query Decisions and Evidence to </a:t>
            </a:r>
            <a:br>
              <a:rPr lang="en-US" dirty="0"/>
            </a:br>
            <a:r>
              <a:rPr lang="en-US" dirty="0"/>
              <a:t>improve future uncertainty parametrization, risk mitigation, and decisions  </a:t>
            </a:r>
          </a:p>
        </p:txBody>
      </p:sp>
      <p:graphicFrame>
        <p:nvGraphicFramePr>
          <p:cNvPr id="5" name="Content Placeholder 4">
            <a:extLst>
              <a:ext uri="{FF2B5EF4-FFF2-40B4-BE49-F238E27FC236}">
                <a16:creationId xmlns:a16="http://schemas.microsoft.com/office/drawing/2014/main" id="{D2ADB189-E05E-4A73-87CC-7C80453B1399}"/>
              </a:ext>
            </a:extLst>
          </p:cNvPr>
          <p:cNvGraphicFramePr>
            <a:graphicFrameLocks noGrp="1"/>
          </p:cNvGraphicFramePr>
          <p:nvPr>
            <p:ph idx="1"/>
            <p:extLst>
              <p:ext uri="{D42A27DB-BD31-4B8C-83A1-F6EECF244321}">
                <p14:modId xmlns:p14="http://schemas.microsoft.com/office/powerpoint/2010/main" val="1535211599"/>
              </p:ext>
            </p:extLst>
          </p:nvPr>
        </p:nvGraphicFramePr>
        <p:xfrm>
          <a:off x="838199" y="2362200"/>
          <a:ext cx="10515600" cy="2773680"/>
        </p:xfrm>
        <a:graphic>
          <a:graphicData uri="http://schemas.openxmlformats.org/drawingml/2006/table">
            <a:tbl>
              <a:tblPr bandRow="1">
                <a:tableStyleId>{35758FB7-9AC5-4552-8A53-C91805E547FA}</a:tableStyleId>
              </a:tblPr>
              <a:tblGrid>
                <a:gridCol w="4008336">
                  <a:extLst>
                    <a:ext uri="{9D8B030D-6E8A-4147-A177-3AD203B41FA5}">
                      <a16:colId xmlns:a16="http://schemas.microsoft.com/office/drawing/2014/main" val="1986656612"/>
                    </a:ext>
                  </a:extLst>
                </a:gridCol>
                <a:gridCol w="6507264">
                  <a:extLst>
                    <a:ext uri="{9D8B030D-6E8A-4147-A177-3AD203B41FA5}">
                      <a16:colId xmlns:a16="http://schemas.microsoft.com/office/drawing/2014/main" val="2832010815"/>
                    </a:ext>
                  </a:extLst>
                </a:gridCol>
              </a:tblGrid>
              <a:tr h="235103">
                <a:tc>
                  <a:txBody>
                    <a:bodyPr/>
                    <a:lstStyle/>
                    <a:p>
                      <a:pPr>
                        <a:buNone/>
                      </a:pPr>
                      <a:r>
                        <a:rPr lang="en-US" sz="1400" b="0" cap="none" spc="0" dirty="0" err="1">
                          <a:solidFill>
                            <a:schemeClr val="tx1"/>
                          </a:solidFill>
                        </a:rPr>
                        <a:t>BusinessDecision</a:t>
                      </a:r>
                      <a:r>
                        <a:rPr lang="en-US" sz="1400" b="0" cap="none" spc="0" dirty="0">
                          <a:solidFill>
                            <a:schemeClr val="tx1"/>
                          </a:solidFill>
                        </a:rPr>
                        <a:t> by </a:t>
                      </a:r>
                      <a:r>
                        <a:rPr lang="en-US" sz="1400" b="0" cap="none" spc="0" dirty="0" err="1">
                          <a:solidFill>
                            <a:schemeClr val="tx1"/>
                          </a:solidFill>
                        </a:rPr>
                        <a:t>DecisionLevelID</a:t>
                      </a:r>
                    </a:p>
                  </a:txBody>
                  <a:tcPr anchor="ctr"/>
                </a:tc>
                <a:tc>
                  <a:txBody>
                    <a:bodyPr/>
                    <a:lstStyle/>
                    <a:p>
                      <a:pPr>
                        <a:buNone/>
                      </a:pPr>
                      <a:r>
                        <a:rPr lang="en-US" sz="1400" b="0" cap="none" spc="0" dirty="0">
                          <a:solidFill>
                            <a:schemeClr val="tx1"/>
                          </a:solidFill>
                        </a:rPr>
                        <a:t>Retrieve all DG2 decisions</a:t>
                      </a:r>
                    </a:p>
                  </a:txBody>
                  <a:tcPr anchor="ctr"/>
                </a:tc>
                <a:extLst>
                  <a:ext uri="{0D108BD9-81ED-4DB2-BD59-A6C34878D82A}">
                    <a16:rowId xmlns:a16="http://schemas.microsoft.com/office/drawing/2014/main" val="3360032199"/>
                  </a:ext>
                </a:extLst>
              </a:tr>
              <a:tr h="337728">
                <a:tc>
                  <a:txBody>
                    <a:bodyPr/>
                    <a:lstStyle/>
                    <a:p>
                      <a:pPr>
                        <a:buNone/>
                      </a:pPr>
                      <a:r>
                        <a:rPr lang="en-US" sz="1400" b="0" cap="none" spc="0" dirty="0">
                          <a:solidFill>
                            <a:schemeClr val="tx1"/>
                          </a:solidFill>
                        </a:rPr>
                        <a:t>Join volume or property stats across gates</a:t>
                      </a:r>
                    </a:p>
                  </a:txBody>
                  <a:tcPr anchor="ctr"/>
                </a:tc>
                <a:tc>
                  <a:txBody>
                    <a:bodyPr/>
                    <a:lstStyle/>
                    <a:p>
                      <a:pPr>
                        <a:buNone/>
                      </a:pPr>
                      <a:r>
                        <a:rPr lang="en-US" sz="1400" b="0" cap="none" spc="0" dirty="0">
                          <a:solidFill>
                            <a:schemeClr val="tx1"/>
                          </a:solidFill>
                        </a:rPr>
                        <a:t>Compare volumetric evolution, </a:t>
                      </a:r>
                      <a:r>
                        <a:rPr lang="en-US" sz="1400" b="0" cap="none" spc="0" dirty="0" err="1">
                          <a:solidFill>
                            <a:schemeClr val="tx1"/>
                          </a:solidFill>
                        </a:rPr>
                        <a:t>analyse</a:t>
                      </a:r>
                      <a:r>
                        <a:rPr lang="en-US" sz="1400" b="0" cap="none" spc="0" dirty="0">
                          <a:solidFill>
                            <a:schemeClr val="tx1"/>
                          </a:solidFill>
                        </a:rPr>
                        <a:t> (AI?) uncertainty distributions/</a:t>
                      </a:r>
                    </a:p>
                    <a:p>
                      <a:pPr>
                        <a:buNone/>
                      </a:pPr>
                      <a:r>
                        <a:rPr lang="en-US" sz="1400" b="0" cap="none" spc="0" dirty="0">
                          <a:solidFill>
                            <a:schemeClr val="tx1"/>
                          </a:solidFill>
                        </a:rPr>
                        <a:t>granularity/maturation to detect deficiencies </a:t>
                      </a:r>
                    </a:p>
                  </a:txBody>
                  <a:tcPr anchor="ctr"/>
                </a:tc>
                <a:extLst>
                  <a:ext uri="{0D108BD9-81ED-4DB2-BD59-A6C34878D82A}">
                    <a16:rowId xmlns:a16="http://schemas.microsoft.com/office/drawing/2014/main" val="3004239630"/>
                  </a:ext>
                </a:extLst>
              </a:tr>
              <a:tr h="140720">
                <a:tc>
                  <a:txBody>
                    <a:bodyPr/>
                    <a:lstStyle/>
                    <a:p>
                      <a:pPr>
                        <a:buNone/>
                      </a:pPr>
                      <a:r>
                        <a:rPr lang="en-US" sz="1400" b="0" cap="none" spc="0" dirty="0" err="1">
                          <a:solidFill>
                            <a:schemeClr val="tx1"/>
                          </a:solidFill>
                        </a:rPr>
                        <a:t>GeoLabelSet</a:t>
                      </a:r>
                      <a:r>
                        <a:rPr lang="en-US" sz="1400" b="0" cap="none" spc="0" dirty="0">
                          <a:solidFill>
                            <a:schemeClr val="tx1"/>
                          </a:solidFill>
                        </a:rPr>
                        <a:t> by </a:t>
                      </a:r>
                      <a:r>
                        <a:rPr lang="en-US" sz="1400" b="0" cap="none" spc="0" dirty="0" err="1">
                          <a:solidFill>
                            <a:schemeClr val="tx1"/>
                          </a:solidFill>
                        </a:rPr>
                        <a:t>LabelledEntityID</a:t>
                      </a:r>
                      <a:endParaRPr lang="en-US" sz="1400" b="0" cap="none" spc="0" dirty="0">
                        <a:solidFill>
                          <a:schemeClr val="tx1"/>
                        </a:solidFill>
                      </a:endParaRPr>
                    </a:p>
                  </a:txBody>
                  <a:tcPr anchor="ctr"/>
                </a:tc>
                <a:tc>
                  <a:txBody>
                    <a:bodyPr/>
                    <a:lstStyle/>
                    <a:p>
                      <a:pPr>
                        <a:buNone/>
                      </a:pPr>
                      <a:r>
                        <a:rPr lang="en-US" sz="1400" b="0" cap="none" spc="0" dirty="0">
                          <a:solidFill>
                            <a:schemeClr val="tx1"/>
                          </a:solidFill>
                        </a:rPr>
                        <a:t>Display property dashboard metrics related to master data elements</a:t>
                      </a:r>
                    </a:p>
                  </a:txBody>
                  <a:tcPr anchor="ctr"/>
                </a:tc>
                <a:extLst>
                  <a:ext uri="{0D108BD9-81ED-4DB2-BD59-A6C34878D82A}">
                    <a16:rowId xmlns:a16="http://schemas.microsoft.com/office/drawing/2014/main" val="3929182332"/>
                  </a:ext>
                </a:extLst>
              </a:tr>
              <a:tr h="152400">
                <a:tc>
                  <a:txBody>
                    <a:bodyPr/>
                    <a:lstStyle/>
                    <a:p>
                      <a:pPr>
                        <a:buNone/>
                      </a:pPr>
                      <a:r>
                        <a:rPr lang="en-US" sz="1400" b="0" cap="none" spc="0">
                          <a:solidFill>
                            <a:schemeClr val="tx1"/>
                          </a:solidFill>
                        </a:rPr>
                        <a:t>RiskIDs join Risk records</a:t>
                      </a:r>
                    </a:p>
                  </a:txBody>
                  <a:tcPr anchor="ctr"/>
                </a:tc>
                <a:tc>
                  <a:txBody>
                    <a:bodyPr/>
                    <a:lstStyle/>
                    <a:p>
                      <a:pPr>
                        <a:buNone/>
                      </a:pPr>
                      <a:r>
                        <a:rPr lang="en-US" sz="1400" b="0" cap="none" spc="0" dirty="0">
                          <a:solidFill>
                            <a:schemeClr val="tx1"/>
                          </a:solidFill>
                        </a:rPr>
                        <a:t>Assess residual risk and mitigations</a:t>
                      </a:r>
                    </a:p>
                  </a:txBody>
                  <a:tcPr anchor="ctr"/>
                </a:tc>
                <a:extLst>
                  <a:ext uri="{0D108BD9-81ED-4DB2-BD59-A6C34878D82A}">
                    <a16:rowId xmlns:a16="http://schemas.microsoft.com/office/drawing/2014/main" val="1728462091"/>
                  </a:ext>
                </a:extLst>
              </a:tr>
              <a:tr h="152400">
                <a:tc>
                  <a:txBody>
                    <a:bodyPr/>
                    <a:lstStyle/>
                    <a:p>
                      <a:r>
                        <a:rPr lang="en-US" sz="1400" b="0" kern="1200" dirty="0" err="1">
                          <a:solidFill>
                            <a:schemeClr val="tx1">
                              <a:lumMod val="50000"/>
                            </a:schemeClr>
                          </a:solidFill>
                          <a:effectLst/>
                        </a:rPr>
                        <a:t>Realisation</a:t>
                      </a:r>
                      <a:endParaRPr lang="en-US" sz="1400" b="0" i="0" kern="1200" dirty="0">
                        <a:solidFill>
                          <a:schemeClr val="tx1">
                            <a:lumMod val="50000"/>
                          </a:schemeClr>
                        </a:solidFill>
                        <a:effectLst/>
                        <a:latin typeface="+mn-lt"/>
                        <a:ea typeface="+mn-ea"/>
                        <a:cs typeface="+mn-cs"/>
                      </a:endParaRPr>
                    </a:p>
                  </a:txBody>
                  <a:tcPr anchor="ctr"/>
                </a:tc>
                <a:tc>
                  <a:txBody>
                    <a:bodyPr/>
                    <a:lstStyle/>
                    <a:p>
                      <a:r>
                        <a:rPr lang="en-US" sz="1400" b="0" kern="1200" dirty="0">
                          <a:solidFill>
                            <a:schemeClr val="tx1">
                              <a:lumMod val="50000"/>
                            </a:schemeClr>
                          </a:solidFill>
                          <a:effectLst/>
                        </a:rPr>
                        <a:t>keeping provenance tight, Join on keys, </a:t>
                      </a:r>
                      <a:r>
                        <a:rPr lang="en-US" sz="1400" b="0" kern="1200" dirty="0" err="1">
                          <a:solidFill>
                            <a:schemeClr val="tx1">
                              <a:lumMod val="50000"/>
                            </a:schemeClr>
                          </a:solidFill>
                          <a:effectLst/>
                        </a:rPr>
                        <a:t>Realisation</a:t>
                      </a:r>
                      <a:r>
                        <a:rPr lang="en-US" sz="1400" b="0" kern="1200" dirty="0">
                          <a:solidFill>
                            <a:schemeClr val="tx1">
                              <a:lumMod val="50000"/>
                            </a:schemeClr>
                          </a:solidFill>
                          <a:effectLst/>
                        </a:rPr>
                        <a:t> input ↔ output (ensemble MC/ED matrix)</a:t>
                      </a:r>
                      <a:endParaRPr lang="en-US" sz="1400" b="0" cap="all" spc="150" dirty="0">
                        <a:solidFill>
                          <a:schemeClr val="tx1"/>
                        </a:solidFill>
                      </a:endParaRPr>
                    </a:p>
                  </a:txBody>
                  <a:tcPr anchor="ctr"/>
                </a:tc>
                <a:extLst>
                  <a:ext uri="{0D108BD9-81ED-4DB2-BD59-A6C34878D82A}">
                    <a16:rowId xmlns:a16="http://schemas.microsoft.com/office/drawing/2014/main" val="1956924173"/>
                  </a:ext>
                </a:extLst>
              </a:tr>
              <a:tr h="152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lumMod val="50000"/>
                            </a:schemeClr>
                          </a:solidFill>
                          <a:effectLst/>
                        </a:rPr>
                        <a:t>Activity</a:t>
                      </a:r>
                      <a:endParaRPr lang="en-US" sz="1400" b="0" i="0" kern="1200" dirty="0">
                        <a:solidFill>
                          <a:schemeClr val="tx1">
                            <a:lumMod val="50000"/>
                          </a:schemeClr>
                        </a:solidFill>
                        <a:effectLst/>
                        <a:latin typeface="+mn-lt"/>
                        <a:ea typeface="+mn-ea"/>
                        <a:cs typeface="+mn-cs"/>
                      </a:endParaRPr>
                    </a:p>
                  </a:txBody>
                  <a:tcPr anchor="ctr"/>
                </a:tc>
                <a:tc>
                  <a:txBody>
                    <a:bodyPr/>
                    <a:lstStyle/>
                    <a:p>
                      <a:pPr>
                        <a:buNone/>
                      </a:pPr>
                      <a:r>
                        <a:rPr lang="en-US" sz="1400" b="0" kern="1200" dirty="0">
                          <a:solidFill>
                            <a:schemeClr val="tx1">
                              <a:lumMod val="50000"/>
                            </a:schemeClr>
                          </a:solidFill>
                          <a:effectLst/>
                        </a:rPr>
                        <a:t>Activity carries both the design row and the volume output with the same </a:t>
                      </a:r>
                      <a:r>
                        <a:rPr lang="en-US" sz="1400" b="0" kern="1200" dirty="0" err="1">
                          <a:solidFill>
                            <a:schemeClr val="tx1">
                              <a:lumMod val="50000"/>
                            </a:schemeClr>
                          </a:solidFill>
                          <a:effectLst/>
                        </a:rPr>
                        <a:t>realisation</a:t>
                      </a:r>
                      <a:r>
                        <a:rPr lang="en-US" sz="1400" b="0" kern="1200" dirty="0">
                          <a:solidFill>
                            <a:schemeClr val="tx1">
                              <a:lumMod val="50000"/>
                            </a:schemeClr>
                          </a:solidFill>
                          <a:effectLst/>
                        </a:rPr>
                        <a:t>-index key in Parameters[]; records </a:t>
                      </a:r>
                      <a:r>
                        <a:rPr lang="en-US" sz="1400" b="0" kern="1200" dirty="0" err="1">
                          <a:solidFill>
                            <a:schemeClr val="tx1">
                              <a:lumMod val="50000"/>
                            </a:schemeClr>
                          </a:solidFill>
                          <a:effectLst/>
                        </a:rPr>
                        <a:t>i</a:t>
                      </a:r>
                      <a:r>
                        <a:rPr lang="en-US" sz="1400" b="0" kern="1200" dirty="0">
                          <a:solidFill>
                            <a:schemeClr val="tx1">
                              <a:lumMod val="50000"/>
                            </a:schemeClr>
                          </a:solidFill>
                          <a:effectLst/>
                        </a:rPr>
                        <a:t>/o and workflow processing </a:t>
                      </a:r>
                      <a:endParaRPr lang="en-US" sz="1400" b="0" cap="all" spc="150" dirty="0">
                        <a:solidFill>
                          <a:schemeClr val="tx1"/>
                        </a:solidFill>
                      </a:endParaRPr>
                    </a:p>
                  </a:txBody>
                  <a:tcPr anchor="ctr"/>
                </a:tc>
                <a:extLst>
                  <a:ext uri="{0D108BD9-81ED-4DB2-BD59-A6C34878D82A}">
                    <a16:rowId xmlns:a16="http://schemas.microsoft.com/office/drawing/2014/main" val="2829948645"/>
                  </a:ext>
                </a:extLst>
              </a:tr>
              <a:tr h="152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lumMod val="50000"/>
                            </a:schemeClr>
                          </a:solidFill>
                          <a:effectLst/>
                        </a:rPr>
                        <a:t>Case binding</a:t>
                      </a:r>
                      <a:endParaRPr lang="en-US" sz="1400" b="0" i="0" kern="1200" dirty="0">
                        <a:solidFill>
                          <a:schemeClr val="tx1">
                            <a:lumMod val="50000"/>
                          </a:schemeClr>
                        </a:solidFill>
                        <a:effectLst/>
                        <a:latin typeface="+mn-lt"/>
                        <a:ea typeface="+mn-ea"/>
                        <a:cs typeface="+mn-cs"/>
                      </a:endParaRPr>
                    </a:p>
                  </a:txBody>
                  <a:tcPr anchor="ctr"/>
                </a:tc>
                <a:tc>
                  <a:txBody>
                    <a:bodyPr/>
                    <a:lstStyle/>
                    <a:p>
                      <a:pPr>
                        <a:buNone/>
                      </a:pPr>
                      <a:r>
                        <a:rPr lang="en-US" sz="1400" b="0" kern="1200" dirty="0" err="1">
                          <a:solidFill>
                            <a:schemeClr val="tx1">
                              <a:lumMod val="50000"/>
                            </a:schemeClr>
                          </a:solidFill>
                          <a:effectLst/>
                        </a:rPr>
                        <a:t>WorkProduct</a:t>
                      </a:r>
                      <a:r>
                        <a:rPr lang="en-US" sz="1400" b="0" kern="1200" dirty="0">
                          <a:solidFill>
                            <a:schemeClr val="tx1">
                              <a:lumMod val="50000"/>
                            </a:schemeClr>
                          </a:solidFill>
                          <a:effectLst/>
                        </a:rPr>
                        <a:t>/Collection id referenced as context to bind the scenario.</a:t>
                      </a:r>
                      <a:endParaRPr lang="en-US" sz="1400" b="0" cap="all" spc="150" dirty="0">
                        <a:solidFill>
                          <a:schemeClr val="tx1"/>
                        </a:solidFill>
                      </a:endParaRPr>
                    </a:p>
                  </a:txBody>
                  <a:tcPr anchor="ctr"/>
                </a:tc>
                <a:extLst>
                  <a:ext uri="{0D108BD9-81ED-4DB2-BD59-A6C34878D82A}">
                    <a16:rowId xmlns:a16="http://schemas.microsoft.com/office/drawing/2014/main" val="589305554"/>
                  </a:ext>
                </a:extLst>
              </a:tr>
            </a:tbl>
          </a:graphicData>
        </a:graphic>
      </p:graphicFrame>
    </p:spTree>
    <p:extLst>
      <p:ext uri="{BB962C8B-B14F-4D97-AF65-F5344CB8AC3E}">
        <p14:creationId xmlns:p14="http://schemas.microsoft.com/office/powerpoint/2010/main" val="116531822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3068-6074-6D00-17E3-4778ABF4ED31}"/>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7B619639-751B-B076-7C3C-A6A12A3E16F1}"/>
              </a:ext>
            </a:extLst>
          </p:cNvPr>
          <p:cNvSpPr>
            <a:spLocks noGrp="1"/>
          </p:cNvSpPr>
          <p:nvPr>
            <p:ph idx="1"/>
          </p:nvPr>
        </p:nvSpPr>
        <p:spPr/>
        <p:txBody>
          <a:bodyPr/>
          <a:lstStyle/>
          <a:p>
            <a:r>
              <a:rPr lang="en-US" dirty="0"/>
              <a:t>Demo sources</a:t>
            </a:r>
          </a:p>
          <a:p>
            <a:pPr marL="432000" lvl="1" indent="0">
              <a:buNone/>
            </a:pPr>
            <a:r>
              <a:rPr lang="en-US" dirty="0"/>
              <a:t>https://github.com/equinor/ores web client for RDDMS management and OSDU search </a:t>
            </a:r>
            <a:r>
              <a:rPr lang="en-US" sz="1000" dirty="0"/>
              <a:t>(</a:t>
            </a:r>
            <a:r>
              <a:rPr lang="en-US" sz="1000" dirty="0" err="1"/>
              <a:t>py</a:t>
            </a:r>
            <a:r>
              <a:rPr lang="en-US" sz="1000" dirty="0"/>
              <a:t> -m </a:t>
            </a:r>
            <a:r>
              <a:rPr lang="en-US" sz="1000" dirty="0" err="1"/>
              <a:t>uvicorn</a:t>
            </a:r>
            <a:r>
              <a:rPr lang="en-US" sz="1000" dirty="0"/>
              <a:t> </a:t>
            </a:r>
            <a:r>
              <a:rPr lang="en-US" sz="1000" dirty="0" err="1"/>
              <a:t>app.main:app</a:t>
            </a:r>
            <a:r>
              <a:rPr lang="en-US" sz="1000" dirty="0"/>
              <a:t> --reload --port 8000 --env-file .\\.env)</a:t>
            </a:r>
            <a:endParaRPr lang="en-US" dirty="0"/>
          </a:p>
          <a:p>
            <a:pPr marL="432000" lvl="1" indent="0">
              <a:buNone/>
            </a:pPr>
            <a:r>
              <a:rPr lang="en-US" dirty="0">
                <a:hlinkClick r:id="rId2"/>
              </a:rPr>
              <a:t>https://github.com/equinor/ores/app/demo/py</a:t>
            </a:r>
            <a:r>
              <a:rPr lang="en-US" dirty="0"/>
              <a:t> to generate manifests from csv and metadata (all master data, reference data, WPC)</a:t>
            </a:r>
          </a:p>
          <a:p>
            <a:pPr marL="432000" lvl="1" indent="0">
              <a:buNone/>
            </a:pPr>
            <a:r>
              <a:rPr lang="en-US" dirty="0">
                <a:hlinkClick r:id="rId3"/>
              </a:rPr>
              <a:t>https://github.com/equinor/ores/app/demo/json</a:t>
            </a:r>
            <a:r>
              <a:rPr lang="en-US" dirty="0"/>
              <a:t> Grane demo manifests</a:t>
            </a:r>
          </a:p>
          <a:p>
            <a:pPr marL="432000" lvl="1" indent="0">
              <a:buNone/>
            </a:pPr>
            <a:r>
              <a:rPr lang="en-US" dirty="0">
                <a:hlinkClick r:id="rId4"/>
              </a:rPr>
              <a:t>https://github.com/equinor/ores/app/demo/md</a:t>
            </a:r>
            <a:r>
              <a:rPr lang="en-US" dirty="0"/>
              <a:t> documentation</a:t>
            </a:r>
          </a:p>
          <a:p>
            <a:r>
              <a:rPr lang="en-US" dirty="0"/>
              <a:t>OSDU Schema definitions: </a:t>
            </a:r>
            <a:r>
              <a:rPr lang="en-US" dirty="0" err="1"/>
              <a:t>BusinessDecision</a:t>
            </a:r>
            <a:r>
              <a:rPr lang="en-US" dirty="0"/>
              <a:t> </a:t>
            </a:r>
            <a:r>
              <a:rPr lang="en-US"/>
              <a:t>Risk Volume </a:t>
            </a:r>
            <a:endParaRPr lang="en-US" dirty="0"/>
          </a:p>
        </p:txBody>
      </p:sp>
      <p:sp>
        <p:nvSpPr>
          <p:cNvPr id="4" name="Slide Number Placeholder 3">
            <a:extLst>
              <a:ext uri="{FF2B5EF4-FFF2-40B4-BE49-F238E27FC236}">
                <a16:creationId xmlns:a16="http://schemas.microsoft.com/office/drawing/2014/main" id="{268B7AF3-D1BC-4060-2A9A-670AF8FB9221}"/>
              </a:ext>
            </a:extLst>
          </p:cNvPr>
          <p:cNvSpPr>
            <a:spLocks noGrp="1"/>
          </p:cNvSpPr>
          <p:nvPr>
            <p:ph type="sldNum" sz="quarter" idx="12"/>
          </p:nvPr>
        </p:nvSpPr>
        <p:spPr/>
        <p:txBody>
          <a:bodyPr/>
          <a:lstStyle/>
          <a:p>
            <a:fld id="{AEAA3239-9EA4-4A65-A281-97F994456D9F}" type="slidenum">
              <a:rPr lang="en-US" smtClean="0"/>
              <a:t>17</a:t>
            </a:fld>
            <a:endParaRPr lang="en-US"/>
          </a:p>
        </p:txBody>
      </p:sp>
    </p:spTree>
    <p:extLst>
      <p:ext uri="{BB962C8B-B14F-4D97-AF65-F5344CB8AC3E}">
        <p14:creationId xmlns:p14="http://schemas.microsoft.com/office/powerpoint/2010/main" val="2528535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A8A4CB7B-45CA-430C-8BC8-7DA84F3CF81D}"/>
              </a:ext>
            </a:extLst>
          </p:cNvPr>
          <p:cNvSpPr>
            <a:spLocks noGrp="1"/>
          </p:cNvSpPr>
          <p:nvPr>
            <p:ph type="body" sz="quarter" idx="11"/>
          </p:nvPr>
        </p:nvSpPr>
        <p:spPr/>
        <p:txBody>
          <a:bodyPr/>
          <a:lstStyle/>
          <a:p>
            <a:endParaRPr lang="en-GB" dirty="0"/>
          </a:p>
        </p:txBody>
      </p:sp>
      <p:sp>
        <p:nvSpPr>
          <p:cNvPr id="3" name="Tittel 2">
            <a:extLst>
              <a:ext uri="{FF2B5EF4-FFF2-40B4-BE49-F238E27FC236}">
                <a16:creationId xmlns:a16="http://schemas.microsoft.com/office/drawing/2014/main" id="{435A5087-41DD-48F0-B6FA-ECF22A3BC1A3}"/>
              </a:ext>
            </a:extLst>
          </p:cNvPr>
          <p:cNvSpPr>
            <a:spLocks noGrp="1"/>
          </p:cNvSpPr>
          <p:nvPr>
            <p:ph type="title"/>
          </p:nvPr>
        </p:nvSpPr>
        <p:spPr/>
        <p:txBody>
          <a:bodyPr/>
          <a:lstStyle/>
          <a:p>
            <a:endParaRPr lang="en-GB" dirty="0"/>
          </a:p>
        </p:txBody>
      </p:sp>
    </p:spTree>
    <p:extLst>
      <p:ext uri="{BB962C8B-B14F-4D97-AF65-F5344CB8AC3E}">
        <p14:creationId xmlns:p14="http://schemas.microsoft.com/office/powerpoint/2010/main" val="1761143685"/>
      </p:ext>
    </p:extLst>
  </p:cSld>
  <p:clrMapOvr>
    <a:masterClrMapping/>
  </p:clrMapOvr>
</p:sld>
</file>

<file path=ppt/theme/theme1.xml><?xml version="1.0" encoding="utf-8"?>
<a:theme xmlns:a="http://schemas.openxmlformats.org/drawingml/2006/main" name="Office-tema">
  <a:themeElements>
    <a:clrScheme name="Custom 1">
      <a:dk1>
        <a:srgbClr val="333333"/>
      </a:dk1>
      <a:lt1>
        <a:srgbClr val="FFFFFF"/>
      </a:lt1>
      <a:dk2>
        <a:srgbClr val="7D0023"/>
      </a:dk2>
      <a:lt2>
        <a:srgbClr val="FFF5B8"/>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al_Equinor corporate template .pptx" id="{9D43A5E0-6C37-4828-94ED-585AF8205447}" vid="{4538F011-0B9E-4DEA-B388-4479C292728D}"/>
    </a:ext>
  </a:extLst>
</a:theme>
</file>

<file path=ppt/theme/theme2.xml><?xml version="1.0" encoding="utf-8"?>
<a:theme xmlns:a="http://schemas.openxmlformats.org/drawingml/2006/main" name="Custom Design">
  <a:themeElements>
    <a:clrScheme name="Equinor palette">
      <a:dk1>
        <a:srgbClr val="333333"/>
      </a:dk1>
      <a:lt1>
        <a:srgbClr val="FFFFFF"/>
      </a:lt1>
      <a:dk2>
        <a:srgbClr val="7D0023"/>
      </a:dk2>
      <a:lt2>
        <a:srgbClr val="E0E4E7"/>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al_Equinor corporate template .pptx" id="{9D43A5E0-6C37-4828-94ED-585AF8205447}" vid="{2B77B72C-23F0-4130-95F0-F8C5B6F21A4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aa4a235-b6e2-48d5-9195-7fcf05b459b0}" enabled="0" method="" siteId="{3aa4a235-b6e2-48d5-9195-7fcf05b459b0}" removed="1"/>
</clbl:labelList>
</file>

<file path=docProps/app.xml><?xml version="1.0" encoding="utf-8"?>
<Properties xmlns="http://schemas.openxmlformats.org/officeDocument/2006/extended-properties" xmlns:vt="http://schemas.openxmlformats.org/officeDocument/2006/docPropsVTypes">
  <Template>Internal_Equinor corporate template </Template>
  <TotalTime>727</TotalTime>
  <Words>2181</Words>
  <Application>Microsoft Office PowerPoint</Application>
  <PresentationFormat>Widescreen</PresentationFormat>
  <Paragraphs>129</Paragraphs>
  <Slides>18</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Calibri</vt:lpstr>
      <vt:lpstr>Equinor Medium</vt:lpstr>
      <vt:lpstr>Arial</vt:lpstr>
      <vt:lpstr>Biome</vt:lpstr>
      <vt:lpstr>Equinor Light</vt:lpstr>
      <vt:lpstr>Equinor</vt:lpstr>
      <vt:lpstr>Office-tema</vt:lpstr>
      <vt:lpstr>Custom Design</vt:lpstr>
      <vt:lpstr> DG1-DG2-DG3-DG4: “BusinessDecision” in OSDU  with Demo Grane GRAND</vt:lpstr>
      <vt:lpstr>Why OSDU for DG1–DG4 Decision Traceability</vt:lpstr>
      <vt:lpstr>Strategy: Bridging the Gap between Decision Gates with OSDU data records</vt:lpstr>
      <vt:lpstr>OSDU Uncertainty and volumetric data: building blocks</vt:lpstr>
      <vt:lpstr>Structure and Role of BusinessDecision</vt:lpstr>
      <vt:lpstr>BusinessDecision minimal example </vt:lpstr>
      <vt:lpstr>PowerPoint Presentation</vt:lpstr>
      <vt:lpstr>OSDU Work Product Components</vt:lpstr>
      <vt:lpstr>Input: Parameter and volume tables from subsurface modelling</vt:lpstr>
      <vt:lpstr>ReservoirEstimatedVolume record for ensemble output volume table</vt:lpstr>
      <vt:lpstr>ReservoirEstimatedVolume table for aggregate ensemble volumes</vt:lpstr>
      <vt:lpstr>ReservoirEstimatedVolume table – Relationship to MasterData </vt:lpstr>
      <vt:lpstr>Canonical Risk Records and Equinor Extensions</vt:lpstr>
      <vt:lpstr>Risk  Example</vt:lpstr>
      <vt:lpstr>Convenience  Schema: GeoLabelSet</vt:lpstr>
      <vt:lpstr>Query Decisions and Evidence to  improve future uncertainty parametrization, risk mitigation, and decisions  </vt:lpstr>
      <vt:lpstr>Resources</vt:lpstr>
      <vt:lpstr>PowerPoint Presentation</vt:lpstr>
    </vt:vector>
  </TitlesOfParts>
  <Company>Equinor ASA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Marcus Apel</dc:creator>
  <cp:lastModifiedBy>Marcus Apel</cp:lastModifiedBy>
  <cp:revision>2</cp:revision>
  <dcterms:created xsi:type="dcterms:W3CDTF">2026-01-22T16:04:42Z</dcterms:created>
  <dcterms:modified xsi:type="dcterms:W3CDTF">2026-01-30T09:01:33Z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ies>
</file>